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0" r:id="rId1"/>
  </p:sldMasterIdLst>
  <p:notesMasterIdLst>
    <p:notesMasterId r:id="rId19"/>
  </p:notesMasterIdLst>
  <p:sldIdLst>
    <p:sldId id="548" r:id="rId2"/>
    <p:sldId id="474" r:id="rId3"/>
    <p:sldId id="476" r:id="rId4"/>
    <p:sldId id="477" r:id="rId5"/>
    <p:sldId id="479" r:id="rId6"/>
    <p:sldId id="522" r:id="rId7"/>
    <p:sldId id="523" r:id="rId8"/>
    <p:sldId id="484" r:id="rId9"/>
    <p:sldId id="493" r:id="rId10"/>
    <p:sldId id="494" r:id="rId11"/>
    <p:sldId id="549" r:id="rId12"/>
    <p:sldId id="495" r:id="rId13"/>
    <p:sldId id="496" r:id="rId14"/>
    <p:sldId id="499" r:id="rId15"/>
    <p:sldId id="500" r:id="rId16"/>
    <p:sldId id="501" r:id="rId17"/>
    <p:sldId id="434" r:id="rId18"/>
  </p:sldIdLst>
  <p:sldSz cx="9144000" cy="6858000" type="screen4x3"/>
  <p:notesSz cx="6858000" cy="9144000"/>
  <p:custDataLst>
    <p:tags r:id="rId2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1">
          <p15:clr>
            <a:srgbClr val="A4A3A4"/>
          </p15:clr>
        </p15:guide>
        <p15:guide id="2" pos="28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Graf" initials="PG" lastIdx="2" clrIdx="0">
    <p:extLst>
      <p:ext uri="{19B8F6BF-5375-455C-9EA6-DF929625EA0E}">
        <p15:presenceInfo xmlns:p15="http://schemas.microsoft.com/office/powerpoint/2012/main" userId="ad28847b171ff9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0000"/>
    <a:srgbClr val="FF0066"/>
    <a:srgbClr val="FF3300"/>
    <a:srgbClr val="008000"/>
    <a:srgbClr val="FFCC99"/>
    <a:srgbClr val="01406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5E55A-D2EA-4EE2-8147-53F42B6496CD}" v="677" dt="2026-03-05T00:56:05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78" autoAdjust="0"/>
  </p:normalViewPr>
  <p:slideViewPr>
    <p:cSldViewPr snapToGrid="0">
      <p:cViewPr varScale="1">
        <p:scale>
          <a:sx n="74" d="100"/>
          <a:sy n="74" d="100"/>
        </p:scale>
        <p:origin x="1458" y="30"/>
      </p:cViewPr>
      <p:guideLst>
        <p:guide orient="horz" pos="891"/>
        <p:guide pos="2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ikandylakis, Antonis" userId="ca19e47a-7a59-48ee-85eb-52dccb2011bc" providerId="ADAL" clId="{1568DF2F-4DA1-42DF-904E-6C18A6A2C565}"/>
    <pc:docChg chg="custSel modSld">
      <pc:chgData name="Tsikandylakis, Antonis" userId="ca19e47a-7a59-48ee-85eb-52dccb2011bc" providerId="ADAL" clId="{1568DF2F-4DA1-42DF-904E-6C18A6A2C565}" dt="2026-03-05T00:56:05.650" v="868" actId="20577"/>
      <pc:docMkLst>
        <pc:docMk/>
      </pc:docMkLst>
      <pc:sldChg chg="modSp">
        <pc:chgData name="Tsikandylakis, Antonis" userId="ca19e47a-7a59-48ee-85eb-52dccb2011bc" providerId="ADAL" clId="{1568DF2F-4DA1-42DF-904E-6C18A6A2C565}" dt="2026-02-26T21:02:00.949" v="100" actId="20577"/>
        <pc:sldMkLst>
          <pc:docMk/>
          <pc:sldMk cId="0" sldId="474"/>
        </pc:sldMkLst>
        <pc:spChg chg="mod">
          <ac:chgData name="Tsikandylakis, Antonis" userId="ca19e47a-7a59-48ee-85eb-52dccb2011bc" providerId="ADAL" clId="{1568DF2F-4DA1-42DF-904E-6C18A6A2C565}" dt="2026-02-26T21:02:00.949" v="100" actId="20577"/>
          <ac:spMkLst>
            <pc:docMk/>
            <pc:sldMk cId="0" sldId="474"/>
            <ac:spMk id="243715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6T21:03:35.017" v="157" actId="20577"/>
        <pc:sldMkLst>
          <pc:docMk/>
          <pc:sldMk cId="0" sldId="476"/>
        </pc:sldMkLst>
        <pc:spChg chg="mod">
          <ac:chgData name="Tsikandylakis, Antonis" userId="ca19e47a-7a59-48ee-85eb-52dccb2011bc" providerId="ADAL" clId="{1568DF2F-4DA1-42DF-904E-6C18A6A2C565}" dt="2026-02-26T21:03:22.647" v="135" actId="20577"/>
          <ac:spMkLst>
            <pc:docMk/>
            <pc:sldMk cId="0" sldId="476"/>
            <ac:spMk id="29699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2-26T21:03:35.017" v="157" actId="20577"/>
          <ac:spMkLst>
            <pc:docMk/>
            <pc:sldMk cId="0" sldId="476"/>
            <ac:spMk id="263178" creationId="{00000000-0000-0000-0000-000000000000}"/>
          </ac:spMkLst>
        </pc:spChg>
      </pc:sldChg>
      <pc:sldChg chg="modSp modNotesTx">
        <pc:chgData name="Tsikandylakis, Antonis" userId="ca19e47a-7a59-48ee-85eb-52dccb2011bc" providerId="ADAL" clId="{1568DF2F-4DA1-42DF-904E-6C18A6A2C565}" dt="2026-02-26T21:06:26.099" v="312" actId="20577"/>
        <pc:sldMkLst>
          <pc:docMk/>
          <pc:sldMk cId="0" sldId="477"/>
        </pc:sldMkLst>
        <pc:spChg chg="mod">
          <ac:chgData name="Tsikandylakis, Antonis" userId="ca19e47a-7a59-48ee-85eb-52dccb2011bc" providerId="ADAL" clId="{1568DF2F-4DA1-42DF-904E-6C18A6A2C565}" dt="2026-02-26T21:05:23.988" v="189" actId="20577"/>
          <ac:spMkLst>
            <pc:docMk/>
            <pc:sldMk cId="0" sldId="477"/>
            <ac:spMk id="244739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6T21:14:16.270" v="385" actId="20577"/>
        <pc:sldMkLst>
          <pc:docMk/>
          <pc:sldMk cId="0" sldId="479"/>
        </pc:sldMkLst>
        <pc:spChg chg="mod">
          <ac:chgData name="Tsikandylakis, Antonis" userId="ca19e47a-7a59-48ee-85eb-52dccb2011bc" providerId="ADAL" clId="{1568DF2F-4DA1-42DF-904E-6C18A6A2C565}" dt="2026-02-26T21:14:16.270" v="385" actId="20577"/>
          <ac:spMkLst>
            <pc:docMk/>
            <pc:sldMk cId="0" sldId="479"/>
            <ac:spMk id="246787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6T21:30:46.071" v="681" actId="20577"/>
        <pc:sldMkLst>
          <pc:docMk/>
          <pc:sldMk cId="0" sldId="493"/>
        </pc:sldMkLst>
        <pc:spChg chg="mod">
          <ac:chgData name="Tsikandylakis, Antonis" userId="ca19e47a-7a59-48ee-85eb-52dccb2011bc" providerId="ADAL" clId="{1568DF2F-4DA1-42DF-904E-6C18A6A2C565}" dt="2026-02-26T21:30:46.071" v="681" actId="20577"/>
          <ac:spMkLst>
            <pc:docMk/>
            <pc:sldMk cId="0" sldId="493"/>
            <ac:spMk id="444419" creationId="{00000000-0000-0000-0000-000000000000}"/>
          </ac:spMkLst>
        </pc:spChg>
      </pc:sldChg>
      <pc:sldChg chg="modSp modNotesTx">
        <pc:chgData name="Tsikandylakis, Antonis" userId="ca19e47a-7a59-48ee-85eb-52dccb2011bc" providerId="ADAL" clId="{1568DF2F-4DA1-42DF-904E-6C18A6A2C565}" dt="2026-02-26T21:39:17.015" v="712" actId="20577"/>
        <pc:sldMkLst>
          <pc:docMk/>
          <pc:sldMk cId="0" sldId="494"/>
        </pc:sldMkLst>
        <pc:spChg chg="mod">
          <ac:chgData name="Tsikandylakis, Antonis" userId="ca19e47a-7a59-48ee-85eb-52dccb2011bc" providerId="ADAL" clId="{1568DF2F-4DA1-42DF-904E-6C18A6A2C565}" dt="2026-02-26T21:34:51.459" v="682" actId="20577"/>
          <ac:spMkLst>
            <pc:docMk/>
            <pc:sldMk cId="0" sldId="494"/>
            <ac:spMk id="36867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6T21:40:50.901" v="760" actId="20577"/>
        <pc:sldMkLst>
          <pc:docMk/>
          <pc:sldMk cId="0" sldId="495"/>
        </pc:sldMkLst>
        <pc:spChg chg="mod">
          <ac:chgData name="Tsikandylakis, Antonis" userId="ca19e47a-7a59-48ee-85eb-52dccb2011bc" providerId="ADAL" clId="{1568DF2F-4DA1-42DF-904E-6C18A6A2C565}" dt="2026-02-26T21:40:50.901" v="760" actId="20577"/>
          <ac:spMkLst>
            <pc:docMk/>
            <pc:sldMk cId="0" sldId="495"/>
            <ac:spMk id="37891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3-05T00:56:05.650" v="868" actId="20577"/>
        <pc:sldMkLst>
          <pc:docMk/>
          <pc:sldMk cId="0" sldId="496"/>
        </pc:sldMkLst>
        <pc:spChg chg="mod">
          <ac:chgData name="Tsikandylakis, Antonis" userId="ca19e47a-7a59-48ee-85eb-52dccb2011bc" providerId="ADAL" clId="{1568DF2F-4DA1-42DF-904E-6C18A6A2C565}" dt="2026-03-05T00:56:05.650" v="868" actId="20577"/>
          <ac:spMkLst>
            <pc:docMk/>
            <pc:sldMk cId="0" sldId="496"/>
            <ac:spMk id="248835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6T21:47:58.948" v="866" actId="20577"/>
        <pc:sldMkLst>
          <pc:docMk/>
          <pc:sldMk cId="0" sldId="500"/>
        </pc:sldMkLst>
        <pc:spChg chg="mod">
          <ac:chgData name="Tsikandylakis, Antonis" userId="ca19e47a-7a59-48ee-85eb-52dccb2011bc" providerId="ADAL" clId="{1568DF2F-4DA1-42DF-904E-6C18A6A2C565}" dt="2026-02-26T21:47:58.948" v="866" actId="20577"/>
          <ac:spMkLst>
            <pc:docMk/>
            <pc:sldMk cId="0" sldId="500"/>
            <ac:spMk id="250883" creationId="{00000000-0000-0000-0000-000000000000}"/>
          </ac:spMkLst>
        </pc:spChg>
      </pc:sldChg>
      <pc:sldChg chg="addSp modSp mod modAnim">
        <pc:chgData name="Tsikandylakis, Antonis" userId="ca19e47a-7a59-48ee-85eb-52dccb2011bc" providerId="ADAL" clId="{1568DF2F-4DA1-42DF-904E-6C18A6A2C565}" dt="2026-02-26T21:17:38.703" v="555" actId="20577"/>
        <pc:sldMkLst>
          <pc:docMk/>
          <pc:sldMk cId="0" sldId="522"/>
        </pc:sldMkLst>
        <pc:spChg chg="add mod">
          <ac:chgData name="Tsikandylakis, Antonis" userId="ca19e47a-7a59-48ee-85eb-52dccb2011bc" providerId="ADAL" clId="{1568DF2F-4DA1-42DF-904E-6C18A6A2C565}" dt="2026-02-26T21:16:24.083" v="541" actId="1076"/>
          <ac:spMkLst>
            <pc:docMk/>
            <pc:sldMk cId="0" sldId="522"/>
            <ac:spMk id="3" creationId="{B3721EB3-C505-840A-C6C0-A68A67561549}"/>
          </ac:spMkLst>
        </pc:spChg>
        <pc:spChg chg="mod">
          <ac:chgData name="Tsikandylakis, Antonis" userId="ca19e47a-7a59-48ee-85eb-52dccb2011bc" providerId="ADAL" clId="{1568DF2F-4DA1-42DF-904E-6C18A6A2C565}" dt="2026-02-26T21:17:38.703" v="555" actId="20577"/>
          <ac:spMkLst>
            <pc:docMk/>
            <pc:sldMk cId="0" sldId="522"/>
            <ac:spMk id="269322" creationId="{00000000-0000-0000-0000-000000000000}"/>
          </ac:spMkLst>
        </pc:spChg>
      </pc:sldChg>
      <pc:sldChg chg="addSp delSp modSp mod">
        <pc:chgData name="Tsikandylakis, Antonis" userId="ca19e47a-7a59-48ee-85eb-52dccb2011bc" providerId="ADAL" clId="{1568DF2F-4DA1-42DF-904E-6C18A6A2C565}" dt="2026-02-26T21:21:45.986" v="660" actId="20577"/>
        <pc:sldMkLst>
          <pc:docMk/>
          <pc:sldMk cId="0" sldId="523"/>
        </pc:sldMkLst>
        <pc:spChg chg="add mod">
          <ac:chgData name="Tsikandylakis, Antonis" userId="ca19e47a-7a59-48ee-85eb-52dccb2011bc" providerId="ADAL" clId="{1568DF2F-4DA1-42DF-904E-6C18A6A2C565}" dt="2026-02-26T21:20:24.042" v="623" actId="1076"/>
          <ac:spMkLst>
            <pc:docMk/>
            <pc:sldMk cId="0" sldId="523"/>
            <ac:spMk id="3" creationId="{18223488-B177-2C5B-BA7F-3631FE7E2E9B}"/>
          </ac:spMkLst>
        </pc:spChg>
        <pc:spChg chg="add mod">
          <ac:chgData name="Tsikandylakis, Antonis" userId="ca19e47a-7a59-48ee-85eb-52dccb2011bc" providerId="ADAL" clId="{1568DF2F-4DA1-42DF-904E-6C18A6A2C565}" dt="2026-02-26T21:20:38.975" v="643" actId="14100"/>
          <ac:spMkLst>
            <pc:docMk/>
            <pc:sldMk cId="0" sldId="523"/>
            <ac:spMk id="5" creationId="{E9448725-69E0-6604-9E02-859BBF86C0C7}"/>
          </ac:spMkLst>
        </pc:spChg>
        <pc:spChg chg="mod">
          <ac:chgData name="Tsikandylakis, Antonis" userId="ca19e47a-7a59-48ee-85eb-52dccb2011bc" providerId="ADAL" clId="{1568DF2F-4DA1-42DF-904E-6C18A6A2C565}" dt="2026-02-26T21:19:28.702" v="609" actId="20577"/>
          <ac:spMkLst>
            <pc:docMk/>
            <pc:sldMk cId="0" sldId="523"/>
            <ac:spMk id="270346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2-26T21:21:45.986" v="660" actId="20577"/>
          <ac:spMkLst>
            <pc:docMk/>
            <pc:sldMk cId="0" sldId="523"/>
            <ac:spMk id="270378" creationId="{00000000-0000-0000-0000-000000000000}"/>
          </ac:spMkLst>
        </pc:spChg>
        <pc:cxnChg chg="add">
          <ac:chgData name="Tsikandylakis, Antonis" userId="ca19e47a-7a59-48ee-85eb-52dccb2011bc" providerId="ADAL" clId="{1568DF2F-4DA1-42DF-904E-6C18A6A2C565}" dt="2026-02-26T21:20:43.223" v="644" actId="11529"/>
          <ac:cxnSpMkLst>
            <pc:docMk/>
            <pc:sldMk cId="0" sldId="523"/>
            <ac:cxnSpMk id="7" creationId="{B78A0B66-30A3-6DC7-A2B8-9C6249851C8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fld id="{1C5AE360-3512-4DC4-A6D1-F6BADC91E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46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53221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604464-B30C-4AC3-8598-90CE670786B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66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7326FE-5A46-4037-9250-30169FDA96A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927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EA0234-0044-4B19-962D-93313C282E5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dirty="0"/>
              <a:t>The market finds its equilibrium on its own. We don’t have to intervene with it in order to have a balance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6007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62AE5B-9F54-4E1C-97AE-5998E89CC97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800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8D2E42-858D-4972-B49E-4090382A177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020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F074DB-9253-4BC9-94D1-3AF4DCB386A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97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DEEFF9-62AD-4FB0-9A55-E5A7D027A87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715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D22675-D7F2-4364-BA71-412F7DD96EC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800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1CA39A-21A6-4BC4-9FA3-BE0A8C036A3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The food bank incident</a:t>
            </a:r>
          </a:p>
        </p:txBody>
      </p:sp>
    </p:spTree>
    <p:extLst>
      <p:ext uri="{BB962C8B-B14F-4D97-AF65-F5344CB8AC3E}">
        <p14:creationId xmlns:p14="http://schemas.microsoft.com/office/powerpoint/2010/main" val="2571200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75374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3D0D99-8C6B-4FB5-80A6-417F934AA9F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51851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8EC634-A2FC-494E-A71F-A8921E205EB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2192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26D455-36F1-4CCC-8343-BC6856F4A5C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9963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0409CD-4B58-46C4-A6CA-42F42EF689E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692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B2BFCB-A4F9-40CF-82B1-036955DFC7E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72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5143500" y="2033588"/>
            <a:ext cx="3619500" cy="2609850"/>
          </a:xfrm>
        </p:spPr>
        <p:txBody>
          <a:bodyPr/>
          <a:lstStyle>
            <a:lvl1pPr marL="0" indent="0">
              <a:buFont typeface="Wingdings" pitchFamily="2" charset="2"/>
              <a:buNone/>
              <a:defRPr b="1">
                <a:solidFill>
                  <a:srgbClr val="9900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143500" y="912813"/>
            <a:ext cx="3619500" cy="1277937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FEA59A16-DF94-45C1-A091-A3D2A596B2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C3A75FF9-ADB5-4FFD-8349-0D952D9940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087A6FAD-1F47-411A-A190-2063F73E2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DCC4DA63-955E-45C0-9085-6053E10832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2050779E-09A5-4F9C-A29A-6B13940CB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A4FFF8BE-4A08-43E0-AFA5-ACDF68F213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2D7B9CBC-F68F-4F88-9621-2D27F759B1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59846DBE-DF9E-4E7A-B296-C542672B94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B67DAFF3-793D-4773-932C-7E08920F74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9100" y="220663"/>
            <a:ext cx="2197100" cy="5875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7800" y="220663"/>
            <a:ext cx="6438900" cy="5875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9C26F8F6-0B61-4C64-A38F-8E1816110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220663"/>
            <a:ext cx="8788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3D4C4CAA-38C5-4C24-B1AD-66D554351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220663"/>
            <a:ext cx="87884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3690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9600" y="63119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rgbClr val="000099"/>
                </a:solidFill>
              </a:defRPr>
            </a:lvl1pPr>
          </a:lstStyle>
          <a:p>
            <a:pPr>
              <a:defRPr/>
            </a:pPr>
            <a:r>
              <a:rPr lang="en-US"/>
              <a:t>Slide 21-</a:t>
            </a:r>
            <a:fld id="{591E642F-2B79-44A8-A9DD-489C32D68C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9pPr>
    </p:titleStyle>
    <p:bodyStyle>
      <a:lvl1pPr marL="514350" indent="-514350" algn="l" rtl="0" eaLnBrk="0" fontAlgn="base" hangingPunct="0">
        <a:spcBef>
          <a:spcPct val="70000"/>
        </a:spcBef>
        <a:spcAft>
          <a:spcPct val="0"/>
        </a:spcAft>
        <a:buClr>
          <a:srgbClr val="01406A"/>
        </a:buClr>
        <a:buSzPct val="10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spcBef>
          <a:spcPct val="40000"/>
        </a:spcBef>
        <a:spcAft>
          <a:spcPct val="0"/>
        </a:spcAft>
        <a:buClr>
          <a:srgbClr val="01406A"/>
        </a:buClr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257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–"/>
        <a:defRPr sz="2400">
          <a:solidFill>
            <a:schemeClr val="tx1"/>
          </a:solidFill>
          <a:latin typeface="+mn-lt"/>
        </a:defRPr>
      </a:lvl4pPr>
      <a:lvl5pPr marL="19431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5pPr>
      <a:lvl6pPr marL="2400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6pPr>
      <a:lvl7pPr marL="28575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7pPr>
      <a:lvl8pPr marL="33147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8pPr>
      <a:lvl9pPr marL="37719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slide" Target="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#4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Differentiate and illustrate efficient and inefficient markets.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Market Efficiency vs. Inefficiency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625" y="1981200"/>
            <a:ext cx="3424238" cy="4876800"/>
          </a:xfrm>
        </p:spPr>
        <p:txBody>
          <a:bodyPr/>
          <a:lstStyle/>
          <a:p>
            <a:pPr marL="0" lvl="1" indent="0">
              <a:buFontTx/>
              <a:buNone/>
            </a:pPr>
            <a:r>
              <a:rPr lang="en-US" sz="2400" dirty="0"/>
              <a:t>A competitive market creates an efficient allocation of resources at equilibrium			</a:t>
            </a:r>
          </a:p>
          <a:p>
            <a:pPr marL="0" lvl="1" indent="0">
              <a:buFontTx/>
              <a:buNone/>
            </a:pPr>
            <a:r>
              <a:rPr lang="en-US" sz="2400" dirty="0"/>
              <a:t>In equilibrium, the quantity demanded equals the quantity supplied</a:t>
            </a:r>
          </a:p>
        </p:txBody>
      </p:sp>
      <p:grpSp>
        <p:nvGrpSpPr>
          <p:cNvPr id="28" name="Group 10">
            <a:extLst>
              <a:ext uri="{FF2B5EF4-FFF2-40B4-BE49-F238E27FC236}">
                <a16:creationId xmlns:a16="http://schemas.microsoft.com/office/drawing/2014/main" id="{901BF514-D422-4775-948F-99F79CCFB778}"/>
              </a:ext>
            </a:extLst>
          </p:cNvPr>
          <p:cNvGrpSpPr>
            <a:grpSpLocks/>
          </p:cNvGrpSpPr>
          <p:nvPr/>
        </p:nvGrpSpPr>
        <p:grpSpPr bwMode="auto">
          <a:xfrm>
            <a:off x="3744913" y="1435100"/>
            <a:ext cx="5335587" cy="5060950"/>
            <a:chOff x="3322612" y="1463675"/>
            <a:chExt cx="5821388" cy="5060950"/>
          </a:xfrm>
        </p:grpSpPr>
        <p:sp>
          <p:nvSpPr>
            <p:cNvPr id="29" name="Line 2">
              <a:extLst>
                <a:ext uri="{FF2B5EF4-FFF2-40B4-BE49-F238E27FC236}">
                  <a16:creationId xmlns:a16="http://schemas.microsoft.com/office/drawing/2014/main" id="{8FEC6456-D9FE-4340-A269-1056BD499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7688" y="5737225"/>
              <a:ext cx="4786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78485A8F-7B53-4A23-A9CB-0CEF83427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7375" y="3714750"/>
              <a:ext cx="2266665" cy="14968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F8EA1854-570F-44AC-B273-843F1C6C9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538" y="6067425"/>
              <a:ext cx="2895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B9628355-E7F2-43AF-A02C-A1260692B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2138" y="1463675"/>
              <a:ext cx="0" cy="4292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17">
              <a:extLst>
                <a:ext uri="{FF2B5EF4-FFF2-40B4-BE49-F238E27FC236}">
                  <a16:creationId xmlns:a16="http://schemas.microsoft.com/office/drawing/2014/main" id="{30F6EEA6-B5AF-4E09-9903-10035D58D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6096000"/>
              <a:ext cx="878447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/>
                <a:t>Cookies</a:t>
              </a:r>
            </a:p>
          </p:txBody>
        </p: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FA7E0098-1822-41AA-BBCA-93CFCAC50B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510530" y="3402780"/>
              <a:ext cx="1990931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b="1"/>
                <a:t>Price of Cookies</a:t>
              </a:r>
              <a:endParaRPr lang="en-US" sz="2000" b="1"/>
            </a:p>
          </p:txBody>
        </p:sp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F2075261-F548-4D53-B75E-BC4D87705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175" y="4833938"/>
              <a:ext cx="574675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36" name="Rectangle 20">
              <a:extLst>
                <a:ext uri="{FF2B5EF4-FFF2-40B4-BE49-F238E27FC236}">
                  <a16:creationId xmlns:a16="http://schemas.microsoft.com/office/drawing/2014/main" id="{D7FE8F49-C3A7-467C-BADE-495F54E03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225" y="4140200"/>
              <a:ext cx="354013" cy="4587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870178F9-E3A2-4E12-BB80-47771DC0A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2063" y="3446463"/>
              <a:ext cx="538162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6</a:t>
              </a:r>
            </a:p>
          </p:txBody>
        </p: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069AB842-77A0-4146-B374-F49BD6B4A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938" y="2787650"/>
              <a:ext cx="463550" cy="4587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8</a:t>
              </a: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BD9D2DE1-2E12-4853-A062-A0169175E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9200" y="2112963"/>
              <a:ext cx="646113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10</a:t>
              </a:r>
            </a:p>
          </p:txBody>
        </p:sp>
        <p:sp>
          <p:nvSpPr>
            <p:cNvPr id="40" name="Rectangle 24">
              <a:extLst>
                <a:ext uri="{FF2B5EF4-FFF2-40B4-BE49-F238E27FC236}">
                  <a16:creationId xmlns:a16="http://schemas.microsoft.com/office/drawing/2014/main" id="{A0DAF59D-91D8-4A7B-80FC-E4EAAF3E3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475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10</a:t>
              </a:r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2AF1C641-0F03-42F9-AA55-41853601E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9763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20</a:t>
              </a:r>
            </a:p>
          </p:txBody>
        </p:sp>
        <p:sp>
          <p:nvSpPr>
            <p:cNvPr id="42" name="Rectangle 26">
              <a:extLst>
                <a:ext uri="{FF2B5EF4-FFF2-40B4-BE49-F238E27FC236}">
                  <a16:creationId xmlns:a16="http://schemas.microsoft.com/office/drawing/2014/main" id="{331E7022-7852-40F7-B791-8E8544230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3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  <p:sp>
          <p:nvSpPr>
            <p:cNvPr id="43" name="Rectangle 27">
              <a:extLst>
                <a:ext uri="{FF2B5EF4-FFF2-40B4-BE49-F238E27FC236}">
                  <a16:creationId xmlns:a16="http://schemas.microsoft.com/office/drawing/2014/main" id="{5E5BE574-A145-4C4E-ACD2-969D5117D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9950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40</a:t>
              </a:r>
            </a:p>
          </p:txBody>
        </p:sp>
        <p:sp>
          <p:nvSpPr>
            <p:cNvPr id="44" name="Rectangle 28">
              <a:extLst>
                <a:ext uri="{FF2B5EF4-FFF2-40B4-BE49-F238E27FC236}">
                  <a16:creationId xmlns:a16="http://schemas.microsoft.com/office/drawing/2014/main" id="{E7B49641-90D4-4E5F-BFD9-D92F7A5D6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1463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50</a:t>
              </a: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ECF9CF85-0C0B-496E-B761-68FAE2F20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538" y="5719763"/>
              <a:ext cx="35083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DCF4ECB7-1314-43B6-A726-5316FFC8E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1676400"/>
              <a:ext cx="3778250" cy="34194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F02D1456-44BB-47C5-BB54-D6AC8BAD4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9600" y="2514600"/>
              <a:ext cx="4191000" cy="2590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17">
              <a:extLst>
                <a:ext uri="{FF2B5EF4-FFF2-40B4-BE49-F238E27FC236}">
                  <a16:creationId xmlns:a16="http://schemas.microsoft.com/office/drawing/2014/main" id="{B62CCD5A-C0BE-4415-B9DD-08118B60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0060" y="1995714"/>
              <a:ext cx="849993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 dirty="0"/>
                <a:t>Supply</a:t>
              </a:r>
            </a:p>
          </p:txBody>
        </p:sp>
        <p:sp>
          <p:nvSpPr>
            <p:cNvPr id="49" name="Rectangle 17">
              <a:extLst>
                <a:ext uri="{FF2B5EF4-FFF2-40B4-BE49-F238E27FC236}">
                  <a16:creationId xmlns:a16="http://schemas.microsoft.com/office/drawing/2014/main" id="{BFFA93DD-C93F-43A8-BCBE-897FF25E8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247" y="5145314"/>
              <a:ext cx="1079105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 dirty="0"/>
                <a:t>Demand  </a:t>
              </a: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50D78FA-1516-4F50-970E-9131AD61AF0A}"/>
              </a:ext>
            </a:extLst>
          </p:cNvPr>
          <p:cNvCxnSpPr>
            <a:cxnSpLocks/>
            <a:endCxn id="42" idx="0"/>
          </p:cNvCxnSpPr>
          <p:nvPr/>
        </p:nvCxnSpPr>
        <p:spPr bwMode="auto">
          <a:xfrm flipH="1">
            <a:off x="6806794" y="3686175"/>
            <a:ext cx="406" cy="2005013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23">
            <a:extLst>
              <a:ext uri="{FF2B5EF4-FFF2-40B4-BE49-F238E27FC236}">
                <a16:creationId xmlns:a16="http://schemas.microsoft.com/office/drawing/2014/main" id="{19462D35-AE92-4F17-A139-6FB4DC2D9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513" y="1585119"/>
            <a:ext cx="620712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dirty="0"/>
              <a:t>12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3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uiExpand="1" build="p" bldLvl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3817938" cy="1981200"/>
          </a:xfrm>
        </p:spPr>
        <p:txBody>
          <a:bodyPr/>
          <a:lstStyle/>
          <a:p>
            <a:pPr marL="0" lvl="1" indent="0">
              <a:buFontTx/>
              <a:buNone/>
            </a:pPr>
            <a:r>
              <a:rPr lang="en-US" sz="2400" dirty="0"/>
              <a:t>At the equilibrium quantity, marginal benefit equals marginal cost, so the quantity is the efficient quantity	</a:t>
            </a:r>
          </a:p>
        </p:txBody>
      </p:sp>
      <p:sp>
        <p:nvSpPr>
          <p:cNvPr id="263178" name="Rectangle 10"/>
          <p:cNvSpPr>
            <a:spLocks noChangeArrowheads="1"/>
          </p:cNvSpPr>
          <p:nvPr/>
        </p:nvSpPr>
        <p:spPr bwMode="auto">
          <a:xfrm>
            <a:off x="0" y="3795713"/>
            <a:ext cx="3846513" cy="2503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When the efficient quantity is produced, total surplus (the sum of consumer surplus and producer surplus) is maximized	</a:t>
            </a:r>
          </a:p>
        </p:txBody>
      </p:sp>
      <p:grpSp>
        <p:nvGrpSpPr>
          <p:cNvPr id="29701" name="Group 10"/>
          <p:cNvGrpSpPr>
            <a:grpSpLocks/>
          </p:cNvGrpSpPr>
          <p:nvPr/>
        </p:nvGrpSpPr>
        <p:grpSpPr bwMode="auto">
          <a:xfrm>
            <a:off x="3744913" y="1435100"/>
            <a:ext cx="5335587" cy="5060950"/>
            <a:chOff x="3322612" y="1463675"/>
            <a:chExt cx="5821388" cy="5060950"/>
          </a:xfrm>
        </p:grpSpPr>
        <p:sp>
          <p:nvSpPr>
            <p:cNvPr id="29708" name="Line 2"/>
            <p:cNvSpPr>
              <a:spLocks noChangeShapeType="1"/>
            </p:cNvSpPr>
            <p:nvPr/>
          </p:nvSpPr>
          <p:spPr bwMode="auto">
            <a:xfrm>
              <a:off x="4357688" y="5737225"/>
              <a:ext cx="4786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5"/>
            <p:cNvSpPr>
              <a:spLocks noChangeShapeType="1"/>
            </p:cNvSpPr>
            <p:nvPr/>
          </p:nvSpPr>
          <p:spPr bwMode="auto">
            <a:xfrm>
              <a:off x="4397375" y="3714750"/>
              <a:ext cx="2266665" cy="14968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Rectangle 15"/>
            <p:cNvSpPr>
              <a:spLocks noChangeArrowheads="1"/>
            </p:cNvSpPr>
            <p:nvPr/>
          </p:nvSpPr>
          <p:spPr bwMode="auto">
            <a:xfrm>
              <a:off x="5316538" y="6067425"/>
              <a:ext cx="28956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16"/>
            <p:cNvSpPr>
              <a:spLocks noChangeShapeType="1"/>
            </p:cNvSpPr>
            <p:nvPr/>
          </p:nvSpPr>
          <p:spPr bwMode="auto">
            <a:xfrm>
              <a:off x="4402138" y="1463675"/>
              <a:ext cx="0" cy="4292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Rectangle 17"/>
            <p:cNvSpPr>
              <a:spLocks noChangeArrowheads="1"/>
            </p:cNvSpPr>
            <p:nvPr/>
          </p:nvSpPr>
          <p:spPr bwMode="auto">
            <a:xfrm>
              <a:off x="8001000" y="6096000"/>
              <a:ext cx="878447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/>
                <a:t>Cookies</a:t>
              </a:r>
            </a:p>
          </p:txBody>
        </p:sp>
        <p:sp>
          <p:nvSpPr>
            <p:cNvPr id="29713" name="Rectangle 18"/>
            <p:cNvSpPr>
              <a:spLocks noChangeArrowheads="1"/>
            </p:cNvSpPr>
            <p:nvPr/>
          </p:nvSpPr>
          <p:spPr bwMode="auto">
            <a:xfrm rot="-5400000">
              <a:off x="2510530" y="3402780"/>
              <a:ext cx="1990931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b="1"/>
                <a:t>Price of Cookies</a:t>
              </a:r>
              <a:endParaRPr lang="en-US" sz="2000" b="1"/>
            </a:p>
          </p:txBody>
        </p:sp>
        <p:sp>
          <p:nvSpPr>
            <p:cNvPr id="29714" name="Rectangle 19"/>
            <p:cNvSpPr>
              <a:spLocks noChangeArrowheads="1"/>
            </p:cNvSpPr>
            <p:nvPr/>
          </p:nvSpPr>
          <p:spPr bwMode="auto">
            <a:xfrm>
              <a:off x="3813175" y="4833938"/>
              <a:ext cx="574675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29715" name="Rectangle 20"/>
            <p:cNvSpPr>
              <a:spLocks noChangeArrowheads="1"/>
            </p:cNvSpPr>
            <p:nvPr/>
          </p:nvSpPr>
          <p:spPr bwMode="auto">
            <a:xfrm>
              <a:off x="3832225" y="4140200"/>
              <a:ext cx="354013" cy="4587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29716" name="Rectangle 21"/>
            <p:cNvSpPr>
              <a:spLocks noChangeArrowheads="1"/>
            </p:cNvSpPr>
            <p:nvPr/>
          </p:nvSpPr>
          <p:spPr bwMode="auto">
            <a:xfrm>
              <a:off x="3802063" y="3446463"/>
              <a:ext cx="538162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6</a:t>
              </a:r>
            </a:p>
          </p:txBody>
        </p:sp>
        <p:sp>
          <p:nvSpPr>
            <p:cNvPr id="29717" name="Rectangle 22"/>
            <p:cNvSpPr>
              <a:spLocks noChangeArrowheads="1"/>
            </p:cNvSpPr>
            <p:nvPr/>
          </p:nvSpPr>
          <p:spPr bwMode="auto">
            <a:xfrm>
              <a:off x="3817938" y="2787650"/>
              <a:ext cx="463550" cy="4587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8</a:t>
              </a:r>
            </a:p>
          </p:txBody>
        </p:sp>
        <p:sp>
          <p:nvSpPr>
            <p:cNvPr id="29718" name="Rectangle 23"/>
            <p:cNvSpPr>
              <a:spLocks noChangeArrowheads="1"/>
            </p:cNvSpPr>
            <p:nvPr/>
          </p:nvSpPr>
          <p:spPr bwMode="auto">
            <a:xfrm>
              <a:off x="3759200" y="2112963"/>
              <a:ext cx="646113" cy="4587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10</a:t>
              </a:r>
            </a:p>
          </p:txBody>
        </p:sp>
        <p:sp>
          <p:nvSpPr>
            <p:cNvPr id="29719" name="Rectangle 24"/>
            <p:cNvSpPr>
              <a:spLocks noChangeArrowheads="1"/>
            </p:cNvSpPr>
            <p:nvPr/>
          </p:nvSpPr>
          <p:spPr bwMode="auto">
            <a:xfrm>
              <a:off x="4943475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10</a:t>
              </a:r>
            </a:p>
          </p:txBody>
        </p:sp>
        <p:sp>
          <p:nvSpPr>
            <p:cNvPr id="29720" name="Rectangle 25"/>
            <p:cNvSpPr>
              <a:spLocks noChangeArrowheads="1"/>
            </p:cNvSpPr>
            <p:nvPr/>
          </p:nvSpPr>
          <p:spPr bwMode="auto">
            <a:xfrm>
              <a:off x="5719763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20</a:t>
              </a:r>
            </a:p>
          </p:txBody>
        </p:sp>
        <p:sp>
          <p:nvSpPr>
            <p:cNvPr id="29721" name="Rectangle 26"/>
            <p:cNvSpPr>
              <a:spLocks noChangeArrowheads="1"/>
            </p:cNvSpPr>
            <p:nvPr/>
          </p:nvSpPr>
          <p:spPr bwMode="auto">
            <a:xfrm>
              <a:off x="6443663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  <p:sp>
          <p:nvSpPr>
            <p:cNvPr id="29722" name="Rectangle 27"/>
            <p:cNvSpPr>
              <a:spLocks noChangeArrowheads="1"/>
            </p:cNvSpPr>
            <p:nvPr/>
          </p:nvSpPr>
          <p:spPr bwMode="auto">
            <a:xfrm>
              <a:off x="7219950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40</a:t>
              </a:r>
            </a:p>
          </p:txBody>
        </p:sp>
        <p:sp>
          <p:nvSpPr>
            <p:cNvPr id="29723" name="Rectangle 28"/>
            <p:cNvSpPr>
              <a:spLocks noChangeArrowheads="1"/>
            </p:cNvSpPr>
            <p:nvPr/>
          </p:nvSpPr>
          <p:spPr bwMode="auto">
            <a:xfrm>
              <a:off x="7891463" y="5719763"/>
              <a:ext cx="439224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50</a:t>
              </a:r>
            </a:p>
          </p:txBody>
        </p:sp>
        <p:sp>
          <p:nvSpPr>
            <p:cNvPr id="29724" name="Rectangle 35"/>
            <p:cNvSpPr>
              <a:spLocks noChangeArrowheads="1"/>
            </p:cNvSpPr>
            <p:nvPr/>
          </p:nvSpPr>
          <p:spPr bwMode="auto">
            <a:xfrm>
              <a:off x="4173538" y="5719763"/>
              <a:ext cx="350837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29725" name="Line 45"/>
            <p:cNvSpPr>
              <a:spLocks noChangeShapeType="1"/>
            </p:cNvSpPr>
            <p:nvPr/>
          </p:nvSpPr>
          <p:spPr bwMode="auto">
            <a:xfrm>
              <a:off x="4419600" y="1676400"/>
              <a:ext cx="3778250" cy="34194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6" name="Line 45"/>
            <p:cNvSpPr>
              <a:spLocks noChangeShapeType="1"/>
            </p:cNvSpPr>
            <p:nvPr/>
          </p:nvSpPr>
          <p:spPr bwMode="auto">
            <a:xfrm flipV="1">
              <a:off x="4419600" y="2514600"/>
              <a:ext cx="4191000" cy="2590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7" name="Rectangle 17"/>
            <p:cNvSpPr>
              <a:spLocks noChangeArrowheads="1"/>
            </p:cNvSpPr>
            <p:nvPr/>
          </p:nvSpPr>
          <p:spPr bwMode="auto">
            <a:xfrm>
              <a:off x="7466842" y="1995714"/>
              <a:ext cx="1376430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 dirty="0"/>
                <a:t>Supply = MC</a:t>
              </a:r>
            </a:p>
          </p:txBody>
        </p:sp>
        <p:sp>
          <p:nvSpPr>
            <p:cNvPr id="29728" name="Rectangle 17"/>
            <p:cNvSpPr>
              <a:spLocks noChangeArrowheads="1"/>
            </p:cNvSpPr>
            <p:nvPr/>
          </p:nvSpPr>
          <p:spPr bwMode="auto">
            <a:xfrm>
              <a:off x="7426174" y="5145314"/>
              <a:ext cx="1497253" cy="305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400" b="1"/>
                <a:t>Demand = MB</a:t>
              </a:r>
            </a:p>
          </p:txBody>
        </p:sp>
      </p:grpSp>
      <p:sp>
        <p:nvSpPr>
          <p:cNvPr id="27657" name="Right Triangle 32"/>
          <p:cNvSpPr>
            <a:spLocks noChangeArrowheads="1"/>
          </p:cNvSpPr>
          <p:nvPr/>
        </p:nvSpPr>
        <p:spPr bwMode="auto">
          <a:xfrm>
            <a:off x="4732338" y="1668463"/>
            <a:ext cx="2032000" cy="1989137"/>
          </a:xfrm>
          <a:prstGeom prst="rtTriangl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7658" name="Right Triangle 33"/>
          <p:cNvSpPr>
            <a:spLocks noChangeArrowheads="1"/>
          </p:cNvSpPr>
          <p:nvPr/>
        </p:nvSpPr>
        <p:spPr bwMode="auto">
          <a:xfrm rot="5400000">
            <a:off x="5058569" y="3374232"/>
            <a:ext cx="1379537" cy="2032000"/>
          </a:xfrm>
          <a:prstGeom prst="rtTriangle">
            <a:avLst/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cxnSp>
        <p:nvCxnSpPr>
          <p:cNvPr id="30" name="Straight Connector 29"/>
          <p:cNvCxnSpPr>
            <a:cxnSpLocks/>
            <a:endCxn id="29721" idx="0"/>
          </p:cNvCxnSpPr>
          <p:nvPr/>
        </p:nvCxnSpPr>
        <p:spPr bwMode="auto">
          <a:xfrm flipH="1">
            <a:off x="6806794" y="3686175"/>
            <a:ext cx="406" cy="2005013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660" name="Rectangle 17"/>
          <p:cNvSpPr>
            <a:spLocks noChangeArrowheads="1"/>
          </p:cNvSpPr>
          <p:nvPr/>
        </p:nvSpPr>
        <p:spPr bwMode="auto">
          <a:xfrm>
            <a:off x="4787900" y="2773363"/>
            <a:ext cx="1293813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1400" b="1"/>
              <a:t>Consumer Surplus</a:t>
            </a:r>
          </a:p>
        </p:txBody>
      </p:sp>
      <p:sp>
        <p:nvSpPr>
          <p:cNvPr id="27661" name="Rectangle 17"/>
          <p:cNvSpPr>
            <a:spLocks noChangeArrowheads="1"/>
          </p:cNvSpPr>
          <p:nvPr/>
        </p:nvSpPr>
        <p:spPr bwMode="auto">
          <a:xfrm>
            <a:off x="4824413" y="3817938"/>
            <a:ext cx="1198562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1400" b="1"/>
              <a:t>Producer Surplus</a:t>
            </a:r>
          </a:p>
        </p:txBody>
      </p:sp>
      <p:sp>
        <p:nvSpPr>
          <p:cNvPr id="29707" name="Rectangle 23"/>
          <p:cNvSpPr>
            <a:spLocks noChangeArrowheads="1"/>
          </p:cNvSpPr>
          <p:nvPr/>
        </p:nvSpPr>
        <p:spPr bwMode="auto">
          <a:xfrm>
            <a:off x="4151513" y="1585119"/>
            <a:ext cx="620712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dirty="0"/>
              <a:t>12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  <p:bldP spid="263178" grpId="0"/>
      <p:bldP spid="27657" grpId="0" animBg="1"/>
      <p:bldP spid="27658" grpId="0" animBg="1"/>
      <p:bldP spid="27660" grpId="0"/>
      <p:bldP spid="276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5" y="1625600"/>
            <a:ext cx="8432800" cy="4470400"/>
          </a:xfrm>
        </p:spPr>
        <p:txBody>
          <a:bodyPr/>
          <a:lstStyle/>
          <a:p>
            <a:r>
              <a:rPr lang="en-US" dirty="0"/>
              <a:t>The Invisible Hand</a:t>
            </a:r>
          </a:p>
          <a:p>
            <a:pPr lvl="1"/>
            <a:r>
              <a:rPr lang="en-US" dirty="0"/>
              <a:t>Adam Smith’s “invisible hand” idea in the </a:t>
            </a:r>
            <a:r>
              <a:rPr lang="en-US" i="1" dirty="0"/>
              <a:t>Wealth of Nations</a:t>
            </a:r>
            <a:r>
              <a:rPr lang="en-US" dirty="0"/>
              <a:t> implied that competitive markets send resources to their highest valued use in society.				</a:t>
            </a:r>
          </a:p>
          <a:p>
            <a:pPr lvl="1"/>
            <a:r>
              <a:rPr lang="en-US" dirty="0"/>
              <a:t>Consumers and producers pursue their own self-interest and interact in markets.</a:t>
            </a:r>
          </a:p>
          <a:p>
            <a:pPr lvl="1"/>
            <a:r>
              <a:rPr lang="en-US" dirty="0"/>
              <a:t>Market transactions generate an efficient—highest valued—use of resources.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 bldLvl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848600" cy="4525963"/>
          </a:xfrm>
        </p:spPr>
        <p:txBody>
          <a:bodyPr/>
          <a:lstStyle/>
          <a:p>
            <a:r>
              <a:rPr lang="en-US" dirty="0"/>
              <a:t>Underproduction and Overproduction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Inefficiency can occur because too little of an item is produced</a:t>
            </a:r>
            <a:r>
              <a:rPr lang="en-US" dirty="0">
                <a:cs typeface="Arial" charset="0"/>
              </a:rPr>
              <a:t>— underproduction—</a:t>
            </a:r>
            <a:r>
              <a:rPr lang="en-US" dirty="0"/>
              <a:t>or too much of an item is produced</a:t>
            </a:r>
            <a:r>
              <a:rPr lang="en-US" dirty="0">
                <a:cs typeface="Arial" charset="0"/>
              </a:rPr>
              <a:t>— overproduction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 bldLvl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3962400" cy="685800"/>
          </a:xfrm>
        </p:spPr>
        <p:txBody>
          <a:bodyPr/>
          <a:lstStyle/>
          <a:p>
            <a:pPr marL="0" lvl="1" indent="0">
              <a:buFontTx/>
              <a:buNone/>
              <a:defRPr/>
            </a:pPr>
            <a:r>
              <a:rPr lang="en-US" b="1" dirty="0">
                <a:solidFill>
                  <a:srgbClr val="3963AB"/>
                </a:solidFill>
              </a:rPr>
              <a:t>Underproduction</a:t>
            </a:r>
          </a:p>
          <a:p>
            <a:pPr lvl="1">
              <a:defRPr/>
            </a:pPr>
            <a:endParaRPr lang="en-US" dirty="0"/>
          </a:p>
        </p:txBody>
      </p:sp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0" y="2895600"/>
            <a:ext cx="3962400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If production is restricted  to 20 boxes a day, there is underproduction and the quantity is going to be inefficient	</a:t>
            </a:r>
          </a:p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deadweight loss</a:t>
            </a:r>
            <a:r>
              <a:rPr lang="en-US" sz="2400" dirty="0"/>
              <a:t> equals the decrease in total surplus – The grey triangle</a:t>
            </a:r>
          </a:p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This loss is a social loss 	</a:t>
            </a:r>
          </a:p>
        </p:txBody>
      </p:sp>
      <p:sp>
        <p:nvSpPr>
          <p:cNvPr id="269323" name="Rectangle 11"/>
          <p:cNvSpPr>
            <a:spLocks noChangeArrowheads="1"/>
          </p:cNvSpPr>
          <p:nvPr/>
        </p:nvSpPr>
        <p:spPr bwMode="auto">
          <a:xfrm>
            <a:off x="0" y="1995488"/>
            <a:ext cx="4038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The efficient quantity is 30 boxes of cookies a day.</a:t>
            </a:r>
          </a:p>
        </p:txBody>
      </p:sp>
      <p:grpSp>
        <p:nvGrpSpPr>
          <p:cNvPr id="32774" name="Group 27"/>
          <p:cNvGrpSpPr>
            <a:grpSpLocks/>
          </p:cNvGrpSpPr>
          <p:nvPr/>
        </p:nvGrpSpPr>
        <p:grpSpPr bwMode="auto">
          <a:xfrm>
            <a:off x="3744913" y="1435100"/>
            <a:ext cx="5335587" cy="5060950"/>
            <a:chOff x="3744911" y="1435100"/>
            <a:chExt cx="5335072" cy="5060950"/>
          </a:xfrm>
        </p:grpSpPr>
        <p:grpSp>
          <p:nvGrpSpPr>
            <p:cNvPr id="32780" name="Group 10"/>
            <p:cNvGrpSpPr>
              <a:grpSpLocks/>
            </p:cNvGrpSpPr>
            <p:nvPr/>
          </p:nvGrpSpPr>
          <p:grpSpPr bwMode="auto">
            <a:xfrm>
              <a:off x="3744911" y="1435100"/>
              <a:ext cx="5335072" cy="5060950"/>
              <a:chOff x="3322612" y="1463675"/>
              <a:chExt cx="5821388" cy="5060950"/>
            </a:xfrm>
          </p:grpSpPr>
          <p:sp>
            <p:nvSpPr>
              <p:cNvPr id="32787" name="Line 2"/>
              <p:cNvSpPr>
                <a:spLocks noChangeShapeType="1"/>
              </p:cNvSpPr>
              <p:nvPr/>
            </p:nvSpPr>
            <p:spPr bwMode="auto">
              <a:xfrm>
                <a:off x="4357688" y="5737225"/>
                <a:ext cx="47863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8" name="Line 5"/>
              <p:cNvSpPr>
                <a:spLocks noChangeShapeType="1"/>
              </p:cNvSpPr>
              <p:nvPr/>
            </p:nvSpPr>
            <p:spPr bwMode="auto">
              <a:xfrm>
                <a:off x="4397375" y="3714750"/>
                <a:ext cx="2282504" cy="14968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89" name="Rectangle 15"/>
              <p:cNvSpPr>
                <a:spLocks noChangeArrowheads="1"/>
              </p:cNvSpPr>
              <p:nvPr/>
            </p:nvSpPr>
            <p:spPr bwMode="auto">
              <a:xfrm>
                <a:off x="5316538" y="6067425"/>
                <a:ext cx="2895600" cy="4572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0" name="Line 16"/>
              <p:cNvSpPr>
                <a:spLocks noChangeShapeType="1"/>
              </p:cNvSpPr>
              <p:nvPr/>
            </p:nvSpPr>
            <p:spPr bwMode="auto">
              <a:xfrm>
                <a:off x="4402138" y="1463675"/>
                <a:ext cx="0" cy="4292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1" name="Rectangle 17"/>
              <p:cNvSpPr>
                <a:spLocks noChangeArrowheads="1"/>
              </p:cNvSpPr>
              <p:nvPr/>
            </p:nvSpPr>
            <p:spPr bwMode="auto">
              <a:xfrm>
                <a:off x="8001000" y="6096000"/>
                <a:ext cx="8784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Cookies</a:t>
                </a:r>
              </a:p>
            </p:txBody>
          </p:sp>
          <p:sp>
            <p:nvSpPr>
              <p:cNvPr id="32792" name="Rectangle 18"/>
              <p:cNvSpPr>
                <a:spLocks noChangeArrowheads="1"/>
              </p:cNvSpPr>
              <p:nvPr/>
            </p:nvSpPr>
            <p:spPr bwMode="auto">
              <a:xfrm rot="-5400000">
                <a:off x="2510530" y="3402780"/>
                <a:ext cx="1990931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b="1"/>
                  <a:t>Price of Cookies</a:t>
                </a:r>
                <a:endParaRPr lang="en-US" sz="2000" b="1"/>
              </a:p>
            </p:txBody>
          </p:sp>
          <p:sp>
            <p:nvSpPr>
              <p:cNvPr id="32793" name="Rectangle 19"/>
              <p:cNvSpPr>
                <a:spLocks noChangeArrowheads="1"/>
              </p:cNvSpPr>
              <p:nvPr/>
            </p:nvSpPr>
            <p:spPr bwMode="auto">
              <a:xfrm>
                <a:off x="3813175" y="4833938"/>
                <a:ext cx="574675" cy="4587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32794" name="Rectangle 20"/>
              <p:cNvSpPr>
                <a:spLocks noChangeArrowheads="1"/>
              </p:cNvSpPr>
              <p:nvPr/>
            </p:nvSpPr>
            <p:spPr bwMode="auto">
              <a:xfrm>
                <a:off x="3832225" y="4140200"/>
                <a:ext cx="354013" cy="4587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4</a:t>
                </a:r>
              </a:p>
            </p:txBody>
          </p:sp>
          <p:sp>
            <p:nvSpPr>
              <p:cNvPr id="32795" name="Rectangle 21"/>
              <p:cNvSpPr>
                <a:spLocks noChangeArrowheads="1"/>
              </p:cNvSpPr>
              <p:nvPr/>
            </p:nvSpPr>
            <p:spPr bwMode="auto">
              <a:xfrm>
                <a:off x="3802063" y="3446463"/>
                <a:ext cx="538162" cy="4587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6</a:t>
                </a:r>
              </a:p>
            </p:txBody>
          </p:sp>
          <p:sp>
            <p:nvSpPr>
              <p:cNvPr id="32796" name="Rectangle 22"/>
              <p:cNvSpPr>
                <a:spLocks noChangeArrowheads="1"/>
              </p:cNvSpPr>
              <p:nvPr/>
            </p:nvSpPr>
            <p:spPr bwMode="auto">
              <a:xfrm>
                <a:off x="3817938" y="2787650"/>
                <a:ext cx="463550" cy="4587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8</a:t>
                </a:r>
              </a:p>
            </p:txBody>
          </p:sp>
          <p:sp>
            <p:nvSpPr>
              <p:cNvPr id="32797" name="Rectangle 23"/>
              <p:cNvSpPr>
                <a:spLocks noChangeArrowheads="1"/>
              </p:cNvSpPr>
              <p:nvPr/>
            </p:nvSpPr>
            <p:spPr bwMode="auto">
              <a:xfrm>
                <a:off x="3759200" y="2112963"/>
                <a:ext cx="646113" cy="4587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10</a:t>
                </a:r>
              </a:p>
            </p:txBody>
          </p:sp>
          <p:sp>
            <p:nvSpPr>
              <p:cNvPr id="32798" name="Rectangle 24"/>
              <p:cNvSpPr>
                <a:spLocks noChangeArrowheads="1"/>
              </p:cNvSpPr>
              <p:nvPr/>
            </p:nvSpPr>
            <p:spPr bwMode="auto">
              <a:xfrm>
                <a:off x="4943475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10</a:t>
                </a:r>
              </a:p>
            </p:txBody>
          </p:sp>
          <p:sp>
            <p:nvSpPr>
              <p:cNvPr id="32799" name="Rectangle 25"/>
              <p:cNvSpPr>
                <a:spLocks noChangeArrowheads="1"/>
              </p:cNvSpPr>
              <p:nvPr/>
            </p:nvSpPr>
            <p:spPr bwMode="auto">
              <a:xfrm>
                <a:off x="5719763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20</a:t>
                </a:r>
              </a:p>
            </p:txBody>
          </p:sp>
          <p:sp>
            <p:nvSpPr>
              <p:cNvPr id="32800" name="Rectangle 26"/>
              <p:cNvSpPr>
                <a:spLocks noChangeArrowheads="1"/>
              </p:cNvSpPr>
              <p:nvPr/>
            </p:nvSpPr>
            <p:spPr bwMode="auto">
              <a:xfrm>
                <a:off x="6443663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30</a:t>
                </a:r>
              </a:p>
            </p:txBody>
          </p:sp>
          <p:sp>
            <p:nvSpPr>
              <p:cNvPr id="32801" name="Rectangle 27"/>
              <p:cNvSpPr>
                <a:spLocks noChangeArrowheads="1"/>
              </p:cNvSpPr>
              <p:nvPr/>
            </p:nvSpPr>
            <p:spPr bwMode="auto">
              <a:xfrm>
                <a:off x="7219950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40</a:t>
                </a:r>
              </a:p>
            </p:txBody>
          </p:sp>
          <p:sp>
            <p:nvSpPr>
              <p:cNvPr id="32802" name="Rectangle 28"/>
              <p:cNvSpPr>
                <a:spLocks noChangeArrowheads="1"/>
              </p:cNvSpPr>
              <p:nvPr/>
            </p:nvSpPr>
            <p:spPr bwMode="auto">
              <a:xfrm>
                <a:off x="7891463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50</a:t>
                </a:r>
              </a:p>
            </p:txBody>
          </p:sp>
          <p:sp>
            <p:nvSpPr>
              <p:cNvPr id="32803" name="Rectangle 35"/>
              <p:cNvSpPr>
                <a:spLocks noChangeArrowheads="1"/>
              </p:cNvSpPr>
              <p:nvPr/>
            </p:nvSpPr>
            <p:spPr bwMode="auto">
              <a:xfrm>
                <a:off x="4173538" y="5719763"/>
                <a:ext cx="350837" cy="45402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32804" name="Line 45"/>
              <p:cNvSpPr>
                <a:spLocks noChangeShapeType="1"/>
              </p:cNvSpPr>
              <p:nvPr/>
            </p:nvSpPr>
            <p:spPr bwMode="auto">
              <a:xfrm>
                <a:off x="4419600" y="1676400"/>
                <a:ext cx="3778250" cy="341947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5" name="Line 45"/>
              <p:cNvSpPr>
                <a:spLocks noChangeShapeType="1"/>
              </p:cNvSpPr>
              <p:nvPr/>
            </p:nvSpPr>
            <p:spPr bwMode="auto">
              <a:xfrm flipV="1">
                <a:off x="4419600" y="2514600"/>
                <a:ext cx="4191000" cy="2590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6" name="Rectangle 17"/>
              <p:cNvSpPr>
                <a:spLocks noChangeArrowheads="1"/>
              </p:cNvSpPr>
              <p:nvPr/>
            </p:nvSpPr>
            <p:spPr bwMode="auto">
              <a:xfrm>
                <a:off x="7493887" y="1995714"/>
                <a:ext cx="132233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Supply= MC</a:t>
                </a:r>
              </a:p>
            </p:txBody>
          </p:sp>
          <p:sp>
            <p:nvSpPr>
              <p:cNvPr id="32807" name="Rectangle 17"/>
              <p:cNvSpPr>
                <a:spLocks noChangeArrowheads="1"/>
              </p:cNvSpPr>
              <p:nvPr/>
            </p:nvSpPr>
            <p:spPr bwMode="auto">
              <a:xfrm>
                <a:off x="7426174" y="5145314"/>
                <a:ext cx="1497253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Demand = MB</a:t>
                </a:r>
              </a:p>
            </p:txBody>
          </p:sp>
        </p:grpSp>
        <p:grpSp>
          <p:nvGrpSpPr>
            <p:cNvPr id="32781" name="Group 32"/>
            <p:cNvGrpSpPr>
              <a:grpSpLocks/>
            </p:cNvGrpSpPr>
            <p:nvPr/>
          </p:nvGrpSpPr>
          <p:grpSpPr bwMode="auto">
            <a:xfrm>
              <a:off x="4732338" y="1668463"/>
              <a:ext cx="2117704" cy="4008211"/>
              <a:chOff x="4732338" y="1668463"/>
              <a:chExt cx="2117704" cy="4008211"/>
            </a:xfrm>
          </p:grpSpPr>
          <p:sp>
            <p:nvSpPr>
              <p:cNvPr id="32782" name="Right Triangle 32"/>
              <p:cNvSpPr>
                <a:spLocks noChangeArrowheads="1"/>
              </p:cNvSpPr>
              <p:nvPr/>
            </p:nvSpPr>
            <p:spPr bwMode="auto">
              <a:xfrm>
                <a:off x="4732338" y="1668463"/>
                <a:ext cx="2032000" cy="1989137"/>
              </a:xfrm>
              <a:prstGeom prst="rtTriangl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783" name="Right Triangle 33"/>
              <p:cNvSpPr>
                <a:spLocks noChangeArrowheads="1"/>
              </p:cNvSpPr>
              <p:nvPr/>
            </p:nvSpPr>
            <p:spPr bwMode="auto">
              <a:xfrm rot="5400000">
                <a:off x="5058569" y="3374232"/>
                <a:ext cx="1379537" cy="2032000"/>
              </a:xfrm>
              <a:prstGeom prst="rtTriangl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cxnSp>
            <p:nvCxnSpPr>
              <p:cNvPr id="33" name="Straight Connector 32"/>
              <p:cNvCxnSpPr/>
              <p:nvPr/>
            </p:nvCxnSpPr>
            <p:spPr bwMode="auto">
              <a:xfrm>
                <a:off x="6806903" y="3686175"/>
                <a:ext cx="42859" cy="1990725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785" name="Rectangle 17"/>
              <p:cNvSpPr>
                <a:spLocks noChangeArrowheads="1"/>
              </p:cNvSpPr>
              <p:nvPr/>
            </p:nvSpPr>
            <p:spPr bwMode="auto">
              <a:xfrm>
                <a:off x="4759206" y="2888796"/>
                <a:ext cx="1293250" cy="52065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Consumer Surplus</a:t>
                </a:r>
              </a:p>
            </p:txBody>
          </p:sp>
          <p:sp>
            <p:nvSpPr>
              <p:cNvPr id="32786" name="Rectangle 17"/>
              <p:cNvSpPr>
                <a:spLocks noChangeArrowheads="1"/>
              </p:cNvSpPr>
              <p:nvPr/>
            </p:nvSpPr>
            <p:spPr bwMode="auto">
              <a:xfrm>
                <a:off x="4824521" y="3817257"/>
                <a:ext cx="1198907" cy="52065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Producer Surplus</a:t>
                </a:r>
              </a:p>
            </p:txBody>
          </p:sp>
        </p:grpSp>
      </p:grpSp>
      <p:cxnSp>
        <p:nvCxnSpPr>
          <p:cNvPr id="58" name="Straight Connector 57"/>
          <p:cNvCxnSpPr/>
          <p:nvPr/>
        </p:nvCxnSpPr>
        <p:spPr bwMode="auto">
          <a:xfrm flipV="1">
            <a:off x="4702175" y="2917825"/>
            <a:ext cx="1335088" cy="14288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 bwMode="auto">
          <a:xfrm rot="16200000" flipH="1">
            <a:off x="4701382" y="4283869"/>
            <a:ext cx="2781300" cy="77787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23">
            <a:extLst>
              <a:ext uri="{FF2B5EF4-FFF2-40B4-BE49-F238E27FC236}">
                <a16:creationId xmlns:a16="http://schemas.microsoft.com/office/drawing/2014/main" id="{851E7FE0-CECE-4CC5-B6CE-1B9441119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513" y="1585119"/>
            <a:ext cx="620712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3721EB3-C505-840A-C6C0-A68A67561549}"/>
              </a:ext>
            </a:extLst>
          </p:cNvPr>
          <p:cNvSpPr/>
          <p:nvPr/>
        </p:nvSpPr>
        <p:spPr bwMode="auto">
          <a:xfrm rot="5400000">
            <a:off x="5860923" y="3280084"/>
            <a:ext cx="1149930" cy="673489"/>
          </a:xfrm>
          <a:prstGeom prst="triangle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9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69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69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2" grpId="0" uiExpand="1" build="p" bldLvl="2"/>
      <p:bldP spid="2693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52600"/>
            <a:ext cx="3962400" cy="609600"/>
          </a:xfrm>
        </p:spPr>
        <p:txBody>
          <a:bodyPr/>
          <a:lstStyle/>
          <a:p>
            <a:pPr lvl="1">
              <a:buFontTx/>
              <a:buNone/>
            </a:pPr>
            <a:r>
              <a:rPr lang="en-US" b="1">
                <a:solidFill>
                  <a:srgbClr val="3963AB"/>
                </a:solidFill>
              </a:rPr>
              <a:t>Overproduction</a:t>
            </a:r>
          </a:p>
        </p:txBody>
      </p:sp>
      <p:sp>
        <p:nvSpPr>
          <p:cNvPr id="270346" name="Rectangle 10"/>
          <p:cNvSpPr>
            <a:spLocks noChangeArrowheads="1"/>
          </p:cNvSpPr>
          <p:nvPr/>
        </p:nvSpPr>
        <p:spPr bwMode="auto">
          <a:xfrm>
            <a:off x="0" y="4249738"/>
            <a:ext cx="39624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If production is expanded to 40 boxes a day, 	a deadweight loss arises from overproduction	</a:t>
            </a:r>
          </a:p>
        </p:txBody>
      </p:sp>
      <p:sp>
        <p:nvSpPr>
          <p:cNvPr id="33797" name="Rectangle 11"/>
          <p:cNvSpPr>
            <a:spLocks noChangeArrowheads="1"/>
          </p:cNvSpPr>
          <p:nvPr/>
        </p:nvSpPr>
        <p:spPr bwMode="auto">
          <a:xfrm>
            <a:off x="0" y="2582863"/>
            <a:ext cx="3773488" cy="14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Again, the efficient quantity is 30 boxes of cookies a day.</a:t>
            </a:r>
          </a:p>
        </p:txBody>
      </p:sp>
      <p:sp>
        <p:nvSpPr>
          <p:cNvPr id="270378" name="Rectangle 42"/>
          <p:cNvSpPr>
            <a:spLocks noChangeArrowheads="1"/>
          </p:cNvSpPr>
          <p:nvPr/>
        </p:nvSpPr>
        <p:spPr bwMode="auto">
          <a:xfrm>
            <a:off x="0" y="6172200"/>
            <a:ext cx="441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8738" lvl="1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This loss is a social loss   </a:t>
            </a:r>
          </a:p>
        </p:txBody>
      </p:sp>
      <p:grpSp>
        <p:nvGrpSpPr>
          <p:cNvPr id="33799" name="Group 28"/>
          <p:cNvGrpSpPr>
            <a:grpSpLocks/>
          </p:cNvGrpSpPr>
          <p:nvPr/>
        </p:nvGrpSpPr>
        <p:grpSpPr bwMode="auto">
          <a:xfrm>
            <a:off x="3744913" y="1435100"/>
            <a:ext cx="5335587" cy="5060950"/>
            <a:chOff x="3744911" y="1435100"/>
            <a:chExt cx="5335072" cy="5060950"/>
          </a:xfrm>
        </p:grpSpPr>
        <p:grpSp>
          <p:nvGrpSpPr>
            <p:cNvPr id="33806" name="Group 10"/>
            <p:cNvGrpSpPr>
              <a:grpSpLocks/>
            </p:cNvGrpSpPr>
            <p:nvPr/>
          </p:nvGrpSpPr>
          <p:grpSpPr bwMode="auto">
            <a:xfrm>
              <a:off x="3744911" y="1435100"/>
              <a:ext cx="5335072" cy="5060950"/>
              <a:chOff x="3322612" y="1463675"/>
              <a:chExt cx="5821388" cy="5060950"/>
            </a:xfrm>
          </p:grpSpPr>
          <p:sp>
            <p:nvSpPr>
              <p:cNvPr id="33813" name="Line 2"/>
              <p:cNvSpPr>
                <a:spLocks noChangeShapeType="1"/>
              </p:cNvSpPr>
              <p:nvPr/>
            </p:nvSpPr>
            <p:spPr bwMode="auto">
              <a:xfrm>
                <a:off x="4357688" y="5737225"/>
                <a:ext cx="47863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" name="Line 5"/>
              <p:cNvSpPr>
                <a:spLocks noChangeShapeType="1"/>
              </p:cNvSpPr>
              <p:nvPr/>
            </p:nvSpPr>
            <p:spPr bwMode="auto">
              <a:xfrm flipV="1">
                <a:off x="4397376" y="3700689"/>
                <a:ext cx="2298342" cy="14061"/>
              </a:xfrm>
              <a:prstGeom prst="line">
                <a:avLst/>
              </a:prstGeom>
              <a:noFill/>
              <a:ln w="28575">
                <a:solidFill>
                  <a:srgbClr val="80808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5" name="Rectangle 15"/>
              <p:cNvSpPr>
                <a:spLocks noChangeArrowheads="1"/>
              </p:cNvSpPr>
              <p:nvPr/>
            </p:nvSpPr>
            <p:spPr bwMode="auto">
              <a:xfrm>
                <a:off x="5316538" y="6067425"/>
                <a:ext cx="2895600" cy="4572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6" name="Line 16"/>
              <p:cNvSpPr>
                <a:spLocks noChangeShapeType="1"/>
              </p:cNvSpPr>
              <p:nvPr/>
            </p:nvSpPr>
            <p:spPr bwMode="auto">
              <a:xfrm>
                <a:off x="4402138" y="1463675"/>
                <a:ext cx="0" cy="4292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7" name="Rectangle 17"/>
              <p:cNvSpPr>
                <a:spLocks noChangeArrowheads="1"/>
              </p:cNvSpPr>
              <p:nvPr/>
            </p:nvSpPr>
            <p:spPr bwMode="auto">
              <a:xfrm>
                <a:off x="8001000" y="6096000"/>
                <a:ext cx="8784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Cookies</a:t>
                </a:r>
              </a:p>
            </p:txBody>
          </p:sp>
          <p:sp>
            <p:nvSpPr>
              <p:cNvPr id="33818" name="Rectangle 18"/>
              <p:cNvSpPr>
                <a:spLocks noChangeArrowheads="1"/>
              </p:cNvSpPr>
              <p:nvPr/>
            </p:nvSpPr>
            <p:spPr bwMode="auto">
              <a:xfrm rot="-5400000">
                <a:off x="2510530" y="3402780"/>
                <a:ext cx="1990931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b="1"/>
                  <a:t>Price of Cookies</a:t>
                </a:r>
                <a:endParaRPr lang="en-US" sz="2000" b="1"/>
              </a:p>
            </p:txBody>
          </p:sp>
          <p:sp>
            <p:nvSpPr>
              <p:cNvPr id="33819" name="Rectangle 19"/>
              <p:cNvSpPr>
                <a:spLocks noChangeArrowheads="1"/>
              </p:cNvSpPr>
              <p:nvPr/>
            </p:nvSpPr>
            <p:spPr bwMode="auto">
              <a:xfrm>
                <a:off x="3813175" y="4833938"/>
                <a:ext cx="574675" cy="4587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2</a:t>
                </a:r>
              </a:p>
            </p:txBody>
          </p:sp>
          <p:sp>
            <p:nvSpPr>
              <p:cNvPr id="33820" name="Rectangle 20"/>
              <p:cNvSpPr>
                <a:spLocks noChangeArrowheads="1"/>
              </p:cNvSpPr>
              <p:nvPr/>
            </p:nvSpPr>
            <p:spPr bwMode="auto">
              <a:xfrm>
                <a:off x="3832225" y="4140200"/>
                <a:ext cx="354013" cy="4587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4</a:t>
                </a:r>
              </a:p>
            </p:txBody>
          </p:sp>
          <p:sp>
            <p:nvSpPr>
              <p:cNvPr id="33821" name="Rectangle 21"/>
              <p:cNvSpPr>
                <a:spLocks noChangeArrowheads="1"/>
              </p:cNvSpPr>
              <p:nvPr/>
            </p:nvSpPr>
            <p:spPr bwMode="auto">
              <a:xfrm>
                <a:off x="3802063" y="3446463"/>
                <a:ext cx="538162" cy="4587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6</a:t>
                </a:r>
              </a:p>
            </p:txBody>
          </p:sp>
          <p:sp>
            <p:nvSpPr>
              <p:cNvPr id="33822" name="Rectangle 22"/>
              <p:cNvSpPr>
                <a:spLocks noChangeArrowheads="1"/>
              </p:cNvSpPr>
              <p:nvPr/>
            </p:nvSpPr>
            <p:spPr bwMode="auto">
              <a:xfrm>
                <a:off x="3817938" y="2787650"/>
                <a:ext cx="463550" cy="4587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8</a:t>
                </a:r>
              </a:p>
            </p:txBody>
          </p:sp>
          <p:sp>
            <p:nvSpPr>
              <p:cNvPr id="33823" name="Rectangle 23"/>
              <p:cNvSpPr>
                <a:spLocks noChangeArrowheads="1"/>
              </p:cNvSpPr>
              <p:nvPr/>
            </p:nvSpPr>
            <p:spPr bwMode="auto">
              <a:xfrm>
                <a:off x="3759200" y="2112963"/>
                <a:ext cx="646113" cy="45878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/>
                  <a:t>10</a:t>
                </a:r>
              </a:p>
            </p:txBody>
          </p:sp>
          <p:sp>
            <p:nvSpPr>
              <p:cNvPr id="33824" name="Rectangle 24"/>
              <p:cNvSpPr>
                <a:spLocks noChangeArrowheads="1"/>
              </p:cNvSpPr>
              <p:nvPr/>
            </p:nvSpPr>
            <p:spPr bwMode="auto">
              <a:xfrm>
                <a:off x="4943475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10</a:t>
                </a:r>
              </a:p>
            </p:txBody>
          </p:sp>
          <p:sp>
            <p:nvSpPr>
              <p:cNvPr id="33825" name="Rectangle 25"/>
              <p:cNvSpPr>
                <a:spLocks noChangeArrowheads="1"/>
              </p:cNvSpPr>
              <p:nvPr/>
            </p:nvSpPr>
            <p:spPr bwMode="auto">
              <a:xfrm>
                <a:off x="5719763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20</a:t>
                </a:r>
              </a:p>
            </p:txBody>
          </p:sp>
          <p:sp>
            <p:nvSpPr>
              <p:cNvPr id="33826" name="Rectangle 26"/>
              <p:cNvSpPr>
                <a:spLocks noChangeArrowheads="1"/>
              </p:cNvSpPr>
              <p:nvPr/>
            </p:nvSpPr>
            <p:spPr bwMode="auto">
              <a:xfrm>
                <a:off x="6443663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30</a:t>
                </a:r>
              </a:p>
            </p:txBody>
          </p:sp>
          <p:sp>
            <p:nvSpPr>
              <p:cNvPr id="33827" name="Rectangle 27"/>
              <p:cNvSpPr>
                <a:spLocks noChangeArrowheads="1"/>
              </p:cNvSpPr>
              <p:nvPr/>
            </p:nvSpPr>
            <p:spPr bwMode="auto">
              <a:xfrm>
                <a:off x="7219950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40</a:t>
                </a:r>
              </a:p>
            </p:txBody>
          </p:sp>
          <p:sp>
            <p:nvSpPr>
              <p:cNvPr id="33828" name="Rectangle 28"/>
              <p:cNvSpPr>
                <a:spLocks noChangeArrowheads="1"/>
              </p:cNvSpPr>
              <p:nvPr/>
            </p:nvSpPr>
            <p:spPr bwMode="auto">
              <a:xfrm>
                <a:off x="7891463" y="5719763"/>
                <a:ext cx="439224" cy="3667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50</a:t>
                </a:r>
              </a:p>
            </p:txBody>
          </p:sp>
          <p:sp>
            <p:nvSpPr>
              <p:cNvPr id="33829" name="Rectangle 35"/>
              <p:cNvSpPr>
                <a:spLocks noChangeArrowheads="1"/>
              </p:cNvSpPr>
              <p:nvPr/>
            </p:nvSpPr>
            <p:spPr bwMode="auto">
              <a:xfrm>
                <a:off x="4173538" y="5719763"/>
                <a:ext cx="350837" cy="45402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33830" name="Line 45"/>
              <p:cNvSpPr>
                <a:spLocks noChangeShapeType="1"/>
              </p:cNvSpPr>
              <p:nvPr/>
            </p:nvSpPr>
            <p:spPr bwMode="auto">
              <a:xfrm>
                <a:off x="4419600" y="1676400"/>
                <a:ext cx="3778250" cy="341947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45"/>
              <p:cNvSpPr>
                <a:spLocks noChangeShapeType="1"/>
              </p:cNvSpPr>
              <p:nvPr/>
            </p:nvSpPr>
            <p:spPr bwMode="auto">
              <a:xfrm flipV="1">
                <a:off x="4419600" y="2514600"/>
                <a:ext cx="4191000" cy="2590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2" name="Rectangle 17"/>
              <p:cNvSpPr>
                <a:spLocks noChangeArrowheads="1"/>
              </p:cNvSpPr>
              <p:nvPr/>
            </p:nvSpPr>
            <p:spPr bwMode="auto">
              <a:xfrm>
                <a:off x="7493887" y="1995714"/>
                <a:ext cx="132233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Supply= MC</a:t>
                </a:r>
              </a:p>
            </p:txBody>
          </p:sp>
          <p:sp>
            <p:nvSpPr>
              <p:cNvPr id="33833" name="Rectangle 17"/>
              <p:cNvSpPr>
                <a:spLocks noChangeArrowheads="1"/>
              </p:cNvSpPr>
              <p:nvPr/>
            </p:nvSpPr>
            <p:spPr bwMode="auto">
              <a:xfrm>
                <a:off x="7426174" y="5145314"/>
                <a:ext cx="1497253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Demand = MB</a:t>
                </a:r>
              </a:p>
            </p:txBody>
          </p:sp>
        </p:grpSp>
        <p:grpSp>
          <p:nvGrpSpPr>
            <p:cNvPr id="33807" name="Group 32"/>
            <p:cNvGrpSpPr>
              <a:grpSpLocks/>
            </p:cNvGrpSpPr>
            <p:nvPr/>
          </p:nvGrpSpPr>
          <p:grpSpPr bwMode="auto">
            <a:xfrm>
              <a:off x="4732338" y="1668463"/>
              <a:ext cx="2117704" cy="4008211"/>
              <a:chOff x="4732338" y="1668463"/>
              <a:chExt cx="2117704" cy="4008211"/>
            </a:xfrm>
          </p:grpSpPr>
          <p:sp>
            <p:nvSpPr>
              <p:cNvPr id="33808" name="Right Triangle 32"/>
              <p:cNvSpPr>
                <a:spLocks noChangeArrowheads="1"/>
              </p:cNvSpPr>
              <p:nvPr/>
            </p:nvSpPr>
            <p:spPr bwMode="auto">
              <a:xfrm>
                <a:off x="4732338" y="1668463"/>
                <a:ext cx="2032000" cy="1989137"/>
              </a:xfrm>
              <a:prstGeom prst="rtTriangl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809" name="Right Triangle 33"/>
              <p:cNvSpPr>
                <a:spLocks noChangeArrowheads="1"/>
              </p:cNvSpPr>
              <p:nvPr/>
            </p:nvSpPr>
            <p:spPr bwMode="auto">
              <a:xfrm rot="5400000">
                <a:off x="5058569" y="3374232"/>
                <a:ext cx="1379537" cy="2032000"/>
              </a:xfrm>
              <a:prstGeom prst="rtTriangle">
                <a:avLst/>
              </a:prstGeom>
              <a:solidFill>
                <a:srgbClr val="0070C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cxnSp>
            <p:nvCxnSpPr>
              <p:cNvPr id="34" name="Straight Connector 33"/>
              <p:cNvCxnSpPr/>
              <p:nvPr/>
            </p:nvCxnSpPr>
            <p:spPr bwMode="auto">
              <a:xfrm>
                <a:off x="6806903" y="3686175"/>
                <a:ext cx="42859" cy="1990725"/>
              </a:xfrm>
              <a:prstGeom prst="line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811" name="Rectangle 17"/>
              <p:cNvSpPr>
                <a:spLocks noChangeArrowheads="1"/>
              </p:cNvSpPr>
              <p:nvPr/>
            </p:nvSpPr>
            <p:spPr bwMode="auto">
              <a:xfrm>
                <a:off x="4788235" y="2772682"/>
                <a:ext cx="1293250" cy="52065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Consumer Surplus</a:t>
                </a:r>
              </a:p>
            </p:txBody>
          </p:sp>
          <p:sp>
            <p:nvSpPr>
              <p:cNvPr id="33812" name="Rectangle 17"/>
              <p:cNvSpPr>
                <a:spLocks noChangeArrowheads="1"/>
              </p:cNvSpPr>
              <p:nvPr/>
            </p:nvSpPr>
            <p:spPr bwMode="auto">
              <a:xfrm>
                <a:off x="4824521" y="3817257"/>
                <a:ext cx="1198907" cy="52065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/>
                <a:r>
                  <a:rPr lang="en-US" sz="1400" b="1"/>
                  <a:t>Producer Surplus</a:t>
                </a:r>
              </a:p>
            </p:txBody>
          </p:sp>
        </p:grpSp>
      </p:grpSp>
      <p:sp>
        <p:nvSpPr>
          <p:cNvPr id="62" name="Line 5"/>
          <p:cNvSpPr>
            <a:spLocks noChangeShapeType="1"/>
          </p:cNvSpPr>
          <p:nvPr/>
        </p:nvSpPr>
        <p:spPr bwMode="auto">
          <a:xfrm flipV="1">
            <a:off x="4729163" y="4446588"/>
            <a:ext cx="2890837" cy="44450"/>
          </a:xfrm>
          <a:prstGeom prst="line">
            <a:avLst/>
          </a:prstGeom>
          <a:noFill/>
          <a:ln w="28575">
            <a:solidFill>
              <a:srgbClr val="80808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Line 5"/>
          <p:cNvSpPr>
            <a:spLocks noChangeShapeType="1"/>
          </p:cNvSpPr>
          <p:nvPr/>
        </p:nvSpPr>
        <p:spPr bwMode="auto">
          <a:xfrm flipV="1">
            <a:off x="4729163" y="3160713"/>
            <a:ext cx="2862262" cy="46037"/>
          </a:xfrm>
          <a:prstGeom prst="line">
            <a:avLst/>
          </a:prstGeom>
          <a:noFill/>
          <a:ln w="28575">
            <a:solidFill>
              <a:srgbClr val="80808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64" name="Straight Connector 63"/>
          <p:cNvCxnSpPr>
            <a:cxnSpLocks/>
          </p:cNvCxnSpPr>
          <p:nvPr/>
        </p:nvCxnSpPr>
        <p:spPr bwMode="auto">
          <a:xfrm>
            <a:off x="7591425" y="3178175"/>
            <a:ext cx="20638" cy="2549525"/>
          </a:xfrm>
          <a:prstGeom prst="line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23">
            <a:extLst>
              <a:ext uri="{FF2B5EF4-FFF2-40B4-BE49-F238E27FC236}">
                <a16:creationId xmlns:a16="http://schemas.microsoft.com/office/drawing/2014/main" id="{56E867EC-A605-4F24-9B14-A1959E88A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513" y="1585119"/>
            <a:ext cx="620712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8223488-B177-2C5B-BA7F-3631FE7E2E9B}"/>
              </a:ext>
            </a:extLst>
          </p:cNvPr>
          <p:cNvSpPr/>
          <p:nvPr/>
        </p:nvSpPr>
        <p:spPr bwMode="auto">
          <a:xfrm rot="16200000">
            <a:off x="6581697" y="3321937"/>
            <a:ext cx="1277144" cy="813096"/>
          </a:xfrm>
          <a:prstGeom prst="triangle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48725-69E0-6604-9E02-859BBF86C0C7}"/>
              </a:ext>
            </a:extLst>
          </p:cNvPr>
          <p:cNvSpPr txBox="1"/>
          <p:nvPr/>
        </p:nvSpPr>
        <p:spPr>
          <a:xfrm>
            <a:off x="6143304" y="2119745"/>
            <a:ext cx="1789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Deadweight loss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8A0B66-30A3-6DC7-A2B8-9C6249851C8C}"/>
              </a:ext>
            </a:extLst>
          </p:cNvPr>
          <p:cNvCxnSpPr/>
          <p:nvPr/>
        </p:nvCxnSpPr>
        <p:spPr bwMode="auto">
          <a:xfrm>
            <a:off x="6850063" y="2543175"/>
            <a:ext cx="466951" cy="6175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7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6" grpId="0"/>
      <p:bldP spid="270378" grpId="0"/>
      <p:bldP spid="62" grpId="0" animBg="1"/>
      <p:bldP spid="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229600" cy="4800600"/>
          </a:xfrm>
        </p:spPr>
        <p:txBody>
          <a:bodyPr/>
          <a:lstStyle/>
          <a:p>
            <a:pPr marL="457200" lvl="1"/>
            <a:r>
              <a:rPr lang="en-US" altLang="en-US" b="1" dirty="0">
                <a:solidFill>
                  <a:srgbClr val="8B037E"/>
                </a:solidFill>
              </a:rPr>
              <a:t>Obstacles to Efficiency</a:t>
            </a:r>
          </a:p>
          <a:p>
            <a:pPr marL="457200" lvl="1"/>
            <a:r>
              <a:rPr lang="en-US" altLang="en-US" dirty="0"/>
              <a:t>In competitive markets, underproduction or overproduction arise when there are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r>
              <a:rPr lang="en-US" altLang="en-US" dirty="0"/>
              <a:t>Price and quantity regulations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r>
              <a:rPr lang="en-US" altLang="en-US" dirty="0"/>
              <a:t>Taxes and subsidies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r>
              <a:rPr lang="en-US" altLang="en-US" dirty="0"/>
              <a:t>High transactions costs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r>
              <a:rPr lang="en-US" altLang="en-US" dirty="0"/>
              <a:t>Externalities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r>
              <a:rPr lang="en-US" altLang="en-US" dirty="0"/>
              <a:t>Public goods and common resources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r>
              <a:rPr lang="en-US" altLang="en-US" dirty="0"/>
              <a:t>Monopolies</a:t>
            </a:r>
          </a:p>
          <a:p>
            <a:pPr marL="1143000" lvl="2">
              <a:buClr>
                <a:srgbClr val="3963AB"/>
              </a:buClr>
              <a:buFont typeface="Wingdings" pitchFamily="2" charset="2"/>
              <a:buChar char="§"/>
            </a:pPr>
            <a:endParaRPr lang="en-US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49375"/>
            <a:ext cx="8912225" cy="5508625"/>
          </a:xfrm>
        </p:spPr>
        <p:txBody>
          <a:bodyPr/>
          <a:lstStyle/>
          <a:p>
            <a:pPr marL="457200" lvl="1"/>
            <a:r>
              <a:rPr lang="en-US" altLang="en-US" b="1" dirty="0">
                <a:solidFill>
                  <a:srgbClr val="8B037E"/>
                </a:solidFill>
              </a:rPr>
              <a:t>Alternatives to the Market</a:t>
            </a:r>
          </a:p>
          <a:p>
            <a:pPr marL="457200" lvl="1"/>
            <a:r>
              <a:rPr lang="en-US" altLang="en-US" sz="2400" dirty="0"/>
              <a:t>When a market is inefficient, can one of the non-market methods of allocation do a better job?</a:t>
            </a:r>
          </a:p>
          <a:p>
            <a:pPr marL="800100" lvl="2"/>
            <a:r>
              <a:rPr lang="en-US" altLang="en-US" sz="2000" dirty="0"/>
              <a:t>Often, majority rule might be used.</a:t>
            </a:r>
          </a:p>
          <a:p>
            <a:pPr marL="457200" lvl="1"/>
            <a:r>
              <a:rPr lang="en-US" altLang="en-US" sz="2400" dirty="0"/>
              <a:t>But majority rule has its own shortcomings.  A group </a:t>
            </a:r>
            <a:r>
              <a:rPr lang="en-US" altLang="en-US" sz="2400" dirty="0" err="1"/>
              <a:t>thatis</a:t>
            </a:r>
            <a:r>
              <a:rPr lang="en-US" altLang="en-US" sz="2400" dirty="0"/>
              <a:t> large enough pursues the self-interest of its members can become the majority.</a:t>
            </a:r>
          </a:p>
          <a:p>
            <a:pPr marL="457200" lvl="1"/>
            <a:r>
              <a:rPr lang="en-US" altLang="en-US" sz="2400" dirty="0"/>
              <a:t>Also, with majority rule, votes must be translated into actions by bureaucrats who have their own agendas.</a:t>
            </a:r>
          </a:p>
          <a:p>
            <a:pPr marL="457200" lvl="1"/>
            <a:r>
              <a:rPr lang="en-US" altLang="en-US" sz="2400" dirty="0"/>
              <a:t>Example? 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uiExpand="1" build="p" bldLvl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Efficiency vs. Inefficiency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229600" cy="4800600"/>
          </a:xfrm>
        </p:spPr>
        <p:txBody>
          <a:bodyPr/>
          <a:lstStyle/>
          <a:p>
            <a:pPr marL="457200" lvl="1"/>
            <a:r>
              <a:rPr lang="en-US" altLang="en-US" dirty="0"/>
              <a:t>There is no one efficient mechanism for allocating resources efficiently, but the price mechanism is the most efficient, especially supplemented with a non-price mechanism.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#5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dirty="0"/>
              <a:t>Distinguish between fairness based on results versus rules.</a:t>
            </a:r>
            <a:endParaRPr lang="en-US" altLang="en-US" sz="6000" dirty="0">
              <a:hlinkClick r:id="rId4" action="ppaction://hlinksldjump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Market Fairness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-342900"/>
            <a:r>
              <a:rPr lang="en-US" dirty="0"/>
              <a:t>Ideas about fairness can be divided into two groups:</a:t>
            </a:r>
          </a:p>
          <a:p>
            <a:pPr marL="457200" lvl="1" indent="-342900">
              <a:buClr>
                <a:srgbClr val="8B037E"/>
              </a:buClr>
              <a:buFont typeface="Wingdings" pitchFamily="2" charset="2"/>
              <a:buChar char="§"/>
            </a:pPr>
            <a:r>
              <a:rPr lang="en-US" dirty="0"/>
              <a:t>It’s not fair if the result isn’t fair</a:t>
            </a:r>
          </a:p>
          <a:p>
            <a:pPr marL="457200" lvl="1" indent="-342900">
              <a:buClr>
                <a:srgbClr val="8B037E"/>
              </a:buClr>
              <a:buFont typeface="Wingdings" pitchFamily="2" charset="2"/>
              <a:buChar char="§"/>
            </a:pPr>
            <a:r>
              <a:rPr lang="en-US" dirty="0"/>
              <a:t>It’s not fair if the rules aren’t fair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Fairness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06513"/>
            <a:ext cx="9144000" cy="5551487"/>
          </a:xfrm>
        </p:spPr>
        <p:txBody>
          <a:bodyPr/>
          <a:lstStyle/>
          <a:p>
            <a:r>
              <a:rPr lang="en-US" dirty="0"/>
              <a:t>It’s Not Fair if the </a:t>
            </a:r>
            <a:r>
              <a:rPr lang="en-US" i="1" dirty="0"/>
              <a:t>Result</a:t>
            </a:r>
            <a:r>
              <a:rPr lang="en-US" dirty="0"/>
              <a:t> Isn’t Fair</a:t>
            </a:r>
          </a:p>
          <a:p>
            <a:pPr lvl="1"/>
            <a:r>
              <a:rPr lang="en-US" sz="2400" dirty="0"/>
              <a:t>The idea that “it’s not fair if the </a:t>
            </a:r>
            <a:r>
              <a:rPr lang="en-US" sz="2400" i="1" dirty="0"/>
              <a:t>result </a:t>
            </a:r>
            <a:r>
              <a:rPr lang="en-US" sz="2400" dirty="0"/>
              <a:t>isn’t fair” began with </a:t>
            </a:r>
            <a:r>
              <a:rPr lang="en-US" sz="2400" b="1" dirty="0">
                <a:solidFill>
                  <a:srgbClr val="FF0000"/>
                </a:solidFill>
              </a:rPr>
              <a:t>utilitarianism</a:t>
            </a:r>
            <a:r>
              <a:rPr lang="en-US" sz="2400" dirty="0"/>
              <a:t>, which is the principle that states that we should strive to achieve “the greatest happiness for the greatest number.”</a:t>
            </a:r>
          </a:p>
          <a:p>
            <a:pPr lvl="1"/>
            <a:r>
              <a:rPr lang="en-US" sz="2400" dirty="0"/>
              <a:t>If everyone gets the same marginal utility from a given amount of income, and if the marginal benefit of income decreases as income increases, taking a dollar from a richer person and given it to a poorer person increases the total benefit. Only when income is equally distributed has the greatest happiness been ac </a:t>
            </a:r>
            <a:r>
              <a:rPr lang="en-US" sz="2400" dirty="0" err="1"/>
              <a:t>hieved</a:t>
            </a:r>
            <a:r>
              <a:rPr lang="en-US" sz="2400" dirty="0"/>
              <a:t>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Fairness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68463"/>
            <a:ext cx="8458200" cy="4994275"/>
          </a:xfrm>
        </p:spPr>
        <p:txBody>
          <a:bodyPr/>
          <a:lstStyle/>
          <a:p>
            <a:pPr lvl="1"/>
            <a:r>
              <a:rPr lang="en-US"/>
              <a:t>Utilitarianism ignores the cost of making income transfers.</a:t>
            </a:r>
          </a:p>
          <a:p>
            <a:pPr lvl="2"/>
            <a:r>
              <a:rPr lang="en-US"/>
              <a:t>Taxes and smaller “pies”</a:t>
            </a:r>
          </a:p>
          <a:p>
            <a:pPr lvl="1"/>
            <a:r>
              <a:rPr lang="en-US"/>
              <a:t>Recognizing these costs leads to the </a:t>
            </a:r>
            <a:r>
              <a:rPr lang="en-US" b="1">
                <a:solidFill>
                  <a:srgbClr val="FF0000"/>
                </a:solidFill>
              </a:rPr>
              <a:t>big tradeoff</a:t>
            </a:r>
            <a:r>
              <a:rPr lang="en-US"/>
              <a:t> between efficiency and fairness.</a:t>
            </a:r>
          </a:p>
          <a:p>
            <a:pPr lvl="1"/>
            <a:r>
              <a:rPr lang="en-US"/>
              <a:t>Because of the big tradeoff, John Rawls proposed that income should be redistributed to point at which the poorest person is as well off as possible.</a:t>
            </a:r>
          </a:p>
          <a:p>
            <a:pPr lvl="2"/>
            <a:r>
              <a:rPr lang="en-US"/>
              <a:t>Make the “piece” as big as possible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9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9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9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9" grpId="0" build="p" bldLvl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Fairness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Not Fair If the </a:t>
            </a:r>
            <a:r>
              <a:rPr lang="en-US" i="1" dirty="0"/>
              <a:t>Rules</a:t>
            </a:r>
            <a:r>
              <a:rPr lang="en-US" dirty="0"/>
              <a:t> Aren’t Fair</a:t>
            </a:r>
          </a:p>
          <a:p>
            <a:pPr lvl="1"/>
            <a:r>
              <a:rPr lang="en-US" dirty="0"/>
              <a:t>The idea that “it’s not fair if the </a:t>
            </a:r>
            <a:r>
              <a:rPr lang="en-US" i="1" dirty="0"/>
              <a:t>rules </a:t>
            </a:r>
            <a:r>
              <a:rPr lang="en-US" dirty="0"/>
              <a:t>aren’t fair” is based on the </a:t>
            </a:r>
            <a:r>
              <a:rPr lang="en-US" b="1" dirty="0">
                <a:solidFill>
                  <a:srgbClr val="FF0000"/>
                </a:solidFill>
              </a:rPr>
              <a:t>symmetry principle</a:t>
            </a:r>
            <a:r>
              <a:rPr lang="en-US" dirty="0"/>
              <a:t>, which is the requirement that people in similar situations be treated similarly. </a:t>
            </a:r>
          </a:p>
          <a:p>
            <a:pPr lvl="2"/>
            <a:r>
              <a:rPr lang="en-US" dirty="0"/>
              <a:t>Rules for this course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0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 bldLvl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Market Fairness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2225"/>
            <a:ext cx="9144000" cy="5565775"/>
          </a:xfrm>
        </p:spPr>
        <p:txBody>
          <a:bodyPr/>
          <a:lstStyle/>
          <a:p>
            <a:r>
              <a:rPr lang="en-US" dirty="0"/>
              <a:t>In economics, this principle means </a:t>
            </a:r>
            <a:r>
              <a:rPr lang="en-US" i="1" dirty="0"/>
              <a:t>equality of opportunity</a:t>
            </a:r>
            <a:r>
              <a:rPr lang="en-US" dirty="0"/>
              <a:t>, not income. Robert Nozick suggested that fairness is based on two rules:</a:t>
            </a:r>
          </a:p>
          <a:p>
            <a:pPr marL="288925" lvl="1" indent="-60325">
              <a:buFont typeface="Wingdings" pitchFamily="2" charset="2"/>
              <a:buChar char="§"/>
            </a:pPr>
            <a:r>
              <a:rPr lang="en-US" dirty="0"/>
              <a:t> The state must create and enforce laws that establish and protect private property.</a:t>
            </a:r>
          </a:p>
          <a:p>
            <a:pPr marL="288925" lvl="1" indent="-60325">
              <a:buFont typeface="Wingdings" pitchFamily="2" charset="2"/>
              <a:buChar char="§"/>
            </a:pPr>
            <a:r>
              <a:rPr lang="en-US" dirty="0"/>
              <a:t> Private property may be transferred from one person to another only by voluntary exchange.</a:t>
            </a:r>
          </a:p>
          <a:p>
            <a:r>
              <a:rPr lang="en-US" dirty="0"/>
              <a:t>This means that if resources are allocated </a:t>
            </a:r>
            <a:r>
              <a:rPr lang="en-US" i="1" dirty="0"/>
              <a:t>efficiently</a:t>
            </a:r>
            <a:r>
              <a:rPr lang="en-US" dirty="0"/>
              <a:t>, they may also be allocated </a:t>
            </a:r>
            <a:r>
              <a:rPr lang="en-US" i="1" dirty="0"/>
              <a:t>fairly</a:t>
            </a:r>
            <a:r>
              <a:rPr lang="en-US" dirty="0"/>
              <a:t>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673225" y="2990850"/>
            <a:ext cx="5918200" cy="644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defTabSz="231775"/>
            <a:r>
              <a:rPr lang="en-US" altLang="en-US" sz="3600" i="0"/>
              <a:t>Markets: Efficiency &amp; Equity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739775" y="1273175"/>
            <a:ext cx="3294063" cy="766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altLang="en-US" sz="4400" b="1" i="0" dirty="0"/>
              <a:t>Module 5</a:t>
            </a:r>
          </a:p>
        </p:txBody>
      </p:sp>
    </p:spTree>
    <p:custDataLst>
      <p:tags r:id="rId1"/>
    </p:custDataLst>
  </p:cSld>
  <p:clrMapOvr>
    <a:masterClrMapping/>
  </p:clrMapOvr>
  <p:transition spd="med"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Fals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722948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CORRECTPOINTVALUE" val="1"/>
  <p:tag name="BUBBLESIZEVISIBLE" val="True"/>
  <p:tag name="REVIEWONLY" val="False"/>
  <p:tag name="GRIDROTATIONINTERVAL" val="2"/>
  <p:tag name="MMPROD_NEXTUNIQUEID" val="10009"/>
  <p:tag name="PRRESPONSE5" val="6"/>
  <p:tag name="DELIMITERS" val="3.1"/>
  <p:tag name="TASKPANEKEY" val="2422e870-c3bf-4561-ae4c-1f3ac8d50158"/>
  <p:tag name="POWERPOINTVERSION" val="12.0"/>
  <p:tag name="MMPROD_UIDATA" val="&lt;database version=&quot;8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425&quot;/&gt;&lt;/object&gt;&lt;object type=&quot;3&quot; unique_id=&quot;10005&quot;&gt;&lt;property id=&quot;20148&quot; value=&quot;5&quot;/&gt;&lt;property id=&quot;20300&quot; value=&quot;Slide 2 - &amp;quot;Module Outline&amp;quot;&quot;/&gt;&lt;property id=&quot;20307&quot; value=&quot;258&quot;/&gt;&lt;/object&gt;&lt;object type=&quot;3&quot; unique_id=&quot;10006&quot;&gt;&lt;property id=&quot;20148&quot; value=&quot;5&quot;/&gt;&lt;property id=&quot;20300&quot; value=&quot;Slide 7 - &amp;quot;A Function of Prices: Rationing&amp;quot;&quot;/&gt;&lt;property id=&quot;20307&quot; value=&quot;504&quot;/&gt;&lt;/object&gt;&lt;object type=&quot;3&quot; unique_id=&quot;10007&quot;&gt;&lt;property id=&quot;20148&quot; value=&quot;5&quot;/&gt;&lt;property id=&quot;20300&quot; value=&quot;Slide 9 - &amp;quot;Resource Allocation Methods&amp;quot;&quot;/&gt;&lt;property id=&quot;20307&quot; value=&quot;436&quot;/&gt;&lt;/object&gt;&lt;object type=&quot;3&quot; unique_id=&quot;10008&quot;&gt;&lt;property id=&quot;20148&quot; value=&quot;5&quot;/&gt;&lt;property id=&quot;20300&quot; value=&quot;Slide 12 - &amp;quot;Demand, Marginal Benefit &amp;amp; Consumer Surplus&amp;quot;&quot;/&gt;&lt;property id=&quot;20307&quot; value=&quot;446&quot;/&gt;&lt;/object&gt;&lt;object type=&quot;3&quot; unique_id=&quot;10009&quot;&gt;&lt;property id=&quot;20148&quot; value=&quot;5&quot;/&gt;&lt;property id=&quot;20300&quot; value=&quot;Slide 13 - &amp;quot;Demand, Marginal Benefit &amp;amp; Consumer Surplus&amp;quot;&quot;/&gt;&lt;property id=&quot;20307&quot; value=&quot;447&quot;/&gt;&lt;/object&gt;&lt;object type=&quot;3&quot; unique_id=&quot;10010&quot;&gt;&lt;property id=&quot;20148&quot; value=&quot;5&quot;/&gt;&lt;property id=&quot;20300&quot; value=&quot;Slide 14 - &amp;quot;Demand, Marginal Benefit &amp;amp; Consumer Surplus&amp;quot;&quot;/&gt;&lt;property id=&quot;20307&quot; value=&quot;448&quot;/&gt;&lt;/object&gt;&lt;object type=&quot;3&quot; unique_id=&quot;10011&quot;&gt;&lt;property id=&quot;20148&quot; value=&quot;5&quot;/&gt;&lt;property id=&quot;20300&quot; value=&quot;Slide 15 - &amp;quot;Demand, Marginal Benefit &amp;amp; Consumer Surplus&amp;quot;&quot;/&gt;&lt;property id=&quot;20307&quot; value=&quot;506&quot;/&gt;&lt;/object&gt;&lt;object type=&quot;3&quot; unique_id=&quot;10012&quot;&gt;&lt;property id=&quot;20148&quot; value=&quot;5&quot;/&gt;&lt;property id=&quot;20300&quot; value=&quot;Slide 16 - &amp;quot;Demand, Marginal Benefit &amp;amp; Consumer Surplus&amp;quot;&quot;/&gt;&lt;property id=&quot;20307&quot; value=&quot;507&quot;/&gt;&lt;/object&gt;&lt;object type=&quot;3&quot; unique_id=&quot;10013&quot;&gt;&lt;property id=&quot;20148&quot; value=&quot;5&quot;/&gt;&lt;property id=&quot;20300&quot; value=&quot;Slide 20 - &amp;quot;Demand, Marginal Benefit &amp;amp; Consumer Surplus&amp;quot;&quot;/&gt;&lt;property id=&quot;20307&quot; value=&quot;453&quot;/&gt;&lt;/object&gt;&lt;object type=&quot;3&quot; unique_id=&quot;10015&quot;&gt;&lt;property id=&quot;20148&quot; value=&quot;5&quot;/&gt;&lt;property id=&quot;20300&quot; value=&quot;Slide 22 - &amp;quot;Demand, Marginal Benefit &amp;amp; Consumer Surplus&amp;quot;&quot;/&gt;&lt;property id=&quot;20307&quot; value=&quot;511&quot;/&gt;&lt;/object&gt;&lt;object type=&quot;3&quot; unique_id=&quot;10016&quot;&gt;&lt;property id=&quot;20148&quot; value=&quot;5&quot;/&gt;&lt;property id=&quot;20300&quot; value=&quot;Slide 23 - &amp;quot;Demand, Marginal Benefit &amp;amp; Consumer Surplus&amp;quot;&quot;/&gt;&lt;property id=&quot;20307&quot; value=&quot;512&quot;/&gt;&lt;/object&gt;&lt;object type=&quot;3&quot; unique_id=&quot;10017&quot;&gt;&lt;property id=&quot;20148&quot; value=&quot;5&quot;/&gt;&lt;property id=&quot;20300&quot; value=&quot;Slide 24 - &amp;quot;Demand, Marginal Benefit &amp;amp; Consumer Surplus&amp;quot;&quot;/&gt;&lt;property id=&quot;20307&quot; value=&quot;513&quot;/&gt;&lt;/object&gt;&lt;object type=&quot;3&quot; unique_id=&quot;10018&quot;&gt;&lt;property id=&quot;20148&quot; value=&quot;5&quot;/&gt;&lt;property id=&quot;20300&quot; value=&quot;Slide 25 - &amp;quot;Demand, Marginal Benefit &amp;amp; Consumer Surplus&amp;quot;&quot;/&gt;&lt;property id=&quot;20307&quot; value=&quot;514&quot;/&gt;&lt;/object&gt;&lt;object type=&quot;3&quot; unique_id=&quot;10019&quot;&gt;&lt;property id=&quot;20148&quot; value=&quot;5&quot;/&gt;&lt;property id=&quot;20300&quot; value=&quot;Slide 26 - &amp;quot;Demand, Marginal Benefit &amp;amp; Consumer Surplus&amp;quot;&quot;/&gt;&lt;property id=&quot;20307&quot; value=&quot;515&quot;/&gt;&lt;/object&gt;&lt;object type=&quot;3&quot; unique_id=&quot;10020&quot;&gt;&lt;property id=&quot;20148&quot; value=&quot;5&quot;/&gt;&lt;property id=&quot;20300&quot; value=&quot;Slide 29 - &amp;quot;Supply, Marginal Cost  &amp;amp; Producer Surplus&amp;quot;&quot;/&gt;&lt;property id=&quot;20307&quot; value=&quot;460&quot;/&gt;&lt;/object&gt;&lt;object type=&quot;3&quot; unique_id=&quot;10021&quot;&gt;&lt;property id=&quot;20148&quot; value=&quot;5&quot;/&gt;&lt;property id=&quot;20300&quot; value=&quot;Slide 30 - &amp;quot;Supply, Marginal Cost  &amp;amp; Producer Surplus&amp;quot;&quot;/&gt;&lt;property id=&quot;20307&quot; value=&quot;461&quot;/&gt;&lt;/object&gt;&lt;object type=&quot;3&quot; unique_id=&quot;10022&quot;&gt;&lt;property id=&quot;20148&quot; value=&quot;5&quot;/&gt;&lt;property id=&quot;20300&quot; value=&quot;Slide 31 - &amp;quot;Supply, Marginal Cost  &amp;amp; Producer Surplus&amp;quot;&quot;/&gt;&lt;property id=&quot;20307&quot; value=&quot;462&quot;/&gt;&lt;/object&gt;&lt;object type=&quot;3&quot; unique_id=&quot;10023&quot;&gt;&lt;property id=&quot;20148&quot; value=&quot;5&quot;/&gt;&lt;property id=&quot;20300&quot; value=&quot;Slide 32 - &amp;quot;Supply, Marginal Cost  &amp;amp; Producer Surplus&amp;quot;&quot;/&gt;&lt;property id=&quot;20307&quot; value=&quot;516&quot;/&gt;&lt;/object&gt;&lt;object type=&quot;3&quot; unique_id=&quot;10024&quot;&gt;&lt;property id=&quot;20148&quot; value=&quot;5&quot;/&gt;&lt;property id=&quot;20300&quot; value=&quot;Slide 34 - &amp;quot;Supply, Marginal Cost  &amp;amp; Producer Surplus&amp;quot;&quot;/&gt;&lt;property id=&quot;20307&quot; value=&quot;467&quot;/&gt;&lt;/object&gt;&lt;object type=&quot;3&quot; unique_id=&quot;10025&quot;&gt;&lt;property id=&quot;20148&quot; value=&quot;5&quot;/&gt;&lt;property id=&quot;20300&quot; value=&quot;Slide 36 - &amp;quot;Supply, Marginal Cost  &amp;amp; Producer Surplus&amp;quot;&quot;/&gt;&lt;property id=&quot;20307&quot; value=&quot;517&quot;/&gt;&lt;/object&gt;&lt;object type=&quot;3&quot; unique_id=&quot;10026&quot;&gt;&lt;property id=&quot;20148&quot; value=&quot;5&quot;/&gt;&lt;property id=&quot;20300&quot; value=&quot;Slide 37 - &amp;quot;Supply, Marginal Cost  &amp;amp; Producer Surplus&amp;quot;&quot;/&gt;&lt;property id=&quot;20307&quot; value=&quot;518&quot;/&gt;&lt;/object&gt;&lt;object type=&quot;3&quot; unique_id=&quot;10028&quot;&gt;&lt;property id=&quot;20148&quot; value=&quot;5&quot;/&gt;&lt;property id=&quot;20300&quot; value=&quot;Slide 38 - &amp;quot;Supply, Marginal Cost  &amp;amp; Producer Surplus&amp;quot;&quot;/&gt;&lt;property id=&quot;20307&quot; value=&quot;520&quot;/&gt;&lt;/object&gt;&lt;object type=&quot;3&quot; unique_id=&quot;10030&quot;&gt;&lt;property id=&quot;20148&quot; value=&quot;5&quot;/&gt;&lt;property id=&quot;20300&quot; value=&quot;Slide 40 - &amp;quot;Market Efficiency vs. Inefficiency&amp;quot;&quot;/&gt;&lt;property id=&quot;20307&quot; value=&quot;474&quot;/&gt;&lt;/object&gt;&lt;object type=&quot;3&quot; unique_id=&quot;10031&quot;&gt;&lt;property id=&quot;20148&quot; value=&quot;5&quot;/&gt;&lt;property id=&quot;20300&quot; value=&quot;Slide 42 - &amp;quot;Market Efficiency vs. Inefficiency&amp;quot;&quot;/&gt;&lt;property id=&quot;20307&quot; value=&quot;476&quot;/&gt;&lt;/object&gt;&lt;object type=&quot;3&quot; unique_id=&quot;10032&quot;&gt;&lt;property id=&quot;20148&quot; value=&quot;5&quot;/&gt;&lt;property id=&quot;20300&quot; value=&quot;Slide 43 - &amp;quot;Market Efficiency vs. Inefficiency&amp;quot;&quot;/&gt;&lt;property id=&quot;20307&quot; value=&quot;477&quot;/&gt;&lt;/object&gt;&lt;object type=&quot;3&quot; unique_id=&quot;10034&quot;&gt;&lt;property id=&quot;20148&quot; value=&quot;5&quot;/&gt;&lt;property id=&quot;20300&quot; value=&quot;Slide 45 - &amp;quot;Market Efficiency vs. Inefficiency&amp;quot;&quot;/&gt;&lt;property id=&quot;20307&quot; value=&quot;479&quot;/&gt;&lt;/object&gt;&lt;object type=&quot;3&quot; unique_id=&quot;10035&quot;&gt;&lt;property id=&quot;20148&quot; value=&quot;5&quot;/&gt;&lt;property id=&quot;20300&quot; value=&quot;Slide 46 - &amp;quot;Market Efficiency vs. Inefficiency&amp;quot;&quot;/&gt;&lt;property id=&quot;20307&quot; value=&quot;522&quot;/&gt;&lt;/object&gt;&lt;object type=&quot;3&quot; unique_id=&quot;10036&quot;&gt;&lt;property id=&quot;20148&quot; value=&quot;5&quot;/&gt;&lt;property id=&quot;20300&quot; value=&quot;Slide 47 - &amp;quot;Market Efficiency vs. Inefficiency&amp;quot;&quot;/&gt;&lt;property id=&quot;20307&quot; value=&quot;523&quot;/&gt;&lt;/object&gt;&lt;object type=&quot;3&quot; unique_id=&quot;10037&quot;&gt;&lt;property id=&quot;20148&quot; value=&quot;5&quot;/&gt;&lt;property id=&quot;20300&quot; value=&quot;Slide 48 - &amp;quot;Market Efficiency vs. Inefficiency&amp;quot;&quot;/&gt;&lt;property id=&quot;20307&quot; value=&quot;484&quot;/&gt;&lt;/object&gt;&lt;object type=&quot;3&quot; unique_id=&quot;10038&quot;&gt;&lt;property id=&quot;20148&quot; value=&quot;5&quot;/&gt;&lt;property id=&quot;20300&quot; value=&quot;Slide 50 - &amp;quot;Market Efficiency vs. Inefficiency&amp;quot;&quot;/&gt;&lt;property id=&quot;20307&quot; value=&quot;493&quot;/&gt;&lt;/object&gt;&lt;object type=&quot;3&quot; unique_id=&quot;10039&quot;&gt;&lt;property id=&quot;20148&quot; value=&quot;5&quot;/&gt;&lt;property id=&quot;20300&quot; value=&quot;Slide 51 - &amp;quot;Market Efficiency vs. Inefficiency&amp;quot;&quot;/&gt;&lt;property id=&quot;20307&quot; value=&quot;494&quot;/&gt;&lt;/object&gt;&lt;object type=&quot;3&quot; unique_id=&quot;10040&quot;&gt;&lt;property id=&quot;20148&quot; value=&quot;5&quot;/&gt;&lt;property id=&quot;20300&quot; value=&quot;Slide 53 - &amp;quot;Market Fairness&amp;quot;&quot;/&gt;&lt;property id=&quot;20307&quot; value=&quot;495&quot;/&gt;&lt;/object&gt;&lt;object type=&quot;3&quot; unique_id=&quot;10041&quot;&gt;&lt;property id=&quot;20148&quot; value=&quot;5&quot;/&gt;&lt;property id=&quot;20300&quot; value=&quot;Slide 55 - &amp;quot;Market Fairness&amp;quot;&quot;/&gt;&lt;property id=&quot;20307&quot; value=&quot;496&quot;/&gt;&lt;/object&gt;&lt;object type=&quot;3&quot; unique_id=&quot;10042&quot;&gt;&lt;property id=&quot;20148&quot; value=&quot;5&quot;/&gt;&lt;property id=&quot;20300&quot; value=&quot;Slide 56 - &amp;quot;Market Fairness&amp;quot;&quot;/&gt;&lt;property id=&quot;20307&quot; value=&quot;499&quot;/&gt;&lt;/object&gt;&lt;object type=&quot;3&quot; unique_id=&quot;10043&quot;&gt;&lt;property id=&quot;20148&quot; value=&quot;5&quot;/&gt;&lt;property id=&quot;20300&quot; value=&quot;Slide 58 - &amp;quot;Market Fairness&amp;quot;&quot;/&gt;&lt;property id=&quot;20307&quot; value=&quot;500&quot;/&gt;&lt;/object&gt;&lt;object type=&quot;3&quot; unique_id=&quot;10044&quot;&gt;&lt;property id=&quot;20148&quot; value=&quot;5&quot;/&gt;&lt;property id=&quot;20300&quot; value=&quot;Slide 60 - &amp;quot;Market Fairness&amp;quot;&quot;/&gt;&lt;property id=&quot;20307&quot; value=&quot;501&quot;/&gt;&lt;/object&gt;&lt;object type=&quot;3&quot; unique_id=&quot;10045&quot;&gt;&lt;property id=&quot;20148&quot; value=&quot;5&quot;/&gt;&lt;property id=&quot;20300&quot; value=&quot;Slide 65&quot;/&gt;&lt;property id=&quot;20307&quot; value=&quot;434&quot;/&gt;&lt;/object&gt;&lt;object type=&quot;3&quot; unique_id=&quot;10086&quot;&gt;&lt;property id=&quot;20148&quot; value=&quot;5&quot;/&gt;&lt;property id=&quot;20300&quot; value=&quot;Slide 3 - &amp;quot;Learning Objectives&amp;quot;&quot;/&gt;&lt;property id=&quot;20307&quot; value=&quot;524&quot;/&gt;&lt;/object&gt;&lt;object type=&quot;3&quot; unique_id=&quot;10415&quot;&gt;&lt;property id=&quot;20148&quot; value=&quot;5&quot;/&gt;&lt;property id=&quot;20300&quot; value=&quot;Slide 5 - &amp;quot;Waiting in line to buy Justin Bieber concert tickets is an example of ?&amp;quot;&quot;/&gt;&lt;property id=&quot;20307&quot; value=&quot;525&quot;/&gt;&lt;/object&gt;&lt;object type=&quot;3&quot; unique_id=&quot;10416&quot;&gt;&lt;property id=&quot;20148&quot; value=&quot;5&quot;/&gt;&lt;property id=&quot;20300&quot; value=&quot;Slide 8 - &amp;quot;Adopting a free puppy from the animal shelter is an example of?&amp;quot;&quot;/&gt;&lt;property id=&quot;20307&quot; value=&quot;526&quot;/&gt;&lt;/object&gt;&lt;object type=&quot;3&quot; unique_id=&quot;10589&quot;&gt;&lt;property id=&quot;20148&quot; value=&quot;5&quot;/&gt;&lt;property id=&quot;20300&quot; value=&quot;Slide 11 - &amp;quot;If the price of pizza is $10 and I’m willing and able to pay $15, what does the $15 represent?&amp;quot;&quot;/&gt;&lt;property id=&quot;20307&quot; value=&quot;527&quot;/&gt;&lt;/object&gt;&lt;object type=&quot;3&quot; unique_id=&quot;10590&quot;&gt;&lt;property id=&quot;20148&quot; value=&quot;5&quot;/&gt;&lt;property id=&quot;20300&quot; value=&quot;Slide 18 - &amp;quot;Would it bother you to know other people paid less for the same product?&amp;quot;&quot;/&gt;&lt;property id=&quot;20307&quot; value=&quot;528&quot;/&gt;&lt;/object&gt;&lt;object type=&quot;3&quot; unique_id=&quot;10771&quot;&gt;&lt;property id=&quot;20148&quot; value=&quot;5&quot;/&gt;&lt;property id=&quot;20300&quot; value=&quot;Slide 17 - &amp;quot;What is behavioral targeting?&amp;quot;&quot;/&gt;&lt;property id=&quot;20307&quot; value=&quot;530&quot;/&gt;&lt;/object&gt;&lt;object type=&quot;3&quot; unique_id=&quot;10772&quot;&gt;&lt;property id=&quot;20148&quot; value=&quot;5&quot;/&gt;&lt;property id=&quot;20300&quot; value=&quot;Slide 19 - &amp;quot;Is it ok if a store you shop at frequently charges you lower prices than it charges other people because it wants &quot;/&gt;&lt;property id=&quot;20307&quot; value=&quot;529&quot;/&gt;&lt;/object&gt;&lt;object type=&quot;3&quot; unique_id=&quot;11008&quot;&gt;&lt;property id=&quot;20148&quot; value=&quot;5&quot;/&gt;&lt;property id=&quot;20300&quot; value=&quot;Slide 21 - &amp;quot;Why can Starbucks charge a higher price for coffee than McDonald’s?&amp;quot;&quot;/&gt;&lt;property id=&quot;20307&quot; value=&quot;531&quot;/&gt;&lt;/object&gt;&lt;object type=&quot;3&quot; unique_id=&quot;11009&quot;&gt;&lt;property id=&quot;20148&quot; value=&quot;5&quot;/&gt;&lt;property id=&quot;20300&quot; value=&quot;Slide 33 - &amp;quot;Why can TJ Maxx (discount store)  charge a lower price for clothes &amp;amp; household goods than Macy’s?&amp;quot;&quot;/&gt;&lt;property id=&quot;20307&quot; value=&quot;532&quot;/&gt;&lt;/object&gt;&lt;object type=&quot;3&quot; unique_id=&quot;11157&quot;&gt;&lt;property id=&quot;20148&quot; value=&quot;5&quot;/&gt;&lt;property id=&quot;20300&quot; value=&quot;Slide 28 - &amp;quot;If the price of pizza is $10 and the minimum price I’m willing to accept to make the pizza is $8, what does the $8&quot;/&gt;&lt;property id=&quot;20307&quot; value=&quot;533&quot;/&gt;&lt;/object&gt;&lt;object type=&quot;3&quot; unique_id=&quot;11408&quot;&gt;&lt;property id=&quot;20148&quot; value=&quot;5&quot;/&gt;&lt;property id=&quot;20300&quot; value=&quot;Slide 35 - &amp;quot;Why do some animal shelters charge to adopt an animal?&amp;quot;&quot;/&gt;&lt;property id=&quot;20307&quot; value=&quot;534&quot;/&gt;&lt;/object&gt;&lt;object type=&quot;3&quot; unique_id=&quot;11562&quot;&gt;&lt;property id=&quot;20148&quot; value=&quot;5&quot;/&gt;&lt;property id=&quot;20300&quot; value=&quot;Slide 41 - &amp;quot;Why are (perfectly) competitive markets efficient?&amp;quot;&quot;/&gt;&lt;property id=&quot;20307&quot; value=&quot;535&quot;/&gt;&lt;/object&gt;&lt;object type=&quot;3&quot; unique_id=&quot;11719&quot;&gt;&lt;property id=&quot;20148&quot; value=&quot;5&quot;/&gt;&lt;property id=&quot;20300&quot; value=&quot;Slide 44 - &amp;quot;What do economists mean when they say markets are not fair?&amp;quot;&quot;/&gt;&lt;property id=&quot;20307&quot; value=&quot;536&quot;/&gt;&lt;/object&gt;&lt;object type=&quot;3&quot; unique_id=&quot;18081&quot;&gt;&lt;property id=&quot;20148&quot; value=&quot;5&quot;/&gt;&lt;property id=&quot;20300&quot; value=&quot;Slide 49 - &amp;quot;So if we minimize the price rationing mechanism of markets, what non-price rationing mechanism, do you prefer? Why&quot;/&gt;&lt;property id=&quot;20307&quot; value=&quot;540&quot;/&gt;&lt;/object&gt;&lt;object type=&quot;3&quot; unique_id=&quot;18082&quot;&gt;&lt;property id=&quot;20148&quot; value=&quot;5&quot;/&gt;&lt;property id=&quot;20300&quot; value=&quot;Slide 54 - &amp;quot;Does the law of diminishing returns pertain to income as well?&amp;quot;&quot;/&gt;&lt;property id=&quot;20307&quot; value=&quot;538&quot;/&gt;&lt;/object&gt;&lt;object type=&quot;3&quot; unique_id=&quot;18083&quot;&gt;&lt;property id=&quot;20148&quot; value=&quot;5&quot;/&gt;&lt;property id=&quot;20300&quot; value=&quot;Slide 57 - &amp;quot;Do you agree with the goal of utilitarianism for society?&amp;quot;&quot;/&gt;&lt;property id=&quot;20307&quot; value=&quot;539&quot;/&gt;&lt;/object&gt;&lt;object type=&quot;3&quot; unique_id=&quot;18084&quot;&gt;&lt;property id=&quot;20148&quot; value=&quot;5&quot;/&gt;&lt;property id=&quot;20300&quot; value=&quot;Slide 59 - &amp;quot;So which type of fairness do you prefer?&amp;quot;&quot;/&gt;&lt;property id=&quot;20307&quot; value=&quot;537&quot;/&gt;&lt;/object&gt;&lt;object type=&quot;3&quot; unique_id=&quot;31019&quot;&gt;&lt;property id=&quot;20148&quot; value=&quot;5&quot;/&gt;&lt;property id=&quot;20300&quot; value=&quot;Slide 62 - &amp;quot;Group Assignment 4: What is you CL section?&amp;quot;&quot;/&gt;&lt;property id=&quot;20307&quot; value=&quot;541&quot;/&gt;&lt;/object&gt;&lt;object type=&quot;3&quot; unique_id=&quot;31020&quot;&gt;&lt;property id=&quot;20148&quot; value=&quot;5&quot;/&gt;&lt;property id=&quot;20300&quot; value=&quot;Slide 63 - &amp;quot;Group Assignment 4&amp;quot;&quot;/&gt;&lt;property id=&quot;20307&quot; value=&quot;542&quot;/&gt;&lt;/object&gt;&lt;object type=&quot;3&quot; unique_id=&quot;31021&quot;&gt;&lt;property id=&quot;20148&quot; value=&quot;5&quot;/&gt;&lt;property id=&quot;20300&quot; value=&quot;Slide 64 - &amp;quot;Group Assignment 4: According to your data, what type of inefficiency does your market have? &amp;quot;&quot;/&gt;&lt;property id=&quot;20307&quot; value=&quot;543&quot;/&gt;&lt;/object&gt;&lt;object type=&quot;3&quot; unique_id=&quot;31082&quot;&gt;&lt;property id=&quot;20148&quot; value=&quot;5&quot;/&gt;&lt;property id=&quot;20300&quot; value=&quot;Slide 6 - &amp;quot;In a crisis (Hurricane Sandy), how should gasoline be distributed? Why?&amp;quot;&quot;/&gt;&lt;property id=&quot;20307&quot; value=&quot;544&quot;/&gt;&lt;/object&gt;&lt;object type=&quot;3&quot; unique_id=&quot;31388&quot;&gt;&lt;property id=&quot;20148&quot; value=&quot;5&quot;/&gt;&lt;property id=&quot;20300&quot; value=&quot;Slide 4 - &amp;quot;Learning Objective #1&amp;quot;&quot;/&gt;&lt;property id=&quot;20307&quot; value=&quot;545&quot;/&gt;&lt;/object&gt;&lt;object type=&quot;3&quot; unique_id=&quot;31389&quot;&gt;&lt;property id=&quot;20148&quot; value=&quot;5&quot;/&gt;&lt;property id=&quot;20300&quot; value=&quot;Slide 10 - &amp;quot;Learning Objective #2&amp;quot;&quot;/&gt;&lt;property id=&quot;20307&quot; value=&quot;546&quot;/&gt;&lt;/object&gt;&lt;object type=&quot;3&quot; unique_id=&quot;31390&quot;&gt;&lt;property id=&quot;20148&quot; value=&quot;5&quot;/&gt;&lt;property id=&quot;20300&quot; value=&quot;Slide 27 - &amp;quot;Learning Objective #3&amp;quot;&quot;/&gt;&lt;property id=&quot;20307&quot; value=&quot;547&quot;/&gt;&lt;/object&gt;&lt;object type=&quot;3&quot; unique_id=&quot;31391&quot;&gt;&lt;property id=&quot;20148&quot; value=&quot;5&quot;/&gt;&lt;property id=&quot;20300&quot; value=&quot;Slide 39 - &amp;quot;Learning Objective #4&amp;quot;&quot;/&gt;&lt;property id=&quot;20307&quot; value=&quot;548&quot;/&gt;&lt;/object&gt;&lt;object type=&quot;3&quot; unique_id=&quot;31392&quot;&gt;&lt;property id=&quot;20148&quot; value=&quot;5&quot;/&gt;&lt;property id=&quot;20300&quot; value=&quot;Slide 52 - &amp;quot;Learning Objective #5&amp;quot;&quot;/&gt;&lt;property id=&quot;20307&quot; value=&quot;549&quot;/&gt;&lt;/object&gt;&lt;object type=&quot;3&quot; unique_id=&quot;31459&quot;&gt;&lt;property id=&quot;20148&quot; value=&quot;5&quot;/&gt;&lt;property id=&quot;20300&quot; value=&quot;Slide 61 - &amp;quot;Quiz #5&amp;quot;&quot;/&gt;&lt;property id=&quot;20307&quot; value=&quot;550&quot;/&gt;&lt;/object&gt;&lt;/object&gt;&lt;/object&gt;&lt;/database&gt;"/>
  <p:tag name="SECTOMILLISECCONVERTED" val="1"/>
  <p:tag name="WASPOLLED" val="22DEED7BD47445DCA4F311ABB7DCE60E"/>
  <p:tag name="TPVERSION" val="5"/>
  <p:tag name="TPFULLVERSION" val="5.3.1.3337"/>
  <p:tag name="PPTVERSION" val="15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miller_13e_ppt_template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93300"/>
      </a:hlink>
      <a:folHlink>
        <a:srgbClr val="FF9900"/>
      </a:folHlink>
    </a:clrScheme>
    <a:fontScheme name="miller_13e_ppt_templat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iller_13e_ppt_templat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ller_13e_ppt_templat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HD:Users:marktemelko:dayjob:Oh_Type_Documents:Miller_PPT:mt_miller:Miller_ppt_template:miller_13e_ppt_template2.pot</Template>
  <TotalTime>7283</TotalTime>
  <Words>916</Words>
  <Application>Microsoft Office PowerPoint</Application>
  <PresentationFormat>On-screen Show (4:3)</PresentationFormat>
  <Paragraphs>162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Wingdings</vt:lpstr>
      <vt:lpstr>miller_13e_ppt_template2</vt:lpstr>
      <vt:lpstr>Learning Objective #4</vt:lpstr>
      <vt:lpstr>Market Efficiency vs. Inefficiency</vt:lpstr>
      <vt:lpstr>Market Efficiency vs. Inefficiency</vt:lpstr>
      <vt:lpstr>Market Efficiency vs. Inefficiency</vt:lpstr>
      <vt:lpstr>Market Efficiency vs. Inefficiency</vt:lpstr>
      <vt:lpstr>Market Efficiency vs. Inefficiency</vt:lpstr>
      <vt:lpstr>Market Efficiency vs. Inefficiency</vt:lpstr>
      <vt:lpstr>Market Efficiency vs. Inefficiency</vt:lpstr>
      <vt:lpstr>Market Efficiency vs. Inefficiency</vt:lpstr>
      <vt:lpstr>Market Efficiency vs. Inefficiency</vt:lpstr>
      <vt:lpstr>Learning Objective #5</vt:lpstr>
      <vt:lpstr>Market Fairness</vt:lpstr>
      <vt:lpstr>Market Fairness</vt:lpstr>
      <vt:lpstr>Market Fairness</vt:lpstr>
      <vt:lpstr>Market Fairness</vt:lpstr>
      <vt:lpstr>Market Fairness</vt:lpstr>
      <vt:lpstr>PowerPoint Presentation</vt:lpstr>
    </vt:vector>
  </TitlesOfParts>
  <Company>RoseStateCollege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pgraf</dc:creator>
  <cp:lastModifiedBy>Tsikandylakis, Antonis</cp:lastModifiedBy>
  <cp:revision>490</cp:revision>
  <dcterms:created xsi:type="dcterms:W3CDTF">1998-01-19T16:21:38Z</dcterms:created>
  <dcterms:modified xsi:type="dcterms:W3CDTF">2026-03-05T00:58:17Z</dcterms:modified>
</cp:coreProperties>
</file>