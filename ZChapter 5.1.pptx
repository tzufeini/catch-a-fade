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notesSlides/notesSlide3.xml" ContentType="application/vnd.openxmlformats-officedocument.presentationml.notesSlide+xml"/>
  <Override PartName="/ppt/tags/tag6.xml" ContentType="application/vnd.openxmlformats-officedocument.presentationml.tags+xml"/>
  <Override PartName="/ppt/notesSlides/notesSlide4.xml" ContentType="application/vnd.openxmlformats-officedocument.presentationml.notesSlide+xml"/>
  <Override PartName="/ppt/tags/tag7.xml" ContentType="application/vnd.openxmlformats-officedocument.presentationml.tags+xml"/>
  <Override PartName="/ppt/notesSlides/notesSlide5.xml" ContentType="application/vnd.openxmlformats-officedocument.presentationml.notesSlide+xml"/>
  <Override PartName="/ppt/tags/tag8.xml" ContentType="application/vnd.openxmlformats-officedocument.presentationml.tags+xml"/>
  <Override PartName="/ppt/notesSlides/notesSlide6.xml" ContentType="application/vnd.openxmlformats-officedocument.presentationml.notesSlide+xml"/>
  <Override PartName="/ppt/tags/tag9.xml" ContentType="application/vnd.openxmlformats-officedocument.presentationml.tags+xml"/>
  <Override PartName="/ppt/notesSlides/notesSlide7.xml" ContentType="application/vnd.openxmlformats-officedocument.presentationml.notesSlide+xml"/>
  <Override PartName="/ppt/tags/tag10.xml" ContentType="application/vnd.openxmlformats-officedocument.presentationml.tags+xml"/>
  <Override PartName="/ppt/notesSlides/notesSlide8.xml" ContentType="application/vnd.openxmlformats-officedocument.presentationml.notesSlide+xml"/>
  <Override PartName="/ppt/tags/tag11.xml" ContentType="application/vnd.openxmlformats-officedocument.presentationml.tags+xml"/>
  <Override PartName="/ppt/notesSlides/notesSlide9.xml" ContentType="application/vnd.openxmlformats-officedocument.presentationml.notesSlide+xml"/>
  <Override PartName="/ppt/tags/tag12.xml" ContentType="application/vnd.openxmlformats-officedocument.presentationml.tags+xml"/>
  <Override PartName="/ppt/notesSlides/notesSlide10.xml" ContentType="application/vnd.openxmlformats-officedocument.presentationml.notesSlide+xml"/>
  <Override PartName="/ppt/tags/tag13.xml" ContentType="application/vnd.openxmlformats-officedocument.presentationml.tags+xml"/>
  <Override PartName="/ppt/notesSlides/notesSlide11.xml" ContentType="application/vnd.openxmlformats-officedocument.presentationml.notesSlide+xml"/>
  <Override PartName="/ppt/tags/tag14.xml" ContentType="application/vnd.openxmlformats-officedocument.presentationml.tags+xml"/>
  <Override PartName="/ppt/notesSlides/notesSlide12.xml" ContentType="application/vnd.openxmlformats-officedocument.presentationml.notesSlide+xml"/>
  <Override PartName="/ppt/tags/tag15.xml" ContentType="application/vnd.openxmlformats-officedocument.presentationml.tags+xml"/>
  <Override PartName="/ppt/notesSlides/notesSlide13.xml" ContentType="application/vnd.openxmlformats-officedocument.presentationml.notesSlide+xml"/>
  <Override PartName="/ppt/tags/tag16.xml" ContentType="application/vnd.openxmlformats-officedocument.presentationml.tags+xml"/>
  <Override PartName="/ppt/notesSlides/notesSlide14.xml" ContentType="application/vnd.openxmlformats-officedocument.presentationml.notesSlide+xml"/>
  <Override PartName="/ppt/tags/tag17.xml" ContentType="application/vnd.openxmlformats-officedocument.presentationml.tags+xml"/>
  <Override PartName="/ppt/notesSlides/notesSlide15.xml" ContentType="application/vnd.openxmlformats-officedocument.presentationml.notesSlide+xml"/>
  <Override PartName="/ppt/tags/tag18.xml" ContentType="application/vnd.openxmlformats-officedocument.presentationml.tags+xml"/>
  <Override PartName="/ppt/notesSlides/notesSlide16.xml" ContentType="application/vnd.openxmlformats-officedocument.presentationml.notesSlide+xml"/>
  <Override PartName="/ppt/tags/tag19.xml" ContentType="application/vnd.openxmlformats-officedocument.presentationml.tags+xml"/>
  <Override PartName="/ppt/notesSlides/notesSlide17.xml" ContentType="application/vnd.openxmlformats-officedocument.presentationml.notesSlide+xml"/>
  <Override PartName="/ppt/tags/tag20.xml" ContentType="application/vnd.openxmlformats-officedocument.presentationml.tags+xml"/>
  <Override PartName="/ppt/notesSlides/notesSlide18.xml" ContentType="application/vnd.openxmlformats-officedocument.presentationml.notesSlide+xml"/>
  <Override PartName="/ppt/tags/tag21.xml" ContentType="application/vnd.openxmlformats-officedocument.presentationml.tags+xml"/>
  <Override PartName="/ppt/notesSlides/notesSlide19.xml" ContentType="application/vnd.openxmlformats-officedocument.presentationml.notesSlide+xml"/>
  <Override PartName="/ppt/tags/tag22.xml" ContentType="application/vnd.openxmlformats-officedocument.presentationml.tags+xml"/>
  <Override PartName="/ppt/notesSlides/notesSlide20.xml" ContentType="application/vnd.openxmlformats-officedocument.presentationml.notesSlide+xml"/>
  <Override PartName="/ppt/tags/tag23.xml" ContentType="application/vnd.openxmlformats-officedocument.presentationml.tags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50" r:id="rId1"/>
  </p:sldMasterIdLst>
  <p:notesMasterIdLst>
    <p:notesMasterId r:id="rId24"/>
  </p:notesMasterIdLst>
  <p:sldIdLst>
    <p:sldId id="425" r:id="rId2"/>
    <p:sldId id="258" r:id="rId3"/>
    <p:sldId id="524" r:id="rId4"/>
    <p:sldId id="545" r:id="rId5"/>
    <p:sldId id="504" r:id="rId6"/>
    <p:sldId id="436" r:id="rId7"/>
    <p:sldId id="546" r:id="rId8"/>
    <p:sldId id="446" r:id="rId9"/>
    <p:sldId id="447" r:id="rId10"/>
    <p:sldId id="507" r:id="rId11"/>
    <p:sldId id="453" r:id="rId12"/>
    <p:sldId id="511" r:id="rId13"/>
    <p:sldId id="512" r:id="rId14"/>
    <p:sldId id="515" r:id="rId15"/>
    <p:sldId id="547" r:id="rId16"/>
    <p:sldId id="460" r:id="rId17"/>
    <p:sldId id="461" r:id="rId18"/>
    <p:sldId id="516" r:id="rId19"/>
    <p:sldId id="467" r:id="rId20"/>
    <p:sldId id="517" r:id="rId21"/>
    <p:sldId id="518" r:id="rId22"/>
    <p:sldId id="520" r:id="rId23"/>
  </p:sldIdLst>
  <p:sldSz cx="9144000" cy="6858000" type="screen4x3"/>
  <p:notesSz cx="6858000" cy="9144000"/>
  <p:custDataLst>
    <p:tags r:id="rId25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i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i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i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i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i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i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i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i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i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91">
          <p15:clr>
            <a:srgbClr val="A4A3A4"/>
          </p15:clr>
        </p15:guide>
        <p15:guide id="2" pos="288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ul Graf" initials="PG" lastIdx="2" clrIdx="0">
    <p:extLst>
      <p:ext uri="{19B8F6BF-5375-455C-9EA6-DF929625EA0E}">
        <p15:presenceInfo xmlns:p15="http://schemas.microsoft.com/office/powerpoint/2012/main" userId="ad28847b171ff92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B2B2"/>
    <a:srgbClr val="FF0000"/>
    <a:srgbClr val="FF0066"/>
    <a:srgbClr val="FF3300"/>
    <a:srgbClr val="008000"/>
    <a:srgbClr val="FFCC99"/>
    <a:srgbClr val="01406A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478" autoAdjust="0"/>
  </p:normalViewPr>
  <p:slideViewPr>
    <p:cSldViewPr snapToGrid="0">
      <p:cViewPr varScale="1">
        <p:scale>
          <a:sx n="92" d="100"/>
          <a:sy n="92" d="100"/>
        </p:scale>
        <p:origin x="2154" y="96"/>
      </p:cViewPr>
      <p:guideLst>
        <p:guide orient="horz" pos="891"/>
        <p:guide pos="288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0" d="100"/>
          <a:sy n="40" d="100"/>
        </p:scale>
        <p:origin x="-1488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sikandylakis, Antonis" userId="ca19e47a-7a59-48ee-85eb-52dccb2011bc" providerId="ADAL" clId="{1568DF2F-4DA1-42DF-904E-6C18A6A2C565}"/>
    <pc:docChg chg="undo custSel modSld">
      <pc:chgData name="Tsikandylakis, Antonis" userId="ca19e47a-7a59-48ee-85eb-52dccb2011bc" providerId="ADAL" clId="{1568DF2F-4DA1-42DF-904E-6C18A6A2C565}" dt="2026-02-28T04:42:30.041" v="2488" actId="1076"/>
      <pc:docMkLst>
        <pc:docMk/>
      </pc:docMkLst>
      <pc:sldChg chg="modSp modNotesTx">
        <pc:chgData name="Tsikandylakis, Antonis" userId="ca19e47a-7a59-48ee-85eb-52dccb2011bc" providerId="ADAL" clId="{1568DF2F-4DA1-42DF-904E-6C18A6A2C565}" dt="2026-02-24T21:07:45.747" v="872" actId="20577"/>
        <pc:sldMkLst>
          <pc:docMk/>
          <pc:sldMk cId="0" sldId="436"/>
        </pc:sldMkLst>
        <pc:spChg chg="mod">
          <ac:chgData name="Tsikandylakis, Antonis" userId="ca19e47a-7a59-48ee-85eb-52dccb2011bc" providerId="ADAL" clId="{1568DF2F-4DA1-42DF-904E-6C18A6A2C565}" dt="2026-02-24T21:07:22.646" v="768" actId="115"/>
          <ac:spMkLst>
            <pc:docMk/>
            <pc:sldMk cId="0" sldId="436"/>
            <ac:spMk id="342019" creationId="{00000000-0000-0000-0000-000000000000}"/>
          </ac:spMkLst>
        </pc:spChg>
      </pc:sldChg>
      <pc:sldChg chg="modSp">
        <pc:chgData name="Tsikandylakis, Antonis" userId="ca19e47a-7a59-48ee-85eb-52dccb2011bc" providerId="ADAL" clId="{1568DF2F-4DA1-42DF-904E-6C18A6A2C565}" dt="2026-02-24T21:11:10.208" v="977" actId="20577"/>
        <pc:sldMkLst>
          <pc:docMk/>
          <pc:sldMk cId="0" sldId="446"/>
        </pc:sldMkLst>
        <pc:spChg chg="mod">
          <ac:chgData name="Tsikandylakis, Antonis" userId="ca19e47a-7a59-48ee-85eb-52dccb2011bc" providerId="ADAL" clId="{1568DF2F-4DA1-42DF-904E-6C18A6A2C565}" dt="2026-02-24T21:11:10.208" v="977" actId="20577"/>
          <ac:spMkLst>
            <pc:docMk/>
            <pc:sldMk cId="0" sldId="446"/>
            <ac:spMk id="235523" creationId="{00000000-0000-0000-0000-000000000000}"/>
          </ac:spMkLst>
        </pc:spChg>
      </pc:sldChg>
      <pc:sldChg chg="modSp modNotesTx">
        <pc:chgData name="Tsikandylakis, Antonis" userId="ca19e47a-7a59-48ee-85eb-52dccb2011bc" providerId="ADAL" clId="{1568DF2F-4DA1-42DF-904E-6C18A6A2C565}" dt="2026-02-24T21:12:59.019" v="1107" actId="20577"/>
        <pc:sldMkLst>
          <pc:docMk/>
          <pc:sldMk cId="0" sldId="447"/>
        </pc:sldMkLst>
        <pc:spChg chg="mod">
          <ac:chgData name="Tsikandylakis, Antonis" userId="ca19e47a-7a59-48ee-85eb-52dccb2011bc" providerId="ADAL" clId="{1568DF2F-4DA1-42DF-904E-6C18A6A2C565}" dt="2026-02-24T21:12:36.933" v="1017" actId="20577"/>
          <ac:spMkLst>
            <pc:docMk/>
            <pc:sldMk cId="0" sldId="447"/>
            <ac:spMk id="369667" creationId="{00000000-0000-0000-0000-000000000000}"/>
          </ac:spMkLst>
        </pc:spChg>
      </pc:sldChg>
      <pc:sldChg chg="modSp modNotesTx">
        <pc:chgData name="Tsikandylakis, Antonis" userId="ca19e47a-7a59-48ee-85eb-52dccb2011bc" providerId="ADAL" clId="{1568DF2F-4DA1-42DF-904E-6C18A6A2C565}" dt="2026-02-24T21:20:18.556" v="1798" actId="20577"/>
        <pc:sldMkLst>
          <pc:docMk/>
          <pc:sldMk cId="0" sldId="453"/>
        </pc:sldMkLst>
        <pc:spChg chg="mod">
          <ac:chgData name="Tsikandylakis, Antonis" userId="ca19e47a-7a59-48ee-85eb-52dccb2011bc" providerId="ADAL" clId="{1568DF2F-4DA1-42DF-904E-6C18A6A2C565}" dt="2026-02-24T21:18:06.106" v="1468" actId="20577"/>
          <ac:spMkLst>
            <pc:docMk/>
            <pc:sldMk cId="0" sldId="453"/>
            <ac:spMk id="237571" creationId="{00000000-0000-0000-0000-000000000000}"/>
          </ac:spMkLst>
        </pc:spChg>
      </pc:sldChg>
      <pc:sldChg chg="modSp">
        <pc:chgData name="Tsikandylakis, Antonis" userId="ca19e47a-7a59-48ee-85eb-52dccb2011bc" providerId="ADAL" clId="{1568DF2F-4DA1-42DF-904E-6C18A6A2C565}" dt="2026-02-24T21:32:30.688" v="2083" actId="20577"/>
        <pc:sldMkLst>
          <pc:docMk/>
          <pc:sldMk cId="0" sldId="460"/>
        </pc:sldMkLst>
        <pc:spChg chg="mod">
          <ac:chgData name="Tsikandylakis, Antonis" userId="ca19e47a-7a59-48ee-85eb-52dccb2011bc" providerId="ADAL" clId="{1568DF2F-4DA1-42DF-904E-6C18A6A2C565}" dt="2026-02-24T21:32:30.688" v="2083" actId="20577"/>
          <ac:spMkLst>
            <pc:docMk/>
            <pc:sldMk cId="0" sldId="460"/>
            <ac:spMk id="239619" creationId="{00000000-0000-0000-0000-000000000000}"/>
          </ac:spMkLst>
        </pc:spChg>
      </pc:sldChg>
      <pc:sldChg chg="modSp modNotesTx">
        <pc:chgData name="Tsikandylakis, Antonis" userId="ca19e47a-7a59-48ee-85eb-52dccb2011bc" providerId="ADAL" clId="{1568DF2F-4DA1-42DF-904E-6C18A6A2C565}" dt="2026-02-24T21:34:15.805" v="2156" actId="20577"/>
        <pc:sldMkLst>
          <pc:docMk/>
          <pc:sldMk cId="0" sldId="461"/>
        </pc:sldMkLst>
        <pc:spChg chg="mod">
          <ac:chgData name="Tsikandylakis, Antonis" userId="ca19e47a-7a59-48ee-85eb-52dccb2011bc" providerId="ADAL" clId="{1568DF2F-4DA1-42DF-904E-6C18A6A2C565}" dt="2026-02-24T21:34:05.220" v="2120" actId="114"/>
          <ac:spMkLst>
            <pc:docMk/>
            <pc:sldMk cId="0" sldId="461"/>
            <ac:spMk id="414723" creationId="{00000000-0000-0000-0000-000000000000}"/>
          </ac:spMkLst>
        </pc:spChg>
      </pc:sldChg>
      <pc:sldChg chg="modSp">
        <pc:chgData name="Tsikandylakis, Antonis" userId="ca19e47a-7a59-48ee-85eb-52dccb2011bc" providerId="ADAL" clId="{1568DF2F-4DA1-42DF-904E-6C18A6A2C565}" dt="2026-02-24T21:40:15.847" v="2312" actId="20577"/>
        <pc:sldMkLst>
          <pc:docMk/>
          <pc:sldMk cId="0" sldId="467"/>
        </pc:sldMkLst>
        <pc:spChg chg="mod">
          <ac:chgData name="Tsikandylakis, Antonis" userId="ca19e47a-7a59-48ee-85eb-52dccb2011bc" providerId="ADAL" clId="{1568DF2F-4DA1-42DF-904E-6C18A6A2C565}" dt="2026-02-24T21:40:15.847" v="2312" actId="20577"/>
          <ac:spMkLst>
            <pc:docMk/>
            <pc:sldMk cId="0" sldId="467"/>
            <ac:spMk id="425987" creationId="{00000000-0000-0000-0000-000000000000}"/>
          </ac:spMkLst>
        </pc:spChg>
      </pc:sldChg>
      <pc:sldChg chg="modNotesTx">
        <pc:chgData name="Tsikandylakis, Antonis" userId="ca19e47a-7a59-48ee-85eb-52dccb2011bc" providerId="ADAL" clId="{1568DF2F-4DA1-42DF-904E-6C18A6A2C565}" dt="2026-02-24T21:03:11.677" v="299" actId="20577"/>
        <pc:sldMkLst>
          <pc:docMk/>
          <pc:sldMk cId="0" sldId="504"/>
        </pc:sldMkLst>
      </pc:sldChg>
      <pc:sldChg chg="modSp modNotesTx">
        <pc:chgData name="Tsikandylakis, Antonis" userId="ca19e47a-7a59-48ee-85eb-52dccb2011bc" providerId="ADAL" clId="{1568DF2F-4DA1-42DF-904E-6C18A6A2C565}" dt="2026-02-24T21:16:25.556" v="1312" actId="20577"/>
        <pc:sldMkLst>
          <pc:docMk/>
          <pc:sldMk cId="0" sldId="507"/>
        </pc:sldMkLst>
        <pc:spChg chg="mod">
          <ac:chgData name="Tsikandylakis, Antonis" userId="ca19e47a-7a59-48ee-85eb-52dccb2011bc" providerId="ADAL" clId="{1568DF2F-4DA1-42DF-904E-6C18A6A2C565}" dt="2026-02-24T21:14:25.093" v="1120" actId="20577"/>
          <ac:spMkLst>
            <pc:docMk/>
            <pc:sldMk cId="0" sldId="507"/>
            <ac:spMk id="19459" creationId="{00000000-0000-0000-0000-000000000000}"/>
          </ac:spMkLst>
        </pc:spChg>
        <pc:spChg chg="mod">
          <ac:chgData name="Tsikandylakis, Antonis" userId="ca19e47a-7a59-48ee-85eb-52dccb2011bc" providerId="ADAL" clId="{1568DF2F-4DA1-42DF-904E-6C18A6A2C565}" dt="2026-02-24T21:14:44.093" v="1127" actId="20577"/>
          <ac:spMkLst>
            <pc:docMk/>
            <pc:sldMk cId="0" sldId="507"/>
            <ac:spMk id="385036" creationId="{00000000-0000-0000-0000-000000000000}"/>
          </ac:spMkLst>
        </pc:spChg>
      </pc:sldChg>
      <pc:sldChg chg="modSp">
        <pc:chgData name="Tsikandylakis, Antonis" userId="ca19e47a-7a59-48ee-85eb-52dccb2011bc" providerId="ADAL" clId="{1568DF2F-4DA1-42DF-904E-6C18A6A2C565}" dt="2026-02-24T21:21:19.123" v="1821" actId="20577"/>
        <pc:sldMkLst>
          <pc:docMk/>
          <pc:sldMk cId="0" sldId="511"/>
        </pc:sldMkLst>
        <pc:spChg chg="mod">
          <ac:chgData name="Tsikandylakis, Antonis" userId="ca19e47a-7a59-48ee-85eb-52dccb2011bc" providerId="ADAL" clId="{1568DF2F-4DA1-42DF-904E-6C18A6A2C565}" dt="2026-02-24T21:21:08.449" v="1802" actId="20577"/>
          <ac:spMkLst>
            <pc:docMk/>
            <pc:sldMk cId="0" sldId="511"/>
            <ac:spMk id="77" creationId="{00000000-0000-0000-0000-000000000000}"/>
          </ac:spMkLst>
        </pc:spChg>
        <pc:spChg chg="mod">
          <ac:chgData name="Tsikandylakis, Antonis" userId="ca19e47a-7a59-48ee-85eb-52dccb2011bc" providerId="ADAL" clId="{1568DF2F-4DA1-42DF-904E-6C18A6A2C565}" dt="2026-02-24T21:21:19.123" v="1821" actId="20577"/>
          <ac:spMkLst>
            <pc:docMk/>
            <pc:sldMk cId="0" sldId="511"/>
            <ac:spMk id="78" creationId="{00000000-0000-0000-0000-000000000000}"/>
          </ac:spMkLst>
        </pc:spChg>
      </pc:sldChg>
      <pc:sldChg chg="addSp delSp modSp mod">
        <pc:chgData name="Tsikandylakis, Antonis" userId="ca19e47a-7a59-48ee-85eb-52dccb2011bc" providerId="ADAL" clId="{1568DF2F-4DA1-42DF-904E-6C18A6A2C565}" dt="2026-02-24T21:23:44.253" v="1830" actId="1076"/>
        <pc:sldMkLst>
          <pc:docMk/>
          <pc:sldMk cId="0" sldId="512"/>
        </pc:sldMkLst>
        <pc:spChg chg="add mod">
          <ac:chgData name="Tsikandylakis, Antonis" userId="ca19e47a-7a59-48ee-85eb-52dccb2011bc" providerId="ADAL" clId="{1568DF2F-4DA1-42DF-904E-6C18A6A2C565}" dt="2026-02-24T21:23:41.351" v="1829" actId="688"/>
          <ac:spMkLst>
            <pc:docMk/>
            <pc:sldMk cId="0" sldId="512"/>
            <ac:spMk id="3" creationId="{163AE40B-94ED-F33E-82B3-9141DC417174}"/>
          </ac:spMkLst>
        </pc:spChg>
        <pc:grpChg chg="mod">
          <ac:chgData name="Tsikandylakis, Antonis" userId="ca19e47a-7a59-48ee-85eb-52dccb2011bc" providerId="ADAL" clId="{1568DF2F-4DA1-42DF-904E-6C18A6A2C565}" dt="2026-02-24T21:23:44.253" v="1830" actId="1076"/>
          <ac:grpSpMkLst>
            <pc:docMk/>
            <pc:sldMk cId="0" sldId="512"/>
            <ac:grpSpMk id="14341" creationId="{00000000-0000-0000-0000-000000000000}"/>
          </ac:grpSpMkLst>
        </pc:grpChg>
      </pc:sldChg>
      <pc:sldChg chg="addSp modSp mod modNotesTx">
        <pc:chgData name="Tsikandylakis, Antonis" userId="ca19e47a-7a59-48ee-85eb-52dccb2011bc" providerId="ADAL" clId="{1568DF2F-4DA1-42DF-904E-6C18A6A2C565}" dt="2026-02-24T21:29:38.275" v="1992" actId="20577"/>
        <pc:sldMkLst>
          <pc:docMk/>
          <pc:sldMk cId="0" sldId="515"/>
        </pc:sldMkLst>
        <pc:spChg chg="add">
          <ac:chgData name="Tsikandylakis, Antonis" userId="ca19e47a-7a59-48ee-85eb-52dccb2011bc" providerId="ADAL" clId="{1568DF2F-4DA1-42DF-904E-6C18A6A2C565}" dt="2026-02-24T21:27:28.779" v="1861" actId="11529"/>
          <ac:spMkLst>
            <pc:docMk/>
            <pc:sldMk cId="0" sldId="515"/>
            <ac:spMk id="2" creationId="{20045EAC-5A0D-D25D-2225-9B9A18955117}"/>
          </ac:spMkLst>
        </pc:spChg>
        <pc:spChg chg="add mod">
          <ac:chgData name="Tsikandylakis, Antonis" userId="ca19e47a-7a59-48ee-85eb-52dccb2011bc" providerId="ADAL" clId="{1568DF2F-4DA1-42DF-904E-6C18A6A2C565}" dt="2026-02-24T21:27:34.634" v="1863" actId="1076"/>
          <ac:spMkLst>
            <pc:docMk/>
            <pc:sldMk cId="0" sldId="515"/>
            <ac:spMk id="3" creationId="{7198BB62-A508-0330-D4C8-F783B9DE1426}"/>
          </ac:spMkLst>
        </pc:spChg>
        <pc:spChg chg="add mod">
          <ac:chgData name="Tsikandylakis, Antonis" userId="ca19e47a-7a59-48ee-85eb-52dccb2011bc" providerId="ADAL" clId="{1568DF2F-4DA1-42DF-904E-6C18A6A2C565}" dt="2026-02-24T21:27:40.858" v="1865" actId="1076"/>
          <ac:spMkLst>
            <pc:docMk/>
            <pc:sldMk cId="0" sldId="515"/>
            <ac:spMk id="4" creationId="{DA7F50B5-C14D-8622-6BF6-9C7D5A6360D4}"/>
          </ac:spMkLst>
        </pc:spChg>
        <pc:spChg chg="add mod">
          <ac:chgData name="Tsikandylakis, Antonis" userId="ca19e47a-7a59-48ee-85eb-52dccb2011bc" providerId="ADAL" clId="{1568DF2F-4DA1-42DF-904E-6C18A6A2C565}" dt="2026-02-24T21:29:01.577" v="1892" actId="207"/>
          <ac:spMkLst>
            <pc:docMk/>
            <pc:sldMk cId="0" sldId="515"/>
            <ac:spMk id="5" creationId="{B873AA96-4EBB-F836-7359-D654F53F1D5B}"/>
          </ac:spMkLst>
        </pc:spChg>
        <pc:spChg chg="add mod">
          <ac:chgData name="Tsikandylakis, Antonis" userId="ca19e47a-7a59-48ee-85eb-52dccb2011bc" providerId="ADAL" clId="{1568DF2F-4DA1-42DF-904E-6C18A6A2C565}" dt="2026-02-24T21:29:09.455" v="1894" actId="1076"/>
          <ac:spMkLst>
            <pc:docMk/>
            <pc:sldMk cId="0" sldId="515"/>
            <ac:spMk id="6" creationId="{1D85D506-8272-BA00-F7B6-D21F123ED00F}"/>
          </ac:spMkLst>
        </pc:spChg>
        <pc:spChg chg="add mod">
          <ac:chgData name="Tsikandylakis, Antonis" userId="ca19e47a-7a59-48ee-85eb-52dccb2011bc" providerId="ADAL" clId="{1568DF2F-4DA1-42DF-904E-6C18A6A2C565}" dt="2026-02-24T21:29:14.986" v="1896" actId="1076"/>
          <ac:spMkLst>
            <pc:docMk/>
            <pc:sldMk cId="0" sldId="515"/>
            <ac:spMk id="7" creationId="{23A5D9D7-27AE-02C2-F88E-AABC0E7F550D}"/>
          </ac:spMkLst>
        </pc:spChg>
        <pc:spChg chg="mod">
          <ac:chgData name="Tsikandylakis, Antonis" userId="ca19e47a-7a59-48ee-85eb-52dccb2011bc" providerId="ADAL" clId="{1568DF2F-4DA1-42DF-904E-6C18A6A2C565}" dt="2026-02-24T21:28:49.319" v="1890" actId="20577"/>
          <ac:spMkLst>
            <pc:docMk/>
            <pc:sldMk cId="0" sldId="515"/>
            <ac:spMk id="85" creationId="{E2C585D3-FDEE-41EF-BF66-B60F50EE4CC2}"/>
          </ac:spMkLst>
        </pc:spChg>
      </pc:sldChg>
      <pc:sldChg chg="modSp">
        <pc:chgData name="Tsikandylakis, Antonis" userId="ca19e47a-7a59-48ee-85eb-52dccb2011bc" providerId="ADAL" clId="{1568DF2F-4DA1-42DF-904E-6C18A6A2C565}" dt="2026-02-24T21:35:19.507" v="2168" actId="20577"/>
        <pc:sldMkLst>
          <pc:docMk/>
          <pc:sldMk cId="0" sldId="516"/>
        </pc:sldMkLst>
        <pc:spChg chg="mod">
          <ac:chgData name="Tsikandylakis, Antonis" userId="ca19e47a-7a59-48ee-85eb-52dccb2011bc" providerId="ADAL" clId="{1568DF2F-4DA1-42DF-904E-6C18A6A2C565}" dt="2026-02-24T21:35:12.951" v="2164" actId="20577"/>
          <ac:spMkLst>
            <pc:docMk/>
            <pc:sldMk cId="0" sldId="516"/>
            <ac:spMk id="21507" creationId="{00000000-0000-0000-0000-000000000000}"/>
          </ac:spMkLst>
        </pc:spChg>
        <pc:spChg chg="mod">
          <ac:chgData name="Tsikandylakis, Antonis" userId="ca19e47a-7a59-48ee-85eb-52dccb2011bc" providerId="ADAL" clId="{1568DF2F-4DA1-42DF-904E-6C18A6A2C565}" dt="2026-02-24T21:35:19.507" v="2168" actId="20577"/>
          <ac:spMkLst>
            <pc:docMk/>
            <pc:sldMk cId="0" sldId="516"/>
            <ac:spMk id="416774" creationId="{00000000-0000-0000-0000-000000000000}"/>
          </ac:spMkLst>
        </pc:spChg>
      </pc:sldChg>
      <pc:sldChg chg="addSp modSp mod">
        <pc:chgData name="Tsikandylakis, Antonis" userId="ca19e47a-7a59-48ee-85eb-52dccb2011bc" providerId="ADAL" clId="{1568DF2F-4DA1-42DF-904E-6C18A6A2C565}" dt="2026-02-24T21:42:30.228" v="2330" actId="1076"/>
        <pc:sldMkLst>
          <pc:docMk/>
          <pc:sldMk cId="0" sldId="517"/>
        </pc:sldMkLst>
        <pc:spChg chg="add mod">
          <ac:chgData name="Tsikandylakis, Antonis" userId="ca19e47a-7a59-48ee-85eb-52dccb2011bc" providerId="ADAL" clId="{1568DF2F-4DA1-42DF-904E-6C18A6A2C565}" dt="2026-02-24T21:42:30.228" v="2330" actId="1076"/>
          <ac:spMkLst>
            <pc:docMk/>
            <pc:sldMk cId="0" sldId="517"/>
            <ac:spMk id="2" creationId="{EF22EBCC-74D1-A937-9D5E-A6CF6DDE0DBD}"/>
          </ac:spMkLst>
        </pc:spChg>
        <pc:spChg chg="mod">
          <ac:chgData name="Tsikandylakis, Antonis" userId="ca19e47a-7a59-48ee-85eb-52dccb2011bc" providerId="ADAL" clId="{1568DF2F-4DA1-42DF-904E-6C18A6A2C565}" dt="2026-02-24T21:41:09.637" v="2320" actId="20577"/>
          <ac:spMkLst>
            <pc:docMk/>
            <pc:sldMk cId="0" sldId="517"/>
            <ac:spMk id="80" creationId="{AF72C518-13AA-4121-8AF3-A42DC1ECD569}"/>
          </ac:spMkLst>
        </pc:spChg>
        <pc:spChg chg="mod">
          <ac:chgData name="Tsikandylakis, Antonis" userId="ca19e47a-7a59-48ee-85eb-52dccb2011bc" providerId="ADAL" clId="{1568DF2F-4DA1-42DF-904E-6C18A6A2C565}" dt="2026-02-24T21:40:57.012" v="2317" actId="20577"/>
          <ac:spMkLst>
            <pc:docMk/>
            <pc:sldMk cId="0" sldId="517"/>
            <ac:spMk id="88" creationId="{00000000-0000-0000-0000-000000000000}"/>
          </ac:spMkLst>
        </pc:spChg>
        <pc:spChg chg="mod">
          <ac:chgData name="Tsikandylakis, Antonis" userId="ca19e47a-7a59-48ee-85eb-52dccb2011bc" providerId="ADAL" clId="{1568DF2F-4DA1-42DF-904E-6C18A6A2C565}" dt="2026-02-24T21:41:25.118" v="2324" actId="20577"/>
          <ac:spMkLst>
            <pc:docMk/>
            <pc:sldMk cId="0" sldId="517"/>
            <ac:spMk id="416774" creationId="{00000000-0000-0000-0000-000000000000}"/>
          </ac:spMkLst>
        </pc:spChg>
      </pc:sldChg>
      <pc:sldChg chg="addSp modSp mod modNotesTx">
        <pc:chgData name="Tsikandylakis, Antonis" userId="ca19e47a-7a59-48ee-85eb-52dccb2011bc" providerId="ADAL" clId="{1568DF2F-4DA1-42DF-904E-6C18A6A2C565}" dt="2026-02-24T21:44:04.669" v="2484" actId="20577"/>
        <pc:sldMkLst>
          <pc:docMk/>
          <pc:sldMk cId="0" sldId="518"/>
        </pc:sldMkLst>
        <pc:spChg chg="add mod">
          <ac:chgData name="Tsikandylakis, Antonis" userId="ca19e47a-7a59-48ee-85eb-52dccb2011bc" providerId="ADAL" clId="{1568DF2F-4DA1-42DF-904E-6C18A6A2C565}" dt="2026-02-24T21:42:54.049" v="2333" actId="1076"/>
          <ac:spMkLst>
            <pc:docMk/>
            <pc:sldMk cId="0" sldId="518"/>
            <ac:spMk id="2" creationId="{D0342DC7-D211-2935-F5F2-187E1A930312}"/>
          </ac:spMkLst>
        </pc:spChg>
        <pc:spChg chg="add mod">
          <ac:chgData name="Tsikandylakis, Antonis" userId="ca19e47a-7a59-48ee-85eb-52dccb2011bc" providerId="ADAL" clId="{1568DF2F-4DA1-42DF-904E-6C18A6A2C565}" dt="2026-02-24T21:43:37.477" v="2338" actId="207"/>
          <ac:spMkLst>
            <pc:docMk/>
            <pc:sldMk cId="0" sldId="518"/>
            <ac:spMk id="3" creationId="{25F759C6-3A9A-32F6-E61A-EF42E7EBF316}"/>
          </ac:spMkLst>
        </pc:spChg>
      </pc:sldChg>
      <pc:sldChg chg="addSp modSp mod">
        <pc:chgData name="Tsikandylakis, Antonis" userId="ca19e47a-7a59-48ee-85eb-52dccb2011bc" providerId="ADAL" clId="{1568DF2F-4DA1-42DF-904E-6C18A6A2C565}" dt="2026-02-28T04:42:30.041" v="2488" actId="1076"/>
        <pc:sldMkLst>
          <pc:docMk/>
          <pc:sldMk cId="0" sldId="520"/>
        </pc:sldMkLst>
        <pc:spChg chg="add mod">
          <ac:chgData name="Tsikandylakis, Antonis" userId="ca19e47a-7a59-48ee-85eb-52dccb2011bc" providerId="ADAL" clId="{1568DF2F-4DA1-42DF-904E-6C18A6A2C565}" dt="2026-02-28T04:42:30.041" v="2488" actId="1076"/>
          <ac:spMkLst>
            <pc:docMk/>
            <pc:sldMk cId="0" sldId="520"/>
            <ac:spMk id="2" creationId="{13E418CC-DE69-4DD4-F823-1230568AD7BC}"/>
          </ac:spMkLst>
        </pc:spChg>
        <pc:spChg chg="add mod">
          <ac:chgData name="Tsikandylakis, Antonis" userId="ca19e47a-7a59-48ee-85eb-52dccb2011bc" providerId="ADAL" clId="{1568DF2F-4DA1-42DF-904E-6C18A6A2C565}" dt="2026-02-24T21:45:10.695" v="2486"/>
          <ac:spMkLst>
            <pc:docMk/>
            <pc:sldMk cId="0" sldId="520"/>
            <ac:spMk id="3" creationId="{B9608BF9-3DCB-B42D-BD44-A41C8547A95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i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i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40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9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i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9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i="0">
                <a:latin typeface="Times New Roman" pitchFamily="18" charset="0"/>
              </a:defRPr>
            </a:lvl1pPr>
          </a:lstStyle>
          <a:p>
            <a:pPr>
              <a:defRPr/>
            </a:pPr>
            <a:fld id="{1C5AE360-3512-4DC4-A6D1-F6BADC91E7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94676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E3EA9A7-DA65-4EE9-A8C7-B4E9949DDAA3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3446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56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5632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 anchor="b"/>
          <a:lstStyle/>
          <a:p>
            <a:pPr algn="r"/>
            <a:r>
              <a:rPr lang="en-US" altLang="en-US" sz="1200" dirty="0"/>
              <a:t>5</a:t>
            </a:r>
          </a:p>
        </p:txBody>
      </p:sp>
      <p:sp>
        <p:nvSpPr>
          <p:cNvPr id="5632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56325" name="Rectangle 5"/>
          <p:cNvSpPr>
            <a:spLocks noChangeArrowheads="1"/>
          </p:cNvSpPr>
          <p:nvPr/>
        </p:nvSpPr>
        <p:spPr bwMode="auto">
          <a:xfrm>
            <a:off x="0" y="0"/>
            <a:ext cx="2971800" cy="4556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5632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632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802120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56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5632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 anchor="b"/>
          <a:lstStyle/>
          <a:p>
            <a:pPr algn="r"/>
            <a:r>
              <a:rPr lang="en-US" altLang="en-US" sz="1200" dirty="0"/>
              <a:t>5</a:t>
            </a:r>
          </a:p>
        </p:txBody>
      </p:sp>
      <p:sp>
        <p:nvSpPr>
          <p:cNvPr id="5632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56325" name="Rectangle 5"/>
          <p:cNvSpPr>
            <a:spLocks noChangeArrowheads="1"/>
          </p:cNvSpPr>
          <p:nvPr/>
        </p:nvSpPr>
        <p:spPr bwMode="auto">
          <a:xfrm>
            <a:off x="0" y="0"/>
            <a:ext cx="2971800" cy="4556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5632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632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561128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Price rationing is the most efficient, in a sense that people that value the thing the most are the ones that will be getting the product</a:t>
            </a:r>
            <a:br>
              <a:rPr lang="en-US" dirty="0"/>
            </a:br>
            <a:r>
              <a:rPr lang="en-US" dirty="0"/>
              <a:t>Non-Price rationing: people qualify to receive a good.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C5AE360-3512-4DC4-A6D1-F6BADC91E783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7168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2311518-BDAD-4B3D-98C3-95C4D209F624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842887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56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5632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 anchor="b"/>
          <a:lstStyle/>
          <a:p>
            <a:pPr algn="r"/>
            <a:r>
              <a:rPr lang="en-US" altLang="en-US" sz="1200" dirty="0"/>
              <a:t>5</a:t>
            </a:r>
          </a:p>
        </p:txBody>
      </p:sp>
      <p:sp>
        <p:nvSpPr>
          <p:cNvPr id="5632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56325" name="Rectangle 5"/>
          <p:cNvSpPr>
            <a:spLocks noChangeArrowheads="1"/>
          </p:cNvSpPr>
          <p:nvPr/>
        </p:nvSpPr>
        <p:spPr bwMode="auto">
          <a:xfrm>
            <a:off x="0" y="0"/>
            <a:ext cx="2971800" cy="4556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5632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632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012298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31C730F-3ED9-4FD1-87AE-A4D9B7CBD283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3155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3902807-DD66-4616-98EA-DA3474FDC40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Market demand is the aggregative collection of all the individual demands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8934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E56C2A8-03E4-4A8B-A64A-1DCF9C4C6652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The market is a combination or Steves and saras demand curves.</a:t>
            </a:r>
          </a:p>
          <a:p>
            <a:r>
              <a:rPr lang="en-US" dirty="0"/>
              <a:t>The market demand is the aggregation of all individual demands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63244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D6D642F-BD5A-4E86-BB53-10B18ADF3AE5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CA" dirty="0"/>
              <a:t>The net benefit is the difference. You buy something for 1 dollar, and it  was worth 2 dollars for you, the net value is 1 dollars.</a:t>
            </a:r>
          </a:p>
          <a:p>
            <a:r>
              <a:rPr lang="en-CA" dirty="0"/>
              <a:t>Now in order to find the total market consumer surplus we have to times that by the number of people.</a:t>
            </a:r>
          </a:p>
        </p:txBody>
      </p:sp>
    </p:spTree>
    <p:extLst>
      <p:ext uri="{BB962C8B-B14F-4D97-AF65-F5344CB8AC3E}">
        <p14:creationId xmlns:p14="http://schemas.microsoft.com/office/powerpoint/2010/main" val="3370303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6A4ECB-EDB1-4326-A8C2-813405360B29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3669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ECA9EA1-8E89-49EC-BD7F-BB7E4C238A6D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5710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17731FB-0E80-4F76-B23B-6FB2A5D553ED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The blue box is calculated by price times cookies.</a:t>
            </a:r>
          </a:p>
        </p:txBody>
      </p:sp>
    </p:spTree>
    <p:extLst>
      <p:ext uri="{BB962C8B-B14F-4D97-AF65-F5344CB8AC3E}">
        <p14:creationId xmlns:p14="http://schemas.microsoft.com/office/powerpoint/2010/main" val="7084222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56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56323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 anchor="b"/>
          <a:lstStyle/>
          <a:p>
            <a:pPr algn="r"/>
            <a:r>
              <a:rPr lang="en-US" altLang="en-US" sz="1200" dirty="0"/>
              <a:t>5</a:t>
            </a:r>
          </a:p>
        </p:txBody>
      </p:sp>
      <p:sp>
        <p:nvSpPr>
          <p:cNvPr id="56324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56325" name="Rectangle 5"/>
          <p:cNvSpPr>
            <a:spLocks noChangeArrowheads="1"/>
          </p:cNvSpPr>
          <p:nvPr/>
        </p:nvSpPr>
        <p:spPr bwMode="auto">
          <a:xfrm>
            <a:off x="0" y="0"/>
            <a:ext cx="2971800" cy="4556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5632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6327" name="Rectangle 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443611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7CAF293-8572-4E78-94DD-D0EEFA66D920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6602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958536C-6F7E-466B-AE20-B47BEE225F48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86716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5356599-828A-4B64-9600-4F1685E123D0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7018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09ACC92-6776-49EA-A486-711C66B835E5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522118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7351357-B03F-424B-983F-1F9E180DC65A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1629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AB7ABD-FD4C-4F67-A98B-3832EF556C45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The red box shows how much it costs to produce all those cookies</a:t>
            </a:r>
          </a:p>
        </p:txBody>
      </p:sp>
    </p:spTree>
    <p:extLst>
      <p:ext uri="{BB962C8B-B14F-4D97-AF65-F5344CB8AC3E}">
        <p14:creationId xmlns:p14="http://schemas.microsoft.com/office/powerpoint/2010/main" val="153768482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0B54885-7D73-4029-9483-FF610F1BFC9D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9917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5143500" y="2033588"/>
            <a:ext cx="3619500" cy="2609850"/>
          </a:xfrm>
        </p:spPr>
        <p:txBody>
          <a:bodyPr/>
          <a:lstStyle>
            <a:lvl1pPr marL="0" indent="0">
              <a:buFont typeface="Wingdings" pitchFamily="2" charset="2"/>
              <a:buNone/>
              <a:defRPr b="1">
                <a:solidFill>
                  <a:srgbClr val="990000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3792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5143500" y="912813"/>
            <a:ext cx="3619500" cy="1277937"/>
          </a:xfrm>
        </p:spPr>
        <p:txBody>
          <a:bodyPr anchor="t"/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21-</a:t>
            </a:r>
            <a:fld id="{FEA59A16-DF94-45C1-A091-A3D2A596B2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21-</a:t>
            </a:r>
            <a:fld id="{C3A75FF9-ADB5-4FFD-8349-0D952D9940E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21-</a:t>
            </a:r>
            <a:fld id="{087A6FAD-1F47-411A-A190-2063F73E2E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21-</a:t>
            </a:r>
            <a:fld id="{DCC4DA63-955E-45C0-9085-6053E10832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21-</a:t>
            </a:r>
            <a:fld id="{2050779E-09A5-4F9C-A29A-6B13940CB3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21-</a:t>
            </a:r>
            <a:fld id="{A4FFF8BE-4A08-43E0-AFA5-ACDF68F213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21-</a:t>
            </a:r>
            <a:fld id="{2D7B9CBC-F68F-4F88-9621-2D27F759B1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21-</a:t>
            </a:r>
            <a:fld id="{59846DBE-DF9E-4E7A-B296-C542672B949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21-</a:t>
            </a:r>
            <a:fld id="{B67DAFF3-793D-4773-932C-7E08920F74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9100" y="220663"/>
            <a:ext cx="2197100" cy="58753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7800" y="220663"/>
            <a:ext cx="6438900" cy="58753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21-</a:t>
            </a:r>
            <a:fld id="{9C26F8F6-0B61-4C64-A38F-8E1816110E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800" y="220663"/>
            <a:ext cx="8788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21-</a:t>
            </a:r>
            <a:fld id="{3D4C4CAA-38C5-4C24-B1AD-66D5543517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77800" y="220663"/>
            <a:ext cx="8788400" cy="1143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36900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59600" y="6311900"/>
            <a:ext cx="19050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 i="0">
                <a:solidFill>
                  <a:srgbClr val="000099"/>
                </a:solidFill>
              </a:defRPr>
            </a:lvl1pPr>
          </a:lstStyle>
          <a:p>
            <a:pPr>
              <a:defRPr/>
            </a:pPr>
            <a:r>
              <a:rPr lang="en-US"/>
              <a:t>Slide 21-</a:t>
            </a:r>
            <a:fld id="{591E642F-2B79-44A8-A9DD-489C32D68CF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9" r:id="rId1"/>
    <p:sldLayoutId id="2147483948" r:id="rId2"/>
    <p:sldLayoutId id="2147483949" r:id="rId3"/>
    <p:sldLayoutId id="2147483950" r:id="rId4"/>
    <p:sldLayoutId id="2147483951" r:id="rId5"/>
    <p:sldLayoutId id="2147483952" r:id="rId6"/>
    <p:sldLayoutId id="2147483953" r:id="rId7"/>
    <p:sldLayoutId id="2147483954" r:id="rId8"/>
    <p:sldLayoutId id="2147483955" r:id="rId9"/>
    <p:sldLayoutId id="2147483956" r:id="rId10"/>
    <p:sldLayoutId id="2147483957" r:id="rId11"/>
    <p:sldLayoutId id="2147483958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99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990000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990000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990000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990000"/>
          </a:solidFill>
          <a:latin typeface="Arial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990000"/>
          </a:solidFill>
          <a:latin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990000"/>
          </a:solidFill>
          <a:latin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990000"/>
          </a:solidFill>
          <a:latin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990000"/>
          </a:solidFill>
          <a:latin typeface="Arial" charset="0"/>
        </a:defRPr>
      </a:lvl9pPr>
    </p:titleStyle>
    <p:bodyStyle>
      <a:lvl1pPr marL="514350" indent="-514350" algn="l" rtl="0" eaLnBrk="0" fontAlgn="base" hangingPunct="0">
        <a:spcBef>
          <a:spcPct val="70000"/>
        </a:spcBef>
        <a:spcAft>
          <a:spcPct val="0"/>
        </a:spcAft>
        <a:buClr>
          <a:srgbClr val="01406A"/>
        </a:buClr>
        <a:buSzPct val="10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285750" algn="l" rtl="0" eaLnBrk="0" fontAlgn="base" hangingPunct="0">
        <a:spcBef>
          <a:spcPct val="40000"/>
        </a:spcBef>
        <a:spcAft>
          <a:spcPct val="0"/>
        </a:spcAft>
        <a:buClr>
          <a:srgbClr val="01406A"/>
        </a:buClr>
        <a:buSzPct val="100000"/>
        <a:buChar char="–"/>
        <a:defRPr sz="2800">
          <a:solidFill>
            <a:schemeClr val="tx1"/>
          </a:solidFill>
          <a:latin typeface="+mn-lt"/>
        </a:defRPr>
      </a:lvl2pPr>
      <a:lvl3pPr marL="1257300" indent="-228600" algn="l" rtl="0" eaLnBrk="0" fontAlgn="base" hangingPunct="0">
        <a:spcBef>
          <a:spcPct val="20000"/>
        </a:spcBef>
        <a:spcAft>
          <a:spcPct val="0"/>
        </a:spcAft>
        <a:buClr>
          <a:srgbClr val="01406A"/>
        </a:buClr>
        <a:buSzPct val="100000"/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1406A"/>
        </a:buClr>
        <a:buSzPct val="100000"/>
        <a:buChar char="–"/>
        <a:defRPr sz="2400">
          <a:solidFill>
            <a:schemeClr val="tx1"/>
          </a:solidFill>
          <a:latin typeface="+mn-lt"/>
        </a:defRPr>
      </a:lvl4pPr>
      <a:lvl5pPr marL="1943100" indent="-228600" algn="l" rtl="0" eaLnBrk="0" fontAlgn="base" hangingPunct="0">
        <a:spcBef>
          <a:spcPct val="20000"/>
        </a:spcBef>
        <a:spcAft>
          <a:spcPct val="0"/>
        </a:spcAft>
        <a:buClr>
          <a:srgbClr val="01406A"/>
        </a:buClr>
        <a:buSzPct val="100000"/>
        <a:buChar char="»"/>
        <a:defRPr sz="2000">
          <a:solidFill>
            <a:schemeClr val="tx1"/>
          </a:solidFill>
          <a:latin typeface="+mn-lt"/>
        </a:defRPr>
      </a:lvl5pPr>
      <a:lvl6pPr marL="2400300" indent="-228600" algn="l" rtl="0" eaLnBrk="0" fontAlgn="base" hangingPunct="0">
        <a:spcBef>
          <a:spcPct val="20000"/>
        </a:spcBef>
        <a:spcAft>
          <a:spcPct val="0"/>
        </a:spcAft>
        <a:buClr>
          <a:srgbClr val="01406A"/>
        </a:buClr>
        <a:buSzPct val="100000"/>
        <a:buChar char="»"/>
        <a:defRPr sz="2000">
          <a:solidFill>
            <a:schemeClr val="tx1"/>
          </a:solidFill>
          <a:latin typeface="+mn-lt"/>
        </a:defRPr>
      </a:lvl6pPr>
      <a:lvl7pPr marL="2857500" indent="-228600" algn="l" rtl="0" eaLnBrk="0" fontAlgn="base" hangingPunct="0">
        <a:spcBef>
          <a:spcPct val="20000"/>
        </a:spcBef>
        <a:spcAft>
          <a:spcPct val="0"/>
        </a:spcAft>
        <a:buClr>
          <a:srgbClr val="01406A"/>
        </a:buClr>
        <a:buSzPct val="100000"/>
        <a:buChar char="»"/>
        <a:defRPr sz="2000">
          <a:solidFill>
            <a:schemeClr val="tx1"/>
          </a:solidFill>
          <a:latin typeface="+mn-lt"/>
        </a:defRPr>
      </a:lvl7pPr>
      <a:lvl8pPr marL="3314700" indent="-228600" algn="l" rtl="0" eaLnBrk="0" fontAlgn="base" hangingPunct="0">
        <a:spcBef>
          <a:spcPct val="20000"/>
        </a:spcBef>
        <a:spcAft>
          <a:spcPct val="0"/>
        </a:spcAft>
        <a:buClr>
          <a:srgbClr val="01406A"/>
        </a:buClr>
        <a:buSzPct val="100000"/>
        <a:buChar char="»"/>
        <a:defRPr sz="2000">
          <a:solidFill>
            <a:schemeClr val="tx1"/>
          </a:solidFill>
          <a:latin typeface="+mn-lt"/>
        </a:defRPr>
      </a:lvl8pPr>
      <a:lvl9pPr marL="3771900" indent="-228600" algn="l" rtl="0" eaLnBrk="0" fontAlgn="base" hangingPunct="0">
        <a:spcBef>
          <a:spcPct val="20000"/>
        </a:spcBef>
        <a:spcAft>
          <a:spcPct val="0"/>
        </a:spcAft>
        <a:buClr>
          <a:srgbClr val="01406A"/>
        </a:buClr>
        <a:buSzPct val="100000"/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slide" Target="slide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1673225" y="2990850"/>
            <a:ext cx="5918200" cy="644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ctr" defTabSz="231775"/>
            <a:r>
              <a:rPr lang="en-US" altLang="en-US" sz="3600" i="0"/>
              <a:t>Markets: Efficiency &amp; Equity</a:t>
            </a: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739775" y="1273175"/>
            <a:ext cx="3294063" cy="7667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r>
              <a:rPr lang="en-US" altLang="en-US" sz="4400" b="1" i="0" dirty="0"/>
              <a:t>Module 5</a:t>
            </a:r>
          </a:p>
        </p:txBody>
      </p:sp>
    </p:spTree>
    <p:custDataLst>
      <p:tags r:id="rId1"/>
    </p:custDataLst>
  </p:cSld>
  <p:clrMapOvr>
    <a:masterClrMapping/>
  </p:clrMapOvr>
  <p:transition spd="med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0" y="1981200"/>
            <a:ext cx="9144000" cy="4114800"/>
          </a:xfrm>
        </p:spPr>
        <p:txBody>
          <a:bodyPr/>
          <a:lstStyle/>
          <a:p>
            <a:pPr>
              <a:lnSpc>
                <a:spcPct val="90000"/>
              </a:lnSpc>
              <a:buClr>
                <a:srgbClr val="990000"/>
              </a:buClr>
            </a:pPr>
            <a:r>
              <a:rPr lang="en-US"/>
              <a:t>Resource Allocation Methods</a:t>
            </a:r>
          </a:p>
          <a:p>
            <a:pPr>
              <a:lnSpc>
                <a:spcPct val="90000"/>
              </a:lnSpc>
              <a:buClr>
                <a:srgbClr val="990000"/>
              </a:buClr>
            </a:pPr>
            <a:r>
              <a:rPr lang="en-US"/>
              <a:t>Demand, Marginal Benefit &amp; Consumer Surplus</a:t>
            </a:r>
          </a:p>
          <a:p>
            <a:pPr>
              <a:lnSpc>
                <a:spcPct val="90000"/>
              </a:lnSpc>
              <a:buClr>
                <a:srgbClr val="990000"/>
              </a:buClr>
            </a:pPr>
            <a:r>
              <a:rPr lang="en-US"/>
              <a:t>Supply, Marginal Cost &amp; Producer Surplus</a:t>
            </a:r>
          </a:p>
          <a:p>
            <a:pPr>
              <a:lnSpc>
                <a:spcPct val="90000"/>
              </a:lnSpc>
              <a:buClr>
                <a:srgbClr val="990000"/>
              </a:buClr>
            </a:pPr>
            <a:r>
              <a:rPr lang="en-US"/>
              <a:t>Market Efficiency vs. Inefficiency</a:t>
            </a:r>
          </a:p>
          <a:p>
            <a:pPr>
              <a:lnSpc>
                <a:spcPct val="90000"/>
              </a:lnSpc>
              <a:buClr>
                <a:srgbClr val="990000"/>
              </a:buClr>
            </a:pPr>
            <a:r>
              <a:rPr lang="en-US"/>
              <a:t>Market Fairness</a:t>
            </a:r>
          </a:p>
        </p:txBody>
      </p:sp>
      <p:sp>
        <p:nvSpPr>
          <p:cNvPr id="4099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Module Outline</a:t>
            </a:r>
          </a:p>
        </p:txBody>
      </p:sp>
    </p:spTree>
    <p:custDataLst>
      <p:tags r:id="rId1"/>
    </p:custDataLst>
  </p:cSld>
  <p:clrMapOvr>
    <a:masterClrMapping/>
  </p:clrMapOvr>
  <p:transition spd="med">
    <p:pull dir="r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 dirty="0"/>
              <a:t>Learning Objectives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0" y="1233714"/>
            <a:ext cx="9144000" cy="5624286"/>
          </a:xfrm>
        </p:spPr>
        <p:txBody>
          <a:bodyPr/>
          <a:lstStyle/>
          <a:p>
            <a:pPr lvl="0">
              <a:buFont typeface="+mj-lt"/>
              <a:buAutoNum type="arabicPeriod"/>
            </a:pPr>
            <a:r>
              <a:rPr lang="en-US" sz="2400" dirty="0"/>
              <a:t>Distinguish among the alternative methods of resource allocation.</a:t>
            </a:r>
          </a:p>
          <a:p>
            <a:pPr lvl="0">
              <a:buFont typeface="+mj-lt"/>
              <a:buAutoNum type="arabicPeriod"/>
            </a:pPr>
            <a:r>
              <a:rPr lang="en-US" sz="2400" dirty="0"/>
              <a:t>Interrelate, determine, and illustrate price, value, willingness to pay, marginal benefit, demand and consumer surplus.</a:t>
            </a:r>
          </a:p>
          <a:p>
            <a:pPr lvl="0">
              <a:buFont typeface="+mj-lt"/>
              <a:buAutoNum type="arabicPeriod"/>
            </a:pPr>
            <a:r>
              <a:rPr lang="en-US" sz="2400" dirty="0"/>
              <a:t>Interrelate, determine, and illustrate price, cost, minimum supply-price, marginal cost, supply and producer surplus.</a:t>
            </a:r>
          </a:p>
          <a:p>
            <a:pPr lvl="0">
              <a:buFont typeface="+mj-lt"/>
              <a:buAutoNum type="arabicPeriod"/>
            </a:pPr>
            <a:r>
              <a:rPr lang="en-US" sz="2400" dirty="0"/>
              <a:t>Differentiate and illustrate efficient and inefficient markets.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Distinguish between fairness based on results versus rules.</a:t>
            </a:r>
            <a:endParaRPr lang="en-US" altLang="en-US" sz="2400" dirty="0">
              <a:hlinkClick r:id="rId4" action="ppaction://hlinksldjump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43932742"/>
      </p:ext>
    </p:extLst>
  </p:cSld>
  <p:clrMapOvr>
    <a:masterClrMapping/>
  </p:clrMapOvr>
  <p:transition spd="med">
    <p:pull dir="r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 dirty="0"/>
              <a:t>Learning Objective #1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0" y="1233714"/>
            <a:ext cx="9144000" cy="5624286"/>
          </a:xfrm>
        </p:spPr>
        <p:txBody>
          <a:bodyPr/>
          <a:lstStyle/>
          <a:p>
            <a:pPr marL="0" lvl="0" indent="0" algn="ctr">
              <a:buNone/>
            </a:pPr>
            <a:r>
              <a:rPr lang="en-US" sz="6000" dirty="0"/>
              <a:t>Distinguish among the alternative methods of resource allocation.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43932742"/>
      </p:ext>
    </p:extLst>
  </p:cSld>
  <p:clrMapOvr>
    <a:masterClrMapping/>
  </p:clrMapOvr>
  <p:transition spd="med">
    <p:pull dir="r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 Function of Prices: Rationing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2113" y="1524000"/>
            <a:ext cx="8066087" cy="4935538"/>
          </a:xfrm>
        </p:spPr>
        <p:txBody>
          <a:bodyPr/>
          <a:lstStyle/>
          <a:p>
            <a:r>
              <a:rPr lang="en-US" altLang="en-US" dirty="0"/>
              <a:t>To answer the question “for whom”, we must choose the rationing mechanism</a:t>
            </a:r>
          </a:p>
          <a:p>
            <a:r>
              <a:rPr lang="en-US" altLang="en-US" dirty="0"/>
              <a:t>Our choice: Price or non-price</a:t>
            </a:r>
          </a:p>
          <a:p>
            <a:pPr lvl="1"/>
            <a:r>
              <a:rPr lang="en-US" altLang="en-US" dirty="0"/>
              <a:t>Price rationing is the most efficient</a:t>
            </a:r>
          </a:p>
          <a:p>
            <a:pPr lvl="2"/>
            <a:r>
              <a:rPr lang="en-US" altLang="en-US" dirty="0"/>
              <a:t>Those who value the good the most and are willing to pay for it, receive it.</a:t>
            </a:r>
          </a:p>
          <a:p>
            <a:pPr lvl="1"/>
            <a:r>
              <a:rPr lang="en-US" altLang="en-US" dirty="0"/>
              <a:t>Non-Price rationing is the most equitable</a:t>
            </a:r>
          </a:p>
          <a:p>
            <a:pPr lvl="2"/>
            <a:r>
              <a:rPr lang="en-US" altLang="en-US" dirty="0"/>
              <a:t>Those who “qualify” get a chance of receiving the good.</a:t>
            </a:r>
          </a:p>
        </p:txBody>
      </p:sp>
    </p:spTree>
    <p:custDataLst>
      <p:tags r:id="rId1"/>
    </p:custDataLst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Resource Allocation Methods</a:t>
            </a:r>
            <a:endParaRPr lang="en-CA"/>
          </a:p>
        </p:txBody>
      </p:sp>
      <p:sp>
        <p:nvSpPr>
          <p:cNvPr id="342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4625" y="1447800"/>
            <a:ext cx="8794750" cy="5083175"/>
          </a:xfrm>
        </p:spPr>
        <p:txBody>
          <a:bodyPr/>
          <a:lstStyle/>
          <a:p>
            <a:pPr marL="457200" lvl="1"/>
            <a:r>
              <a:rPr lang="en-US" altLang="en-US" dirty="0"/>
              <a:t>Scarce resources might be allocated by using any or some </a:t>
            </a:r>
            <a:r>
              <a:rPr lang="en-US" altLang="en-US" u="sng" dirty="0"/>
              <a:t>combination</a:t>
            </a:r>
            <a:r>
              <a:rPr lang="en-US" altLang="en-US" dirty="0"/>
              <a:t> of the following methods</a:t>
            </a:r>
            <a:r>
              <a:rPr lang="en-US" altLang="en-US" sz="2000" dirty="0"/>
              <a:t>:</a:t>
            </a:r>
          </a:p>
          <a:p>
            <a:pPr marL="1143000" lvl="2">
              <a:buClr>
                <a:srgbClr val="8B037E"/>
              </a:buClr>
              <a:buFont typeface="Wingdings" pitchFamily="2" charset="2"/>
              <a:buChar char="§"/>
            </a:pPr>
            <a:r>
              <a:rPr lang="en-US" altLang="en-US" sz="2000" dirty="0"/>
              <a:t>Market price: sell and buy goods</a:t>
            </a:r>
          </a:p>
          <a:p>
            <a:pPr marL="1143000" lvl="2">
              <a:buClr>
                <a:srgbClr val="8B037E"/>
              </a:buClr>
              <a:buFont typeface="Wingdings" pitchFamily="2" charset="2"/>
              <a:buChar char="§"/>
            </a:pPr>
            <a:r>
              <a:rPr lang="en-US" altLang="en-US" sz="2000" dirty="0"/>
              <a:t>Command: the government may tell u at what price to sell or buy</a:t>
            </a:r>
          </a:p>
          <a:p>
            <a:pPr marL="1143000" lvl="2">
              <a:buClr>
                <a:srgbClr val="8B037E"/>
              </a:buClr>
              <a:buFont typeface="Wingdings" pitchFamily="2" charset="2"/>
              <a:buChar char="§"/>
            </a:pPr>
            <a:r>
              <a:rPr lang="en-US" altLang="en-US" sz="2000" dirty="0"/>
              <a:t>Majority rule: a group may vote on how a product is distributed.</a:t>
            </a:r>
          </a:p>
          <a:p>
            <a:pPr marL="1143000" lvl="2">
              <a:buClr>
                <a:srgbClr val="8B037E"/>
              </a:buClr>
              <a:buFont typeface="Wingdings" pitchFamily="2" charset="2"/>
              <a:buChar char="§"/>
            </a:pPr>
            <a:r>
              <a:rPr lang="en-US" altLang="en-US" sz="2000" dirty="0"/>
              <a:t>Contest: Compete for these things</a:t>
            </a:r>
          </a:p>
          <a:p>
            <a:pPr marL="1143000" lvl="2">
              <a:buClr>
                <a:srgbClr val="8B037E"/>
              </a:buClr>
              <a:buFont typeface="Wingdings" pitchFamily="2" charset="2"/>
              <a:buChar char="§"/>
            </a:pPr>
            <a:r>
              <a:rPr lang="en-US" altLang="en-US" sz="2000" dirty="0"/>
              <a:t>First-come, first-served: first to get there get the good/service (Usually for limited quantity, and usually u have to pay but not always)</a:t>
            </a:r>
          </a:p>
          <a:p>
            <a:pPr marL="1143000" lvl="2">
              <a:buClr>
                <a:srgbClr val="8B037E"/>
              </a:buClr>
              <a:buFont typeface="Wingdings" pitchFamily="2" charset="2"/>
              <a:buChar char="§"/>
            </a:pPr>
            <a:r>
              <a:rPr lang="en-US" altLang="en-US" sz="2000" dirty="0"/>
              <a:t>Sharing equally</a:t>
            </a:r>
          </a:p>
          <a:p>
            <a:pPr marL="1143000" lvl="2">
              <a:buClr>
                <a:srgbClr val="8B037E"/>
              </a:buClr>
              <a:buFont typeface="Wingdings" pitchFamily="2" charset="2"/>
              <a:buChar char="§"/>
            </a:pPr>
            <a:r>
              <a:rPr lang="en-US" altLang="en-US" sz="2000" dirty="0"/>
              <a:t>Lottery</a:t>
            </a:r>
          </a:p>
          <a:p>
            <a:pPr marL="1143000" lvl="2">
              <a:buClr>
                <a:srgbClr val="8B037E"/>
              </a:buClr>
              <a:buFont typeface="Wingdings" pitchFamily="2" charset="2"/>
              <a:buChar char="§"/>
            </a:pPr>
            <a:r>
              <a:rPr lang="en-US" altLang="en-US" sz="2000" dirty="0"/>
              <a:t>Personal characteristics: Special needs etc.</a:t>
            </a:r>
          </a:p>
          <a:p>
            <a:pPr marL="1143000" lvl="2">
              <a:buClr>
                <a:srgbClr val="8B037E"/>
              </a:buClr>
              <a:buFont typeface="Wingdings" pitchFamily="2" charset="2"/>
              <a:buChar char="§"/>
            </a:pPr>
            <a:r>
              <a:rPr lang="en-US" altLang="en-US" sz="2000" dirty="0"/>
              <a:t>Force</a:t>
            </a:r>
          </a:p>
        </p:txBody>
      </p:sp>
    </p:spTree>
    <p:custDataLst>
      <p:tags r:id="rId1"/>
    </p:custDataLst>
  </p:cSld>
  <p:clrMapOvr>
    <a:masterClrMapping/>
  </p:clrMapOvr>
  <p:transition spd="med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42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42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342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342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3420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420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3420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3420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8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3420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2019" grpId="0" uiExpand="1" build="p" bldLvl="3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 dirty="0"/>
              <a:t>Learning Objective #2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0" y="1233714"/>
            <a:ext cx="9144000" cy="5624286"/>
          </a:xfrm>
        </p:spPr>
        <p:txBody>
          <a:bodyPr/>
          <a:lstStyle/>
          <a:p>
            <a:pPr marL="0" lvl="0" indent="0" algn="ctr">
              <a:buNone/>
            </a:pPr>
            <a:r>
              <a:rPr lang="en-US" sz="6000" dirty="0"/>
              <a:t>Interrelate, determine, and illustrate price, value, willingness to pay, marginal benefit, demand and consumer surplus.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43932742"/>
      </p:ext>
    </p:extLst>
  </p:cSld>
  <p:clrMapOvr>
    <a:masterClrMapping/>
  </p:clrMapOvr>
  <p:transition spd="med">
    <p:pull dir="r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Demand, Marginal Benefit &amp; Consumer Surplus</a:t>
            </a:r>
          </a:p>
        </p:txBody>
      </p:sp>
      <p:sp>
        <p:nvSpPr>
          <p:cNvPr id="235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1775" y="1981200"/>
            <a:ext cx="8912225" cy="4114800"/>
          </a:xfrm>
        </p:spPr>
        <p:txBody>
          <a:bodyPr/>
          <a:lstStyle/>
          <a:p>
            <a:r>
              <a:rPr lang="en-US" dirty="0"/>
              <a:t>Demand, Willingness to Pay, and Value</a:t>
            </a:r>
          </a:p>
          <a:p>
            <a:pPr lvl="1"/>
            <a:r>
              <a:rPr lang="en-US" dirty="0"/>
              <a:t>Value is what we get (benefit), Price is what we pay (cost).</a:t>
            </a:r>
          </a:p>
          <a:p>
            <a:pPr lvl="1"/>
            <a:r>
              <a:rPr lang="en-US" dirty="0"/>
              <a:t>We measure value as the </a:t>
            </a:r>
            <a:r>
              <a:rPr lang="en-US" i="1" dirty="0"/>
              <a:t>maximum price</a:t>
            </a:r>
            <a:r>
              <a:rPr lang="en-US" dirty="0"/>
              <a:t> that a person is willing to pay.</a:t>
            </a:r>
          </a:p>
          <a:p>
            <a:pPr lvl="1"/>
            <a:r>
              <a:rPr lang="en-US" dirty="0"/>
              <a:t>Willingness to pay determines demand (marginal benefit)</a:t>
            </a:r>
          </a:p>
        </p:txBody>
      </p:sp>
    </p:spTree>
    <p:custDataLst>
      <p:tags r:id="rId1"/>
    </p:custDataLst>
  </p:cSld>
  <p:clrMapOvr>
    <a:masterClrMapping/>
  </p:clrMapOvr>
  <p:transition spd="med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35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35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35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23" grpId="0" uiExpand="1" build="p" bldLvl="3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Demand, Marginal Benefit &amp; Consumer Surplus</a:t>
            </a:r>
          </a:p>
        </p:txBody>
      </p:sp>
      <p:sp>
        <p:nvSpPr>
          <p:cNvPr id="369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981200"/>
            <a:ext cx="8912225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Individual Demand and Market Demand</a:t>
            </a:r>
          </a:p>
          <a:p>
            <a:pPr>
              <a:lnSpc>
                <a:spcPct val="90000"/>
              </a:lnSpc>
            </a:pPr>
            <a:r>
              <a:rPr lang="en-US" dirty="0"/>
              <a:t>The relationship between the price of a good and the quantity demanded by one person is called </a:t>
            </a:r>
            <a:r>
              <a:rPr lang="en-US" i="1" dirty="0"/>
              <a:t>Individual demand</a:t>
            </a:r>
          </a:p>
          <a:p>
            <a:pPr>
              <a:lnSpc>
                <a:spcPct val="90000"/>
              </a:lnSpc>
            </a:pPr>
            <a:r>
              <a:rPr lang="en-US" dirty="0"/>
              <a:t>The relationship between the price of a good and the quantity demanded by all buyers in the market is called </a:t>
            </a:r>
            <a:r>
              <a:rPr lang="en-US" i="1" dirty="0"/>
              <a:t>market demand</a:t>
            </a:r>
            <a:endParaRPr lang="en-US" dirty="0"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696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69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9667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Demand, Marginal Benefit &amp; Consumer Surplus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9737" y="1600199"/>
            <a:ext cx="8229600" cy="111964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At $6 a box, the quantity demanded by Steve is 30 boxes and by Sara is 15 boxes.</a:t>
            </a:r>
          </a:p>
        </p:txBody>
      </p:sp>
      <p:sp>
        <p:nvSpPr>
          <p:cNvPr id="385036" name="Rectangle 12"/>
          <p:cNvSpPr>
            <a:spLocks noChangeArrowheads="1"/>
          </p:cNvSpPr>
          <p:nvPr/>
        </p:nvSpPr>
        <p:spPr bwMode="auto">
          <a:xfrm>
            <a:off x="442913" y="2725738"/>
            <a:ext cx="8229600" cy="903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sz="2400" dirty="0"/>
              <a:t>At $6 a box, the quantity demanded by the market  is  45 boxes </a:t>
            </a:r>
          </a:p>
        </p:txBody>
      </p:sp>
      <p:grpSp>
        <p:nvGrpSpPr>
          <p:cNvPr id="11269" name="Group 6"/>
          <p:cNvGrpSpPr>
            <a:grpSpLocks/>
          </p:cNvGrpSpPr>
          <p:nvPr/>
        </p:nvGrpSpPr>
        <p:grpSpPr bwMode="auto">
          <a:xfrm>
            <a:off x="287338" y="3705225"/>
            <a:ext cx="7924800" cy="2376488"/>
            <a:chOff x="228601" y="3124200"/>
            <a:chExt cx="7924798" cy="2377256"/>
          </a:xfrm>
        </p:grpSpPr>
        <p:grpSp>
          <p:nvGrpSpPr>
            <p:cNvPr id="11282" name="Group 76"/>
            <p:cNvGrpSpPr>
              <a:grpSpLocks/>
            </p:cNvGrpSpPr>
            <p:nvPr/>
          </p:nvGrpSpPr>
          <p:grpSpPr bwMode="auto">
            <a:xfrm>
              <a:off x="228601" y="3124994"/>
              <a:ext cx="2743199" cy="2376462"/>
              <a:chOff x="228601" y="3124994"/>
              <a:chExt cx="2743199" cy="2376462"/>
            </a:xfrm>
          </p:grpSpPr>
          <p:grpSp>
            <p:nvGrpSpPr>
              <p:cNvPr id="11322" name="Group 53"/>
              <p:cNvGrpSpPr>
                <a:grpSpLocks/>
              </p:cNvGrpSpPr>
              <p:nvPr/>
            </p:nvGrpSpPr>
            <p:grpSpPr bwMode="auto">
              <a:xfrm>
                <a:off x="837406" y="3124994"/>
                <a:ext cx="2134394" cy="2058194"/>
                <a:chOff x="837406" y="3124994"/>
                <a:chExt cx="2134394" cy="2058194"/>
              </a:xfrm>
            </p:grpSpPr>
            <p:cxnSp>
              <p:nvCxnSpPr>
                <p:cNvPr id="62" name="Straight Connector 4"/>
                <p:cNvCxnSpPr/>
                <p:nvPr/>
              </p:nvCxnSpPr>
              <p:spPr>
                <a:xfrm rot="5400000">
                  <a:off x="-203535" y="4140529"/>
                  <a:ext cx="2080297" cy="3175"/>
                </a:xfrm>
                <a:prstGeom prst="line">
                  <a:avLst/>
                </a:prstGeom>
                <a:ln>
                  <a:solidFill>
                    <a:schemeClr val="tx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Connector 62"/>
                <p:cNvCxnSpPr/>
                <p:nvPr/>
              </p:nvCxnSpPr>
              <p:spPr>
                <a:xfrm>
                  <a:off x="838201" y="5182265"/>
                  <a:ext cx="2133599" cy="1589"/>
                </a:xfrm>
                <a:prstGeom prst="line">
                  <a:avLst/>
                </a:prstGeom>
                <a:ln>
                  <a:solidFill>
                    <a:schemeClr val="tx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8"/>
                <p:cNvCxnSpPr/>
                <p:nvPr/>
              </p:nvCxnSpPr>
              <p:spPr>
                <a:xfrm rot="16200000" flipH="1">
                  <a:off x="799854" y="3619820"/>
                  <a:ext cx="1524493" cy="990600"/>
                </a:xfrm>
                <a:prstGeom prst="line">
                  <a:avLst/>
                </a:prstGeom>
                <a:ln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323" name="Rectangle 18"/>
              <p:cNvSpPr>
                <a:spLocks noChangeArrowheads="1"/>
              </p:cNvSpPr>
              <p:nvPr/>
            </p:nvSpPr>
            <p:spPr bwMode="auto">
              <a:xfrm rot="-5400000">
                <a:off x="-229859" y="4116059"/>
                <a:ext cx="1160575" cy="24365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algn="ctr"/>
                <a:r>
                  <a:rPr lang="en-US" sz="1000" b="1"/>
                  <a:t>Price of cookies</a:t>
                </a:r>
              </a:p>
            </p:txBody>
          </p:sp>
          <p:sp>
            <p:nvSpPr>
              <p:cNvPr id="11324" name="Rectangle 17"/>
              <p:cNvSpPr>
                <a:spLocks noChangeArrowheads="1"/>
              </p:cNvSpPr>
              <p:nvPr/>
            </p:nvSpPr>
            <p:spPr bwMode="auto">
              <a:xfrm>
                <a:off x="2286000" y="5257800"/>
                <a:ext cx="679674" cy="24365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algn="ctr"/>
                <a:r>
                  <a:rPr lang="en-US" sz="1000" b="1"/>
                  <a:t>Cookies</a:t>
                </a:r>
              </a:p>
            </p:txBody>
          </p:sp>
          <p:sp>
            <p:nvSpPr>
              <p:cNvPr id="11325" name="Rectangle 19"/>
              <p:cNvSpPr>
                <a:spLocks noChangeArrowheads="1"/>
              </p:cNvSpPr>
              <p:nvPr/>
            </p:nvSpPr>
            <p:spPr bwMode="auto">
              <a:xfrm>
                <a:off x="457200" y="4876800"/>
                <a:ext cx="203325" cy="24365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lIns="90488" tIns="44450" rIns="90488" bIns="44450">
                <a:spAutoFit/>
              </a:bodyPr>
              <a:lstStyle/>
              <a:p>
                <a:r>
                  <a:rPr lang="en-US" sz="1000"/>
                  <a:t>2</a:t>
                </a:r>
              </a:p>
            </p:txBody>
          </p:sp>
          <p:sp>
            <p:nvSpPr>
              <p:cNvPr id="11326" name="Rectangle 20"/>
              <p:cNvSpPr>
                <a:spLocks noChangeArrowheads="1"/>
              </p:cNvSpPr>
              <p:nvPr/>
            </p:nvSpPr>
            <p:spPr bwMode="auto">
              <a:xfrm>
                <a:off x="457200" y="4572000"/>
                <a:ext cx="307975" cy="24365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lIns="90488" tIns="44450" rIns="90488" bIns="44450">
                <a:spAutoFit/>
              </a:bodyPr>
              <a:lstStyle/>
              <a:p>
                <a:r>
                  <a:rPr lang="en-US" sz="1000"/>
                  <a:t>4</a:t>
                </a:r>
              </a:p>
            </p:txBody>
          </p:sp>
          <p:sp>
            <p:nvSpPr>
              <p:cNvPr id="11327" name="Rectangle 21"/>
              <p:cNvSpPr>
                <a:spLocks noChangeArrowheads="1"/>
              </p:cNvSpPr>
              <p:nvPr/>
            </p:nvSpPr>
            <p:spPr bwMode="auto">
              <a:xfrm>
                <a:off x="457200" y="4267200"/>
                <a:ext cx="190406" cy="24365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lIns="90488" tIns="44450" rIns="90488" bIns="44450">
                <a:spAutoFit/>
              </a:bodyPr>
              <a:lstStyle/>
              <a:p>
                <a:r>
                  <a:rPr lang="en-US" sz="1000"/>
                  <a:t>6</a:t>
                </a:r>
              </a:p>
            </p:txBody>
          </p:sp>
          <p:sp>
            <p:nvSpPr>
              <p:cNvPr id="11328" name="Rectangle 22"/>
              <p:cNvSpPr>
                <a:spLocks noChangeArrowheads="1"/>
              </p:cNvSpPr>
              <p:nvPr/>
            </p:nvSpPr>
            <p:spPr bwMode="auto">
              <a:xfrm>
                <a:off x="457200" y="3886200"/>
                <a:ext cx="164008" cy="24365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lIns="90488" tIns="44450" rIns="90488" bIns="44450">
                <a:spAutoFit/>
              </a:bodyPr>
              <a:lstStyle/>
              <a:p>
                <a:r>
                  <a:rPr lang="en-US" sz="1000"/>
                  <a:t>8</a:t>
                </a:r>
              </a:p>
            </p:txBody>
          </p:sp>
          <p:sp>
            <p:nvSpPr>
              <p:cNvPr id="11329" name="Rectangle 23"/>
              <p:cNvSpPr>
                <a:spLocks noChangeArrowheads="1"/>
              </p:cNvSpPr>
              <p:nvPr/>
            </p:nvSpPr>
            <p:spPr bwMode="auto">
              <a:xfrm>
                <a:off x="381000" y="3581400"/>
                <a:ext cx="381000" cy="24365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lIns="90488" tIns="44450" rIns="90488" bIns="44450">
                <a:spAutoFit/>
              </a:bodyPr>
              <a:lstStyle/>
              <a:p>
                <a:r>
                  <a:rPr lang="en-US" sz="1000"/>
                  <a:t>10</a:t>
                </a:r>
              </a:p>
            </p:txBody>
          </p:sp>
          <p:sp>
            <p:nvSpPr>
              <p:cNvPr id="11330" name="Rectangle 24"/>
              <p:cNvSpPr>
                <a:spLocks noChangeArrowheads="1"/>
              </p:cNvSpPr>
              <p:nvPr/>
            </p:nvSpPr>
            <p:spPr bwMode="auto">
              <a:xfrm>
                <a:off x="990600" y="5257800"/>
                <a:ext cx="323808" cy="24365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sz="1000"/>
                  <a:t>10</a:t>
                </a:r>
              </a:p>
            </p:txBody>
          </p:sp>
          <p:sp>
            <p:nvSpPr>
              <p:cNvPr id="11331" name="Rectangle 25"/>
              <p:cNvSpPr>
                <a:spLocks noChangeArrowheads="1"/>
              </p:cNvSpPr>
              <p:nvPr/>
            </p:nvSpPr>
            <p:spPr bwMode="auto">
              <a:xfrm>
                <a:off x="1295400" y="5257800"/>
                <a:ext cx="323808" cy="24365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sz="1000"/>
                  <a:t>20</a:t>
                </a:r>
              </a:p>
            </p:txBody>
          </p:sp>
          <p:sp>
            <p:nvSpPr>
              <p:cNvPr id="11332" name="Rectangle 26"/>
              <p:cNvSpPr>
                <a:spLocks noChangeArrowheads="1"/>
              </p:cNvSpPr>
              <p:nvPr/>
            </p:nvSpPr>
            <p:spPr bwMode="auto">
              <a:xfrm>
                <a:off x="1524000" y="5257800"/>
                <a:ext cx="323808" cy="24365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sz="1000"/>
                  <a:t>30</a:t>
                </a:r>
              </a:p>
            </p:txBody>
          </p:sp>
          <p:sp>
            <p:nvSpPr>
              <p:cNvPr id="11333" name="Rectangle 27"/>
              <p:cNvSpPr>
                <a:spLocks noChangeArrowheads="1"/>
              </p:cNvSpPr>
              <p:nvPr/>
            </p:nvSpPr>
            <p:spPr bwMode="auto">
              <a:xfrm>
                <a:off x="1828800" y="5257800"/>
                <a:ext cx="323808" cy="24365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sz="1000"/>
                  <a:t>40</a:t>
                </a:r>
              </a:p>
            </p:txBody>
          </p:sp>
          <p:sp>
            <p:nvSpPr>
              <p:cNvPr id="11334" name="Rectangle 28"/>
              <p:cNvSpPr>
                <a:spLocks noChangeArrowheads="1"/>
              </p:cNvSpPr>
              <p:nvPr/>
            </p:nvSpPr>
            <p:spPr bwMode="auto">
              <a:xfrm>
                <a:off x="2057400" y="5257800"/>
                <a:ext cx="323808" cy="24365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sz="1000"/>
                  <a:t>50</a:t>
                </a:r>
              </a:p>
            </p:txBody>
          </p:sp>
          <p:sp>
            <p:nvSpPr>
              <p:cNvPr id="11335" name="Rectangle 35"/>
              <p:cNvSpPr>
                <a:spLocks noChangeArrowheads="1"/>
              </p:cNvSpPr>
              <p:nvPr/>
            </p:nvSpPr>
            <p:spPr bwMode="auto">
              <a:xfrm>
                <a:off x="609600" y="5257800"/>
                <a:ext cx="253275" cy="24365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sz="1000"/>
                  <a:t>0</a:t>
                </a:r>
              </a:p>
            </p:txBody>
          </p:sp>
        </p:grpSp>
        <p:grpSp>
          <p:nvGrpSpPr>
            <p:cNvPr id="11283" name="Group 77"/>
            <p:cNvGrpSpPr>
              <a:grpSpLocks/>
            </p:cNvGrpSpPr>
            <p:nvPr/>
          </p:nvGrpSpPr>
          <p:grpSpPr bwMode="auto">
            <a:xfrm>
              <a:off x="2667000" y="3124200"/>
              <a:ext cx="2743199" cy="2376462"/>
              <a:chOff x="228601" y="3124994"/>
              <a:chExt cx="2743199" cy="2376462"/>
            </a:xfrm>
          </p:grpSpPr>
          <p:grpSp>
            <p:nvGrpSpPr>
              <p:cNvPr id="11305" name="Group 53"/>
              <p:cNvGrpSpPr>
                <a:grpSpLocks/>
              </p:cNvGrpSpPr>
              <p:nvPr/>
            </p:nvGrpSpPr>
            <p:grpSpPr bwMode="auto">
              <a:xfrm>
                <a:off x="837406" y="3124994"/>
                <a:ext cx="2134394" cy="2058194"/>
                <a:chOff x="837406" y="3124994"/>
                <a:chExt cx="2134394" cy="2058194"/>
              </a:xfrm>
            </p:grpSpPr>
            <p:cxnSp>
              <p:nvCxnSpPr>
                <p:cNvPr id="45" name="Straight Connector 44"/>
                <p:cNvCxnSpPr/>
                <p:nvPr/>
              </p:nvCxnSpPr>
              <p:spPr>
                <a:xfrm rot="5400000">
                  <a:off x="-202742" y="4164349"/>
                  <a:ext cx="2080297" cy="158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/>
                <p:cNvCxnSpPr/>
                <p:nvPr/>
              </p:nvCxnSpPr>
              <p:spPr>
                <a:xfrm>
                  <a:off x="838201" y="5205291"/>
                  <a:ext cx="2133599" cy="158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/>
                <p:cNvCxnSpPr/>
                <p:nvPr/>
              </p:nvCxnSpPr>
              <p:spPr>
                <a:xfrm rot="16200000" flipH="1">
                  <a:off x="788738" y="3631731"/>
                  <a:ext cx="1546725" cy="990600"/>
                </a:xfrm>
                <a:prstGeom prst="line">
                  <a:avLst/>
                </a:prstGeom>
                <a:ln>
                  <a:solidFill>
                    <a:srgbClr val="008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306" name="Rectangle 18"/>
              <p:cNvSpPr>
                <a:spLocks noChangeArrowheads="1"/>
              </p:cNvSpPr>
              <p:nvPr/>
            </p:nvSpPr>
            <p:spPr bwMode="auto">
              <a:xfrm rot="-5400000">
                <a:off x="-229859" y="4116059"/>
                <a:ext cx="1160575" cy="24365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algn="ctr"/>
                <a:r>
                  <a:rPr lang="en-US" sz="1000" b="1"/>
                  <a:t>Price of cookies</a:t>
                </a:r>
              </a:p>
            </p:txBody>
          </p:sp>
          <p:sp>
            <p:nvSpPr>
              <p:cNvPr id="11307" name="Rectangle 17"/>
              <p:cNvSpPr>
                <a:spLocks noChangeArrowheads="1"/>
              </p:cNvSpPr>
              <p:nvPr/>
            </p:nvSpPr>
            <p:spPr bwMode="auto">
              <a:xfrm>
                <a:off x="2286000" y="5257800"/>
                <a:ext cx="679674" cy="24365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algn="ctr"/>
                <a:r>
                  <a:rPr lang="en-US" sz="1000" b="1"/>
                  <a:t>Cookies</a:t>
                </a:r>
              </a:p>
            </p:txBody>
          </p:sp>
          <p:sp>
            <p:nvSpPr>
              <p:cNvPr id="11308" name="Rectangle 19"/>
              <p:cNvSpPr>
                <a:spLocks noChangeArrowheads="1"/>
              </p:cNvSpPr>
              <p:nvPr/>
            </p:nvSpPr>
            <p:spPr bwMode="auto">
              <a:xfrm>
                <a:off x="457200" y="4876800"/>
                <a:ext cx="203325" cy="24365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lIns="90488" tIns="44450" rIns="90488" bIns="44450">
                <a:spAutoFit/>
              </a:bodyPr>
              <a:lstStyle/>
              <a:p>
                <a:r>
                  <a:rPr lang="en-US" sz="1000"/>
                  <a:t>2</a:t>
                </a:r>
              </a:p>
            </p:txBody>
          </p:sp>
          <p:sp>
            <p:nvSpPr>
              <p:cNvPr id="11309" name="Rectangle 20"/>
              <p:cNvSpPr>
                <a:spLocks noChangeArrowheads="1"/>
              </p:cNvSpPr>
              <p:nvPr/>
            </p:nvSpPr>
            <p:spPr bwMode="auto">
              <a:xfrm>
                <a:off x="457200" y="4572000"/>
                <a:ext cx="307975" cy="24365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lIns="90488" tIns="44450" rIns="90488" bIns="44450">
                <a:spAutoFit/>
              </a:bodyPr>
              <a:lstStyle/>
              <a:p>
                <a:r>
                  <a:rPr lang="en-US" sz="1000"/>
                  <a:t>4</a:t>
                </a:r>
              </a:p>
            </p:txBody>
          </p:sp>
          <p:sp>
            <p:nvSpPr>
              <p:cNvPr id="11310" name="Rectangle 21"/>
              <p:cNvSpPr>
                <a:spLocks noChangeArrowheads="1"/>
              </p:cNvSpPr>
              <p:nvPr/>
            </p:nvSpPr>
            <p:spPr bwMode="auto">
              <a:xfrm>
                <a:off x="457200" y="4267200"/>
                <a:ext cx="190406" cy="24365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lIns="90488" tIns="44450" rIns="90488" bIns="44450">
                <a:spAutoFit/>
              </a:bodyPr>
              <a:lstStyle/>
              <a:p>
                <a:r>
                  <a:rPr lang="en-US" sz="1000"/>
                  <a:t>6</a:t>
                </a:r>
              </a:p>
            </p:txBody>
          </p:sp>
          <p:sp>
            <p:nvSpPr>
              <p:cNvPr id="11311" name="Rectangle 22"/>
              <p:cNvSpPr>
                <a:spLocks noChangeArrowheads="1"/>
              </p:cNvSpPr>
              <p:nvPr/>
            </p:nvSpPr>
            <p:spPr bwMode="auto">
              <a:xfrm>
                <a:off x="457200" y="3886200"/>
                <a:ext cx="164008" cy="24365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lIns="90488" tIns="44450" rIns="90488" bIns="44450">
                <a:spAutoFit/>
              </a:bodyPr>
              <a:lstStyle/>
              <a:p>
                <a:r>
                  <a:rPr lang="en-US" sz="1000"/>
                  <a:t>8</a:t>
                </a:r>
              </a:p>
            </p:txBody>
          </p:sp>
          <p:sp>
            <p:nvSpPr>
              <p:cNvPr id="11312" name="Rectangle 23"/>
              <p:cNvSpPr>
                <a:spLocks noChangeArrowheads="1"/>
              </p:cNvSpPr>
              <p:nvPr/>
            </p:nvSpPr>
            <p:spPr bwMode="auto">
              <a:xfrm>
                <a:off x="381000" y="3581400"/>
                <a:ext cx="381000" cy="24365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lIns="90488" tIns="44450" rIns="90488" bIns="44450">
                <a:spAutoFit/>
              </a:bodyPr>
              <a:lstStyle/>
              <a:p>
                <a:r>
                  <a:rPr lang="en-US" sz="1000"/>
                  <a:t>10</a:t>
                </a:r>
              </a:p>
            </p:txBody>
          </p:sp>
          <p:sp>
            <p:nvSpPr>
              <p:cNvPr id="11313" name="Rectangle 24"/>
              <p:cNvSpPr>
                <a:spLocks noChangeArrowheads="1"/>
              </p:cNvSpPr>
              <p:nvPr/>
            </p:nvSpPr>
            <p:spPr bwMode="auto">
              <a:xfrm>
                <a:off x="990600" y="5257800"/>
                <a:ext cx="253275" cy="24365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sz="1000"/>
                  <a:t>5</a:t>
                </a:r>
              </a:p>
            </p:txBody>
          </p:sp>
          <p:sp>
            <p:nvSpPr>
              <p:cNvPr id="11314" name="Rectangle 25"/>
              <p:cNvSpPr>
                <a:spLocks noChangeArrowheads="1"/>
              </p:cNvSpPr>
              <p:nvPr/>
            </p:nvSpPr>
            <p:spPr bwMode="auto">
              <a:xfrm>
                <a:off x="1295400" y="5257800"/>
                <a:ext cx="323808" cy="24365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sz="1000"/>
                  <a:t>10</a:t>
                </a:r>
              </a:p>
            </p:txBody>
          </p:sp>
          <p:sp>
            <p:nvSpPr>
              <p:cNvPr id="11315" name="Rectangle 26"/>
              <p:cNvSpPr>
                <a:spLocks noChangeArrowheads="1"/>
              </p:cNvSpPr>
              <p:nvPr/>
            </p:nvSpPr>
            <p:spPr bwMode="auto">
              <a:xfrm>
                <a:off x="1524000" y="5257800"/>
                <a:ext cx="323808" cy="24365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sz="1000"/>
                  <a:t>15</a:t>
                </a:r>
              </a:p>
            </p:txBody>
          </p:sp>
          <p:sp>
            <p:nvSpPr>
              <p:cNvPr id="11316" name="Rectangle 27"/>
              <p:cNvSpPr>
                <a:spLocks noChangeArrowheads="1"/>
              </p:cNvSpPr>
              <p:nvPr/>
            </p:nvSpPr>
            <p:spPr bwMode="auto">
              <a:xfrm>
                <a:off x="1828800" y="5257800"/>
                <a:ext cx="323808" cy="24365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sz="1000"/>
                  <a:t>20</a:t>
                </a:r>
              </a:p>
            </p:txBody>
          </p:sp>
          <p:sp>
            <p:nvSpPr>
              <p:cNvPr id="11317" name="Rectangle 28"/>
              <p:cNvSpPr>
                <a:spLocks noChangeArrowheads="1"/>
              </p:cNvSpPr>
              <p:nvPr/>
            </p:nvSpPr>
            <p:spPr bwMode="auto">
              <a:xfrm>
                <a:off x="2057400" y="5257800"/>
                <a:ext cx="323808" cy="24365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sz="1000"/>
                  <a:t>25</a:t>
                </a:r>
              </a:p>
            </p:txBody>
          </p:sp>
          <p:sp>
            <p:nvSpPr>
              <p:cNvPr id="11318" name="Rectangle 35"/>
              <p:cNvSpPr>
                <a:spLocks noChangeArrowheads="1"/>
              </p:cNvSpPr>
              <p:nvPr/>
            </p:nvSpPr>
            <p:spPr bwMode="auto">
              <a:xfrm>
                <a:off x="609600" y="5257800"/>
                <a:ext cx="253275" cy="24365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sz="1000"/>
                  <a:t>0</a:t>
                </a:r>
              </a:p>
            </p:txBody>
          </p:sp>
        </p:grpSp>
        <p:grpSp>
          <p:nvGrpSpPr>
            <p:cNvPr id="11284" name="Group 95"/>
            <p:cNvGrpSpPr>
              <a:grpSpLocks/>
            </p:cNvGrpSpPr>
            <p:nvPr/>
          </p:nvGrpSpPr>
          <p:grpSpPr bwMode="auto">
            <a:xfrm>
              <a:off x="5410200" y="3124200"/>
              <a:ext cx="2743199" cy="2376462"/>
              <a:chOff x="228601" y="3124994"/>
              <a:chExt cx="2743199" cy="2376462"/>
            </a:xfrm>
          </p:grpSpPr>
          <p:grpSp>
            <p:nvGrpSpPr>
              <p:cNvPr id="11288" name="Group 53"/>
              <p:cNvGrpSpPr>
                <a:grpSpLocks/>
              </p:cNvGrpSpPr>
              <p:nvPr/>
            </p:nvGrpSpPr>
            <p:grpSpPr bwMode="auto">
              <a:xfrm>
                <a:off x="837406" y="3124994"/>
                <a:ext cx="2134394" cy="2058194"/>
                <a:chOff x="837406" y="3124994"/>
                <a:chExt cx="2134394" cy="2058194"/>
              </a:xfrm>
            </p:grpSpPr>
            <p:cxnSp>
              <p:nvCxnSpPr>
                <p:cNvPr id="28" name="Straight Connector 27"/>
                <p:cNvCxnSpPr/>
                <p:nvPr/>
              </p:nvCxnSpPr>
              <p:spPr>
                <a:xfrm rot="5400000">
                  <a:off x="-202742" y="4164349"/>
                  <a:ext cx="2080297" cy="158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/>
                <p:cNvCxnSpPr/>
                <p:nvPr/>
              </p:nvCxnSpPr>
              <p:spPr>
                <a:xfrm>
                  <a:off x="838201" y="5205291"/>
                  <a:ext cx="2133599" cy="158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/>
                <p:cNvCxnSpPr/>
                <p:nvPr/>
              </p:nvCxnSpPr>
              <p:spPr>
                <a:xfrm rot="16200000" flipH="1">
                  <a:off x="788738" y="3631731"/>
                  <a:ext cx="1546725" cy="990600"/>
                </a:xfrm>
                <a:prstGeom prst="line">
                  <a:avLst/>
                </a:prstGeom>
                <a:ln>
                  <a:solidFill>
                    <a:srgbClr val="FF33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289" name="Rectangle 18"/>
              <p:cNvSpPr>
                <a:spLocks noChangeArrowheads="1"/>
              </p:cNvSpPr>
              <p:nvPr/>
            </p:nvSpPr>
            <p:spPr bwMode="auto">
              <a:xfrm rot="-5400000">
                <a:off x="-229859" y="4116059"/>
                <a:ext cx="1160575" cy="24365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algn="ctr"/>
                <a:r>
                  <a:rPr lang="en-US" sz="1000" b="1"/>
                  <a:t>Price of cookies</a:t>
                </a:r>
              </a:p>
            </p:txBody>
          </p:sp>
          <p:sp>
            <p:nvSpPr>
              <p:cNvPr id="11290" name="Rectangle 17"/>
              <p:cNvSpPr>
                <a:spLocks noChangeArrowheads="1"/>
              </p:cNvSpPr>
              <p:nvPr/>
            </p:nvSpPr>
            <p:spPr bwMode="auto">
              <a:xfrm>
                <a:off x="2286000" y="5257800"/>
                <a:ext cx="679674" cy="24365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algn="ctr"/>
                <a:r>
                  <a:rPr lang="en-US" sz="1000" b="1"/>
                  <a:t>Cookies</a:t>
                </a:r>
              </a:p>
            </p:txBody>
          </p:sp>
          <p:sp>
            <p:nvSpPr>
              <p:cNvPr id="11291" name="Rectangle 19"/>
              <p:cNvSpPr>
                <a:spLocks noChangeArrowheads="1"/>
              </p:cNvSpPr>
              <p:nvPr/>
            </p:nvSpPr>
            <p:spPr bwMode="auto">
              <a:xfrm>
                <a:off x="457200" y="4876800"/>
                <a:ext cx="203325" cy="24365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lIns="90488" tIns="44450" rIns="90488" bIns="44450">
                <a:spAutoFit/>
              </a:bodyPr>
              <a:lstStyle/>
              <a:p>
                <a:r>
                  <a:rPr lang="en-US" sz="1000"/>
                  <a:t>2</a:t>
                </a:r>
              </a:p>
            </p:txBody>
          </p:sp>
          <p:sp>
            <p:nvSpPr>
              <p:cNvPr id="11292" name="Rectangle 20"/>
              <p:cNvSpPr>
                <a:spLocks noChangeArrowheads="1"/>
              </p:cNvSpPr>
              <p:nvPr/>
            </p:nvSpPr>
            <p:spPr bwMode="auto">
              <a:xfrm>
                <a:off x="457200" y="4572000"/>
                <a:ext cx="307975" cy="24365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lIns="90488" tIns="44450" rIns="90488" bIns="44450">
                <a:spAutoFit/>
              </a:bodyPr>
              <a:lstStyle/>
              <a:p>
                <a:r>
                  <a:rPr lang="en-US" sz="1000"/>
                  <a:t>4</a:t>
                </a:r>
              </a:p>
            </p:txBody>
          </p:sp>
          <p:sp>
            <p:nvSpPr>
              <p:cNvPr id="11293" name="Rectangle 21"/>
              <p:cNvSpPr>
                <a:spLocks noChangeArrowheads="1"/>
              </p:cNvSpPr>
              <p:nvPr/>
            </p:nvSpPr>
            <p:spPr bwMode="auto">
              <a:xfrm>
                <a:off x="457200" y="4267200"/>
                <a:ext cx="190406" cy="24365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lIns="90488" tIns="44450" rIns="90488" bIns="44450">
                <a:spAutoFit/>
              </a:bodyPr>
              <a:lstStyle/>
              <a:p>
                <a:r>
                  <a:rPr lang="en-US" sz="1000"/>
                  <a:t>6</a:t>
                </a:r>
              </a:p>
            </p:txBody>
          </p:sp>
          <p:sp>
            <p:nvSpPr>
              <p:cNvPr id="11294" name="Rectangle 22"/>
              <p:cNvSpPr>
                <a:spLocks noChangeArrowheads="1"/>
              </p:cNvSpPr>
              <p:nvPr/>
            </p:nvSpPr>
            <p:spPr bwMode="auto">
              <a:xfrm>
                <a:off x="457200" y="3886200"/>
                <a:ext cx="164008" cy="24365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lIns="90488" tIns="44450" rIns="90488" bIns="44450">
                <a:spAutoFit/>
              </a:bodyPr>
              <a:lstStyle/>
              <a:p>
                <a:r>
                  <a:rPr lang="en-US" sz="1000"/>
                  <a:t>8</a:t>
                </a:r>
              </a:p>
            </p:txBody>
          </p:sp>
          <p:sp>
            <p:nvSpPr>
              <p:cNvPr id="11295" name="Rectangle 23"/>
              <p:cNvSpPr>
                <a:spLocks noChangeArrowheads="1"/>
              </p:cNvSpPr>
              <p:nvPr/>
            </p:nvSpPr>
            <p:spPr bwMode="auto">
              <a:xfrm>
                <a:off x="381000" y="3581400"/>
                <a:ext cx="381000" cy="24365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lIns="90488" tIns="44450" rIns="90488" bIns="44450">
                <a:spAutoFit/>
              </a:bodyPr>
              <a:lstStyle/>
              <a:p>
                <a:r>
                  <a:rPr lang="en-US" sz="1000"/>
                  <a:t>10</a:t>
                </a:r>
              </a:p>
            </p:txBody>
          </p:sp>
          <p:sp>
            <p:nvSpPr>
              <p:cNvPr id="11296" name="Rectangle 24"/>
              <p:cNvSpPr>
                <a:spLocks noChangeArrowheads="1"/>
              </p:cNvSpPr>
              <p:nvPr/>
            </p:nvSpPr>
            <p:spPr bwMode="auto">
              <a:xfrm>
                <a:off x="990600" y="5257800"/>
                <a:ext cx="323808" cy="24365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sz="1000"/>
                  <a:t>15</a:t>
                </a:r>
              </a:p>
            </p:txBody>
          </p:sp>
          <p:sp>
            <p:nvSpPr>
              <p:cNvPr id="11297" name="Rectangle 25"/>
              <p:cNvSpPr>
                <a:spLocks noChangeArrowheads="1"/>
              </p:cNvSpPr>
              <p:nvPr/>
            </p:nvSpPr>
            <p:spPr bwMode="auto">
              <a:xfrm>
                <a:off x="1295400" y="5257800"/>
                <a:ext cx="323808" cy="24365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sz="1000"/>
                  <a:t>30</a:t>
                </a:r>
              </a:p>
            </p:txBody>
          </p:sp>
          <p:sp>
            <p:nvSpPr>
              <p:cNvPr id="11298" name="Rectangle 26"/>
              <p:cNvSpPr>
                <a:spLocks noChangeArrowheads="1"/>
              </p:cNvSpPr>
              <p:nvPr/>
            </p:nvSpPr>
            <p:spPr bwMode="auto">
              <a:xfrm>
                <a:off x="1524000" y="5257800"/>
                <a:ext cx="323808" cy="24365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sz="1000"/>
                  <a:t>45</a:t>
                </a:r>
              </a:p>
            </p:txBody>
          </p:sp>
          <p:sp>
            <p:nvSpPr>
              <p:cNvPr id="11299" name="Rectangle 27"/>
              <p:cNvSpPr>
                <a:spLocks noChangeArrowheads="1"/>
              </p:cNvSpPr>
              <p:nvPr/>
            </p:nvSpPr>
            <p:spPr bwMode="auto">
              <a:xfrm>
                <a:off x="1828800" y="5257800"/>
                <a:ext cx="323808" cy="24365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sz="1000"/>
                  <a:t>60</a:t>
                </a:r>
              </a:p>
            </p:txBody>
          </p:sp>
          <p:sp>
            <p:nvSpPr>
              <p:cNvPr id="11300" name="Rectangle 28"/>
              <p:cNvSpPr>
                <a:spLocks noChangeArrowheads="1"/>
              </p:cNvSpPr>
              <p:nvPr/>
            </p:nvSpPr>
            <p:spPr bwMode="auto">
              <a:xfrm>
                <a:off x="2057400" y="5257800"/>
                <a:ext cx="323808" cy="24365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sz="1000"/>
                  <a:t>75</a:t>
                </a:r>
              </a:p>
            </p:txBody>
          </p:sp>
          <p:sp>
            <p:nvSpPr>
              <p:cNvPr id="11301" name="Rectangle 35"/>
              <p:cNvSpPr>
                <a:spLocks noChangeArrowheads="1"/>
              </p:cNvSpPr>
              <p:nvPr/>
            </p:nvSpPr>
            <p:spPr bwMode="auto">
              <a:xfrm>
                <a:off x="609600" y="5257800"/>
                <a:ext cx="253275" cy="24365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sz="1000"/>
                  <a:t>0</a:t>
                </a:r>
              </a:p>
            </p:txBody>
          </p:sp>
        </p:grpSp>
        <p:sp>
          <p:nvSpPr>
            <p:cNvPr id="11285" name="Rectangle 17"/>
            <p:cNvSpPr>
              <a:spLocks noChangeArrowheads="1"/>
            </p:cNvSpPr>
            <p:nvPr/>
          </p:nvSpPr>
          <p:spPr bwMode="auto">
            <a:xfrm>
              <a:off x="1524000" y="3200400"/>
              <a:ext cx="522581" cy="24365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/>
              <a:r>
                <a:rPr lang="en-US" sz="1000" b="1"/>
                <a:t>Steve</a:t>
              </a:r>
            </a:p>
          </p:txBody>
        </p:sp>
        <p:sp>
          <p:nvSpPr>
            <p:cNvPr id="11286" name="Rectangle 17"/>
            <p:cNvSpPr>
              <a:spLocks noChangeArrowheads="1"/>
            </p:cNvSpPr>
            <p:nvPr/>
          </p:nvSpPr>
          <p:spPr bwMode="auto">
            <a:xfrm>
              <a:off x="4114800" y="3276600"/>
              <a:ext cx="458460" cy="24365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/>
              <a:r>
                <a:rPr lang="en-US" sz="1000" b="1"/>
                <a:t>Sara</a:t>
              </a:r>
            </a:p>
          </p:txBody>
        </p:sp>
        <p:sp>
          <p:nvSpPr>
            <p:cNvPr id="11287" name="Rectangle 17"/>
            <p:cNvSpPr>
              <a:spLocks noChangeArrowheads="1"/>
            </p:cNvSpPr>
            <p:nvPr/>
          </p:nvSpPr>
          <p:spPr bwMode="auto">
            <a:xfrm>
              <a:off x="6858000" y="3200400"/>
              <a:ext cx="594716" cy="24365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/>
              <a:r>
                <a:rPr lang="en-US" sz="1000" b="1"/>
                <a:t>Market</a:t>
              </a:r>
            </a:p>
          </p:txBody>
        </p:sp>
      </p:grp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850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5036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Demand, Marginal Benefit &amp; Consumer Surplus</a:t>
            </a:r>
          </a:p>
        </p:txBody>
      </p:sp>
      <p:sp>
        <p:nvSpPr>
          <p:cNvPr id="237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46238"/>
            <a:ext cx="8229600" cy="4525962"/>
          </a:xfrm>
        </p:spPr>
        <p:txBody>
          <a:bodyPr/>
          <a:lstStyle/>
          <a:p>
            <a:r>
              <a:rPr lang="en-US" dirty="0"/>
              <a:t>Consumer Surplus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Consumer surplus</a:t>
            </a:r>
            <a:r>
              <a:rPr lang="en-US" dirty="0"/>
              <a:t> is the value of a good minus the price that was paid for it, summed over the quantity bought.</a:t>
            </a:r>
          </a:p>
          <a:p>
            <a:pPr lvl="1"/>
            <a:r>
              <a:rPr lang="en-US" dirty="0"/>
              <a:t>It is measured by the area under the demand the curve and above the price paid, up to the quantity bought.</a:t>
            </a: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37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37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7571" grpId="0" build="p" bldLvl="3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Demand, Marginal Benefit &amp; Consumer Surplus</a:t>
            </a:r>
          </a:p>
        </p:txBody>
      </p:sp>
      <p:sp>
        <p:nvSpPr>
          <p:cNvPr id="75" name="Rectangle 9"/>
          <p:cNvSpPr>
            <a:spLocks noChangeArrowheads="1"/>
          </p:cNvSpPr>
          <p:nvPr/>
        </p:nvSpPr>
        <p:spPr bwMode="auto">
          <a:xfrm>
            <a:off x="381000" y="1447800"/>
            <a:ext cx="83058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114300" lvl="1">
              <a:spcBef>
                <a:spcPct val="25000"/>
              </a:spcBef>
              <a:spcAft>
                <a:spcPct val="25000"/>
              </a:spcAft>
              <a:buClr>
                <a:srgbClr val="FF0000"/>
              </a:buClr>
              <a:buFont typeface="Wingdings" pitchFamily="2" charset="2"/>
              <a:buNone/>
            </a:pPr>
            <a:r>
              <a:rPr lang="en-US" sz="2400"/>
              <a:t>Steve and Sara pay the market price, which is $6 a box.</a:t>
            </a:r>
          </a:p>
        </p:txBody>
      </p:sp>
      <p:sp>
        <p:nvSpPr>
          <p:cNvPr id="77" name="Rectangle 10"/>
          <p:cNvSpPr>
            <a:spLocks noChangeArrowheads="1"/>
          </p:cNvSpPr>
          <p:nvPr/>
        </p:nvSpPr>
        <p:spPr bwMode="auto">
          <a:xfrm>
            <a:off x="381000" y="1981200"/>
            <a:ext cx="807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114300" lvl="1">
              <a:spcBef>
                <a:spcPct val="25000"/>
              </a:spcBef>
              <a:spcAft>
                <a:spcPct val="25000"/>
              </a:spcAft>
              <a:buClr>
                <a:srgbClr val="FF0000"/>
              </a:buClr>
              <a:buFont typeface="Wingdings" pitchFamily="2" charset="2"/>
              <a:buNone/>
            </a:pPr>
            <a:r>
              <a:rPr lang="en-US" sz="2400" dirty="0"/>
              <a:t>The value Steve places on the 10</a:t>
            </a:r>
            <a:r>
              <a:rPr lang="en-US" sz="2400" baseline="30000" dirty="0"/>
              <a:t>th</a:t>
            </a:r>
            <a:r>
              <a:rPr lang="en-US" sz="2400" dirty="0"/>
              <a:t> box is 10$</a:t>
            </a:r>
          </a:p>
        </p:txBody>
      </p:sp>
      <p:sp>
        <p:nvSpPr>
          <p:cNvPr id="78" name="Rectangle 12"/>
          <p:cNvSpPr>
            <a:spLocks noChangeArrowheads="1"/>
          </p:cNvSpPr>
          <p:nvPr/>
        </p:nvSpPr>
        <p:spPr bwMode="auto">
          <a:xfrm>
            <a:off x="381000" y="2514600"/>
            <a:ext cx="8382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114300" lvl="1">
              <a:spcBef>
                <a:spcPct val="25000"/>
              </a:spcBef>
              <a:spcAft>
                <a:spcPct val="25000"/>
              </a:spcAft>
              <a:buClr>
                <a:srgbClr val="FF0000"/>
              </a:buClr>
              <a:buFont typeface="Wingdings" pitchFamily="2" charset="2"/>
              <a:buNone/>
            </a:pPr>
            <a:r>
              <a:rPr lang="en-US" sz="2400" dirty="0"/>
              <a:t>Steve’s consumer surplus from the 10</a:t>
            </a:r>
            <a:r>
              <a:rPr lang="en-US" sz="2400" baseline="30000" dirty="0"/>
              <a:t>th</a:t>
            </a:r>
            <a:r>
              <a:rPr lang="en-US" sz="2400" dirty="0"/>
              <a:t> box is the value minus the which is $4.</a:t>
            </a:r>
          </a:p>
        </p:txBody>
      </p:sp>
      <p:grpSp>
        <p:nvGrpSpPr>
          <p:cNvPr id="13318" name="Group 234"/>
          <p:cNvGrpSpPr>
            <a:grpSpLocks/>
          </p:cNvGrpSpPr>
          <p:nvPr/>
        </p:nvGrpSpPr>
        <p:grpSpPr bwMode="auto">
          <a:xfrm>
            <a:off x="276225" y="4016375"/>
            <a:ext cx="8255000" cy="2378075"/>
            <a:chOff x="381000" y="2667000"/>
            <a:chExt cx="8256164" cy="2377256"/>
          </a:xfrm>
        </p:grpSpPr>
        <p:cxnSp>
          <p:nvCxnSpPr>
            <p:cNvPr id="237" name="Straight Connector 236"/>
            <p:cNvCxnSpPr/>
            <p:nvPr/>
          </p:nvCxnSpPr>
          <p:spPr>
            <a:xfrm flipV="1">
              <a:off x="990686" y="3961954"/>
              <a:ext cx="7238434" cy="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3321" name="Group 62"/>
            <p:cNvGrpSpPr>
              <a:grpSpLocks/>
            </p:cNvGrpSpPr>
            <p:nvPr/>
          </p:nvGrpSpPr>
          <p:grpSpPr bwMode="auto">
            <a:xfrm>
              <a:off x="381000" y="2667000"/>
              <a:ext cx="7924798" cy="2377256"/>
              <a:chOff x="286658" y="3704771"/>
              <a:chExt cx="7924798" cy="2377256"/>
            </a:xfrm>
          </p:grpSpPr>
          <p:grpSp>
            <p:nvGrpSpPr>
              <p:cNvPr id="13323" name="Group 6"/>
              <p:cNvGrpSpPr>
                <a:grpSpLocks/>
              </p:cNvGrpSpPr>
              <p:nvPr/>
            </p:nvGrpSpPr>
            <p:grpSpPr bwMode="auto">
              <a:xfrm>
                <a:off x="286658" y="3704771"/>
                <a:ext cx="7924798" cy="2377256"/>
                <a:chOff x="228601" y="3124200"/>
                <a:chExt cx="7924798" cy="2377256"/>
              </a:xfrm>
            </p:grpSpPr>
            <p:grpSp>
              <p:nvGrpSpPr>
                <p:cNvPr id="13336" name="Group 76"/>
                <p:cNvGrpSpPr>
                  <a:grpSpLocks/>
                </p:cNvGrpSpPr>
                <p:nvPr/>
              </p:nvGrpSpPr>
              <p:grpSpPr bwMode="auto">
                <a:xfrm>
                  <a:off x="228601" y="3124994"/>
                  <a:ext cx="2743199" cy="2376462"/>
                  <a:chOff x="228601" y="3124994"/>
                  <a:chExt cx="2743199" cy="2376462"/>
                </a:xfrm>
              </p:grpSpPr>
              <p:grpSp>
                <p:nvGrpSpPr>
                  <p:cNvPr id="13376" name="Group 53"/>
                  <p:cNvGrpSpPr>
                    <a:grpSpLocks/>
                  </p:cNvGrpSpPr>
                  <p:nvPr/>
                </p:nvGrpSpPr>
                <p:grpSpPr bwMode="auto">
                  <a:xfrm>
                    <a:off x="837406" y="3124994"/>
                    <a:ext cx="2134394" cy="2058194"/>
                    <a:chOff x="837406" y="3124994"/>
                    <a:chExt cx="2134394" cy="2058194"/>
                  </a:xfrm>
                </p:grpSpPr>
                <p:cxnSp>
                  <p:nvCxnSpPr>
                    <p:cNvPr id="306" name="Straight Connector 4"/>
                    <p:cNvCxnSpPr/>
                    <p:nvPr/>
                  </p:nvCxnSpPr>
                  <p:spPr>
                    <a:xfrm rot="5400000">
                      <a:off x="-201167" y="4165241"/>
                      <a:ext cx="2077322" cy="1587"/>
                    </a:xfrm>
                    <a:prstGeom prst="line">
                      <a:avLst/>
                    </a:prstGeom>
                    <a:ln>
                      <a:solidFill>
                        <a:schemeClr val="tx2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7" name="Straight Connector 306"/>
                    <p:cNvCxnSpPr/>
                    <p:nvPr/>
                  </p:nvCxnSpPr>
                  <p:spPr>
                    <a:xfrm>
                      <a:off x="838287" y="5204697"/>
                      <a:ext cx="2133901" cy="1586"/>
                    </a:xfrm>
                    <a:prstGeom prst="line">
                      <a:avLst/>
                    </a:prstGeom>
                    <a:ln>
                      <a:solidFill>
                        <a:schemeClr val="tx2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8" name="Straight Connector 8"/>
                    <p:cNvCxnSpPr/>
                    <p:nvPr/>
                  </p:nvCxnSpPr>
                  <p:spPr>
                    <a:xfrm rot="16200000" flipH="1">
                      <a:off x="800552" y="3642894"/>
                      <a:ext cx="1523475" cy="990740"/>
                    </a:xfrm>
                    <a:prstGeom prst="line">
                      <a:avLst/>
                    </a:prstGeom>
                    <a:ln>
                      <a:solidFill>
                        <a:schemeClr val="accent2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3377" name="Rectangle 18"/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-229859" y="4116059"/>
                    <a:ext cx="1160575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pPr algn="ctr"/>
                    <a:r>
                      <a:rPr lang="en-US" sz="1000" b="1"/>
                      <a:t>Price of cookies</a:t>
                    </a:r>
                  </a:p>
                </p:txBody>
              </p:sp>
              <p:sp>
                <p:nvSpPr>
                  <p:cNvPr id="13378" name="Rectangle 17"/>
                  <p:cNvSpPr>
                    <a:spLocks noChangeArrowheads="1"/>
                  </p:cNvSpPr>
                  <p:nvPr/>
                </p:nvSpPr>
                <p:spPr bwMode="auto">
                  <a:xfrm>
                    <a:off x="2286000" y="5257800"/>
                    <a:ext cx="679674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pPr algn="ctr"/>
                    <a:r>
                      <a:rPr lang="en-US" sz="1000" b="1"/>
                      <a:t>Cookies</a:t>
                    </a:r>
                  </a:p>
                </p:txBody>
              </p:sp>
              <p:sp>
                <p:nvSpPr>
                  <p:cNvPr id="13379" name="Rectangle 19"/>
                  <p:cNvSpPr>
                    <a:spLocks noChangeArrowheads="1"/>
                  </p:cNvSpPr>
                  <p:nvPr/>
                </p:nvSpPr>
                <p:spPr bwMode="auto">
                  <a:xfrm>
                    <a:off x="457200" y="4876800"/>
                    <a:ext cx="203325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2</a:t>
                    </a:r>
                  </a:p>
                </p:txBody>
              </p:sp>
              <p:sp>
                <p:nvSpPr>
                  <p:cNvPr id="13380" name="Rectangle 20"/>
                  <p:cNvSpPr>
                    <a:spLocks noChangeArrowheads="1"/>
                  </p:cNvSpPr>
                  <p:nvPr/>
                </p:nvSpPr>
                <p:spPr bwMode="auto">
                  <a:xfrm>
                    <a:off x="457200" y="4572000"/>
                    <a:ext cx="307975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4</a:t>
                    </a:r>
                  </a:p>
                </p:txBody>
              </p:sp>
              <p:sp>
                <p:nvSpPr>
                  <p:cNvPr id="13381" name="Rectangle 21"/>
                  <p:cNvSpPr>
                    <a:spLocks noChangeArrowheads="1"/>
                  </p:cNvSpPr>
                  <p:nvPr/>
                </p:nvSpPr>
                <p:spPr bwMode="auto">
                  <a:xfrm>
                    <a:off x="457200" y="4267200"/>
                    <a:ext cx="190406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6</a:t>
                    </a:r>
                  </a:p>
                </p:txBody>
              </p:sp>
              <p:sp>
                <p:nvSpPr>
                  <p:cNvPr id="13382" name="Rectangle 22"/>
                  <p:cNvSpPr>
                    <a:spLocks noChangeArrowheads="1"/>
                  </p:cNvSpPr>
                  <p:nvPr/>
                </p:nvSpPr>
                <p:spPr bwMode="auto">
                  <a:xfrm>
                    <a:off x="457200" y="3886200"/>
                    <a:ext cx="164008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8</a:t>
                    </a:r>
                  </a:p>
                </p:txBody>
              </p:sp>
              <p:sp>
                <p:nvSpPr>
                  <p:cNvPr id="13383" name="Rectangle 23"/>
                  <p:cNvSpPr>
                    <a:spLocks noChangeArrowheads="1"/>
                  </p:cNvSpPr>
                  <p:nvPr/>
                </p:nvSpPr>
                <p:spPr bwMode="auto">
                  <a:xfrm>
                    <a:off x="381000" y="3581400"/>
                    <a:ext cx="381000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10</a:t>
                    </a:r>
                  </a:p>
                </p:txBody>
              </p:sp>
              <p:sp>
                <p:nvSpPr>
                  <p:cNvPr id="13384" name="Rectangle 24"/>
                  <p:cNvSpPr>
                    <a:spLocks noChangeArrowheads="1"/>
                  </p:cNvSpPr>
                  <p:nvPr/>
                </p:nvSpPr>
                <p:spPr bwMode="auto">
                  <a:xfrm>
                    <a:off x="990600" y="5257800"/>
                    <a:ext cx="323808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10</a:t>
                    </a:r>
                  </a:p>
                </p:txBody>
              </p:sp>
              <p:sp>
                <p:nvSpPr>
                  <p:cNvPr id="13385" name="Rectangle 25"/>
                  <p:cNvSpPr>
                    <a:spLocks noChangeArrowheads="1"/>
                  </p:cNvSpPr>
                  <p:nvPr/>
                </p:nvSpPr>
                <p:spPr bwMode="auto">
                  <a:xfrm>
                    <a:off x="1295400" y="5257800"/>
                    <a:ext cx="323808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20</a:t>
                    </a:r>
                  </a:p>
                </p:txBody>
              </p:sp>
              <p:sp>
                <p:nvSpPr>
                  <p:cNvPr id="13386" name="Rectangle 26"/>
                  <p:cNvSpPr>
                    <a:spLocks noChangeArrowheads="1"/>
                  </p:cNvSpPr>
                  <p:nvPr/>
                </p:nvSpPr>
                <p:spPr bwMode="auto">
                  <a:xfrm>
                    <a:off x="1524000" y="5257800"/>
                    <a:ext cx="323808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30</a:t>
                    </a:r>
                  </a:p>
                </p:txBody>
              </p:sp>
              <p:sp>
                <p:nvSpPr>
                  <p:cNvPr id="13387" name="Rectangle 27"/>
                  <p:cNvSpPr>
                    <a:spLocks noChangeArrowheads="1"/>
                  </p:cNvSpPr>
                  <p:nvPr/>
                </p:nvSpPr>
                <p:spPr bwMode="auto">
                  <a:xfrm>
                    <a:off x="1828800" y="5257800"/>
                    <a:ext cx="323808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40</a:t>
                    </a:r>
                  </a:p>
                </p:txBody>
              </p:sp>
              <p:sp>
                <p:nvSpPr>
                  <p:cNvPr id="13388" name="Rectangle 28"/>
                  <p:cNvSpPr>
                    <a:spLocks noChangeArrowheads="1"/>
                  </p:cNvSpPr>
                  <p:nvPr/>
                </p:nvSpPr>
                <p:spPr bwMode="auto">
                  <a:xfrm>
                    <a:off x="2057400" y="5257800"/>
                    <a:ext cx="323808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50</a:t>
                    </a:r>
                  </a:p>
                </p:txBody>
              </p:sp>
              <p:sp>
                <p:nvSpPr>
                  <p:cNvPr id="13389" name="Rectangle 35"/>
                  <p:cNvSpPr>
                    <a:spLocks noChangeArrowheads="1"/>
                  </p:cNvSpPr>
                  <p:nvPr/>
                </p:nvSpPr>
                <p:spPr bwMode="auto">
                  <a:xfrm>
                    <a:off x="609600" y="5257800"/>
                    <a:ext cx="253275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0</a:t>
                    </a:r>
                  </a:p>
                </p:txBody>
              </p:sp>
            </p:grpSp>
            <p:grpSp>
              <p:nvGrpSpPr>
                <p:cNvPr id="13337" name="Group 77"/>
                <p:cNvGrpSpPr>
                  <a:grpSpLocks/>
                </p:cNvGrpSpPr>
                <p:nvPr/>
              </p:nvGrpSpPr>
              <p:grpSpPr bwMode="auto">
                <a:xfrm>
                  <a:off x="2667000" y="3124200"/>
                  <a:ext cx="2743199" cy="2376462"/>
                  <a:chOff x="228601" y="3124994"/>
                  <a:chExt cx="2743199" cy="2376462"/>
                </a:xfrm>
              </p:grpSpPr>
              <p:grpSp>
                <p:nvGrpSpPr>
                  <p:cNvPr id="13359" name="Group 53"/>
                  <p:cNvGrpSpPr>
                    <a:grpSpLocks/>
                  </p:cNvGrpSpPr>
                  <p:nvPr/>
                </p:nvGrpSpPr>
                <p:grpSpPr bwMode="auto">
                  <a:xfrm>
                    <a:off x="837406" y="3124994"/>
                    <a:ext cx="2134394" cy="2058194"/>
                    <a:chOff x="837406" y="3124994"/>
                    <a:chExt cx="2134394" cy="2058194"/>
                  </a:xfrm>
                </p:grpSpPr>
                <p:cxnSp>
                  <p:nvCxnSpPr>
                    <p:cNvPr id="289" name="Straight Connector 288"/>
                    <p:cNvCxnSpPr/>
                    <p:nvPr/>
                  </p:nvCxnSpPr>
                  <p:spPr>
                    <a:xfrm rot="5400000">
                      <a:off x="-190507" y="4152546"/>
                      <a:ext cx="2056692" cy="1587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90" name="Straight Connector 289"/>
                    <p:cNvCxnSpPr/>
                    <p:nvPr/>
                  </p:nvCxnSpPr>
                  <p:spPr>
                    <a:xfrm>
                      <a:off x="837045" y="5181686"/>
                      <a:ext cx="2111673" cy="1587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91" name="Straight Connector 290"/>
                    <p:cNvCxnSpPr/>
                    <p:nvPr/>
                  </p:nvCxnSpPr>
                  <p:spPr>
                    <a:xfrm rot="16200000" flipH="1">
                      <a:off x="799309" y="3619883"/>
                      <a:ext cx="1523475" cy="990740"/>
                    </a:xfrm>
                    <a:prstGeom prst="line">
                      <a:avLst/>
                    </a:prstGeom>
                    <a:ln>
                      <a:solidFill>
                        <a:srgbClr val="0080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3360" name="Rectangle 18"/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-229859" y="4116059"/>
                    <a:ext cx="1160575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pPr algn="ctr"/>
                    <a:r>
                      <a:rPr lang="en-US" sz="1000" b="1"/>
                      <a:t>Price of cookies</a:t>
                    </a:r>
                  </a:p>
                </p:txBody>
              </p:sp>
              <p:sp>
                <p:nvSpPr>
                  <p:cNvPr id="13361" name="Rectangle 17"/>
                  <p:cNvSpPr>
                    <a:spLocks noChangeArrowheads="1"/>
                  </p:cNvSpPr>
                  <p:nvPr/>
                </p:nvSpPr>
                <p:spPr bwMode="auto">
                  <a:xfrm>
                    <a:off x="2286000" y="5257800"/>
                    <a:ext cx="679674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pPr algn="ctr"/>
                    <a:r>
                      <a:rPr lang="en-US" sz="1000" b="1"/>
                      <a:t>Cookies</a:t>
                    </a:r>
                  </a:p>
                </p:txBody>
              </p:sp>
              <p:sp>
                <p:nvSpPr>
                  <p:cNvPr id="13362" name="Rectangle 19"/>
                  <p:cNvSpPr>
                    <a:spLocks noChangeArrowheads="1"/>
                  </p:cNvSpPr>
                  <p:nvPr/>
                </p:nvSpPr>
                <p:spPr bwMode="auto">
                  <a:xfrm>
                    <a:off x="457200" y="4876800"/>
                    <a:ext cx="203325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2</a:t>
                    </a:r>
                  </a:p>
                </p:txBody>
              </p:sp>
              <p:sp>
                <p:nvSpPr>
                  <p:cNvPr id="13363" name="Rectangle 20"/>
                  <p:cNvSpPr>
                    <a:spLocks noChangeArrowheads="1"/>
                  </p:cNvSpPr>
                  <p:nvPr/>
                </p:nvSpPr>
                <p:spPr bwMode="auto">
                  <a:xfrm>
                    <a:off x="457200" y="4572000"/>
                    <a:ext cx="307975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4</a:t>
                    </a:r>
                  </a:p>
                </p:txBody>
              </p:sp>
              <p:sp>
                <p:nvSpPr>
                  <p:cNvPr id="13364" name="Rectangle 21"/>
                  <p:cNvSpPr>
                    <a:spLocks noChangeArrowheads="1"/>
                  </p:cNvSpPr>
                  <p:nvPr/>
                </p:nvSpPr>
                <p:spPr bwMode="auto">
                  <a:xfrm>
                    <a:off x="457200" y="4267200"/>
                    <a:ext cx="190406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6</a:t>
                    </a:r>
                  </a:p>
                </p:txBody>
              </p:sp>
              <p:sp>
                <p:nvSpPr>
                  <p:cNvPr id="13365" name="Rectangle 22"/>
                  <p:cNvSpPr>
                    <a:spLocks noChangeArrowheads="1"/>
                  </p:cNvSpPr>
                  <p:nvPr/>
                </p:nvSpPr>
                <p:spPr bwMode="auto">
                  <a:xfrm>
                    <a:off x="457200" y="3886200"/>
                    <a:ext cx="164008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8</a:t>
                    </a:r>
                  </a:p>
                </p:txBody>
              </p:sp>
              <p:sp>
                <p:nvSpPr>
                  <p:cNvPr id="13366" name="Rectangle 23"/>
                  <p:cNvSpPr>
                    <a:spLocks noChangeArrowheads="1"/>
                  </p:cNvSpPr>
                  <p:nvPr/>
                </p:nvSpPr>
                <p:spPr bwMode="auto">
                  <a:xfrm>
                    <a:off x="381000" y="3581400"/>
                    <a:ext cx="381000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10</a:t>
                    </a:r>
                  </a:p>
                </p:txBody>
              </p:sp>
              <p:sp>
                <p:nvSpPr>
                  <p:cNvPr id="13367" name="Rectangle 24"/>
                  <p:cNvSpPr>
                    <a:spLocks noChangeArrowheads="1"/>
                  </p:cNvSpPr>
                  <p:nvPr/>
                </p:nvSpPr>
                <p:spPr bwMode="auto">
                  <a:xfrm>
                    <a:off x="990600" y="5257800"/>
                    <a:ext cx="253275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5</a:t>
                    </a:r>
                  </a:p>
                </p:txBody>
              </p:sp>
              <p:sp>
                <p:nvSpPr>
                  <p:cNvPr id="13368" name="Rectangle 25"/>
                  <p:cNvSpPr>
                    <a:spLocks noChangeArrowheads="1"/>
                  </p:cNvSpPr>
                  <p:nvPr/>
                </p:nvSpPr>
                <p:spPr bwMode="auto">
                  <a:xfrm>
                    <a:off x="1295400" y="5257800"/>
                    <a:ext cx="323808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10</a:t>
                    </a:r>
                  </a:p>
                </p:txBody>
              </p:sp>
              <p:sp>
                <p:nvSpPr>
                  <p:cNvPr id="13369" name="Rectangle 26"/>
                  <p:cNvSpPr>
                    <a:spLocks noChangeArrowheads="1"/>
                  </p:cNvSpPr>
                  <p:nvPr/>
                </p:nvSpPr>
                <p:spPr bwMode="auto">
                  <a:xfrm>
                    <a:off x="1524000" y="5257800"/>
                    <a:ext cx="323808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15</a:t>
                    </a:r>
                  </a:p>
                </p:txBody>
              </p:sp>
              <p:sp>
                <p:nvSpPr>
                  <p:cNvPr id="13370" name="Rectangle 27"/>
                  <p:cNvSpPr>
                    <a:spLocks noChangeArrowheads="1"/>
                  </p:cNvSpPr>
                  <p:nvPr/>
                </p:nvSpPr>
                <p:spPr bwMode="auto">
                  <a:xfrm>
                    <a:off x="1828800" y="5257800"/>
                    <a:ext cx="323808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20</a:t>
                    </a:r>
                  </a:p>
                </p:txBody>
              </p:sp>
              <p:sp>
                <p:nvSpPr>
                  <p:cNvPr id="13371" name="Rectangle 28"/>
                  <p:cNvSpPr>
                    <a:spLocks noChangeArrowheads="1"/>
                  </p:cNvSpPr>
                  <p:nvPr/>
                </p:nvSpPr>
                <p:spPr bwMode="auto">
                  <a:xfrm>
                    <a:off x="2057400" y="5257800"/>
                    <a:ext cx="323808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25</a:t>
                    </a:r>
                  </a:p>
                </p:txBody>
              </p:sp>
              <p:sp>
                <p:nvSpPr>
                  <p:cNvPr id="13372" name="Rectangle 35"/>
                  <p:cNvSpPr>
                    <a:spLocks noChangeArrowheads="1"/>
                  </p:cNvSpPr>
                  <p:nvPr/>
                </p:nvSpPr>
                <p:spPr bwMode="auto">
                  <a:xfrm>
                    <a:off x="609600" y="5257800"/>
                    <a:ext cx="253275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0</a:t>
                    </a:r>
                  </a:p>
                </p:txBody>
              </p:sp>
            </p:grpSp>
            <p:grpSp>
              <p:nvGrpSpPr>
                <p:cNvPr id="13338" name="Group 95"/>
                <p:cNvGrpSpPr>
                  <a:grpSpLocks/>
                </p:cNvGrpSpPr>
                <p:nvPr/>
              </p:nvGrpSpPr>
              <p:grpSpPr bwMode="auto">
                <a:xfrm>
                  <a:off x="5410200" y="3124200"/>
                  <a:ext cx="2743199" cy="2376462"/>
                  <a:chOff x="228601" y="3124994"/>
                  <a:chExt cx="2743199" cy="2376462"/>
                </a:xfrm>
              </p:grpSpPr>
              <p:grpSp>
                <p:nvGrpSpPr>
                  <p:cNvPr id="13342" name="Group 53"/>
                  <p:cNvGrpSpPr>
                    <a:grpSpLocks/>
                  </p:cNvGrpSpPr>
                  <p:nvPr/>
                </p:nvGrpSpPr>
                <p:grpSpPr bwMode="auto">
                  <a:xfrm>
                    <a:off x="837406" y="3124994"/>
                    <a:ext cx="2134394" cy="2058194"/>
                    <a:chOff x="837406" y="3124994"/>
                    <a:chExt cx="2134394" cy="2058194"/>
                  </a:xfrm>
                </p:grpSpPr>
                <p:cxnSp>
                  <p:nvCxnSpPr>
                    <p:cNvPr id="272" name="Straight Connector 271"/>
                    <p:cNvCxnSpPr/>
                    <p:nvPr/>
                  </p:nvCxnSpPr>
                  <p:spPr>
                    <a:xfrm rot="5400000">
                      <a:off x="-213937" y="4152546"/>
                      <a:ext cx="2056692" cy="1588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73" name="Straight Connector 272"/>
                    <p:cNvCxnSpPr/>
                    <p:nvPr/>
                  </p:nvCxnSpPr>
                  <p:spPr>
                    <a:xfrm>
                      <a:off x="815203" y="5181686"/>
                      <a:ext cx="2156129" cy="1587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74" name="Straight Connector 273"/>
                    <p:cNvCxnSpPr/>
                    <p:nvPr/>
                  </p:nvCxnSpPr>
                  <p:spPr>
                    <a:xfrm rot="16200000" flipH="1">
                      <a:off x="777467" y="3619883"/>
                      <a:ext cx="1523475" cy="990740"/>
                    </a:xfrm>
                    <a:prstGeom prst="line">
                      <a:avLst/>
                    </a:prstGeom>
                    <a:ln>
                      <a:solidFill>
                        <a:srgbClr val="FF3300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3343" name="Rectangle 18"/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-229859" y="4116059"/>
                    <a:ext cx="1160575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pPr algn="ctr"/>
                    <a:r>
                      <a:rPr lang="en-US" sz="1000" b="1"/>
                      <a:t>Price of cookies</a:t>
                    </a:r>
                  </a:p>
                </p:txBody>
              </p:sp>
              <p:sp>
                <p:nvSpPr>
                  <p:cNvPr id="13344" name="Rectangle 17"/>
                  <p:cNvSpPr>
                    <a:spLocks noChangeArrowheads="1"/>
                  </p:cNvSpPr>
                  <p:nvPr/>
                </p:nvSpPr>
                <p:spPr bwMode="auto">
                  <a:xfrm>
                    <a:off x="2286000" y="5257800"/>
                    <a:ext cx="679674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pPr algn="ctr"/>
                    <a:r>
                      <a:rPr lang="en-US" sz="1000" b="1"/>
                      <a:t>Cookies</a:t>
                    </a:r>
                  </a:p>
                </p:txBody>
              </p:sp>
              <p:sp>
                <p:nvSpPr>
                  <p:cNvPr id="13345" name="Rectangle 19"/>
                  <p:cNvSpPr>
                    <a:spLocks noChangeArrowheads="1"/>
                  </p:cNvSpPr>
                  <p:nvPr/>
                </p:nvSpPr>
                <p:spPr bwMode="auto">
                  <a:xfrm>
                    <a:off x="457200" y="4876800"/>
                    <a:ext cx="203325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2</a:t>
                    </a:r>
                  </a:p>
                </p:txBody>
              </p:sp>
              <p:sp>
                <p:nvSpPr>
                  <p:cNvPr id="13346" name="Rectangle 20"/>
                  <p:cNvSpPr>
                    <a:spLocks noChangeArrowheads="1"/>
                  </p:cNvSpPr>
                  <p:nvPr/>
                </p:nvSpPr>
                <p:spPr bwMode="auto">
                  <a:xfrm>
                    <a:off x="457200" y="4572000"/>
                    <a:ext cx="307975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4</a:t>
                    </a:r>
                  </a:p>
                </p:txBody>
              </p:sp>
              <p:sp>
                <p:nvSpPr>
                  <p:cNvPr id="13347" name="Rectangle 21"/>
                  <p:cNvSpPr>
                    <a:spLocks noChangeArrowheads="1"/>
                  </p:cNvSpPr>
                  <p:nvPr/>
                </p:nvSpPr>
                <p:spPr bwMode="auto">
                  <a:xfrm>
                    <a:off x="457200" y="4267200"/>
                    <a:ext cx="190406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6</a:t>
                    </a:r>
                  </a:p>
                </p:txBody>
              </p:sp>
              <p:sp>
                <p:nvSpPr>
                  <p:cNvPr id="13348" name="Rectangle 22"/>
                  <p:cNvSpPr>
                    <a:spLocks noChangeArrowheads="1"/>
                  </p:cNvSpPr>
                  <p:nvPr/>
                </p:nvSpPr>
                <p:spPr bwMode="auto">
                  <a:xfrm>
                    <a:off x="457200" y="3886200"/>
                    <a:ext cx="164008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8</a:t>
                    </a:r>
                  </a:p>
                </p:txBody>
              </p:sp>
              <p:sp>
                <p:nvSpPr>
                  <p:cNvPr id="13349" name="Rectangle 23"/>
                  <p:cNvSpPr>
                    <a:spLocks noChangeArrowheads="1"/>
                  </p:cNvSpPr>
                  <p:nvPr/>
                </p:nvSpPr>
                <p:spPr bwMode="auto">
                  <a:xfrm>
                    <a:off x="381000" y="3581400"/>
                    <a:ext cx="381000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10</a:t>
                    </a:r>
                  </a:p>
                </p:txBody>
              </p:sp>
              <p:sp>
                <p:nvSpPr>
                  <p:cNvPr id="13350" name="Rectangle 24"/>
                  <p:cNvSpPr>
                    <a:spLocks noChangeArrowheads="1"/>
                  </p:cNvSpPr>
                  <p:nvPr/>
                </p:nvSpPr>
                <p:spPr bwMode="auto">
                  <a:xfrm>
                    <a:off x="990600" y="5257800"/>
                    <a:ext cx="323808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15</a:t>
                    </a:r>
                  </a:p>
                </p:txBody>
              </p:sp>
              <p:sp>
                <p:nvSpPr>
                  <p:cNvPr id="13351" name="Rectangle 25"/>
                  <p:cNvSpPr>
                    <a:spLocks noChangeArrowheads="1"/>
                  </p:cNvSpPr>
                  <p:nvPr/>
                </p:nvSpPr>
                <p:spPr bwMode="auto">
                  <a:xfrm>
                    <a:off x="1295400" y="5257800"/>
                    <a:ext cx="323808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30</a:t>
                    </a:r>
                  </a:p>
                </p:txBody>
              </p:sp>
              <p:sp>
                <p:nvSpPr>
                  <p:cNvPr id="13352" name="Rectangle 26"/>
                  <p:cNvSpPr>
                    <a:spLocks noChangeArrowheads="1"/>
                  </p:cNvSpPr>
                  <p:nvPr/>
                </p:nvSpPr>
                <p:spPr bwMode="auto">
                  <a:xfrm>
                    <a:off x="1524000" y="5257800"/>
                    <a:ext cx="323808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45</a:t>
                    </a:r>
                  </a:p>
                </p:txBody>
              </p:sp>
              <p:sp>
                <p:nvSpPr>
                  <p:cNvPr id="13353" name="Rectangle 27"/>
                  <p:cNvSpPr>
                    <a:spLocks noChangeArrowheads="1"/>
                  </p:cNvSpPr>
                  <p:nvPr/>
                </p:nvSpPr>
                <p:spPr bwMode="auto">
                  <a:xfrm>
                    <a:off x="1828800" y="5257800"/>
                    <a:ext cx="323808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60</a:t>
                    </a:r>
                  </a:p>
                </p:txBody>
              </p:sp>
              <p:sp>
                <p:nvSpPr>
                  <p:cNvPr id="13354" name="Rectangle 28"/>
                  <p:cNvSpPr>
                    <a:spLocks noChangeArrowheads="1"/>
                  </p:cNvSpPr>
                  <p:nvPr/>
                </p:nvSpPr>
                <p:spPr bwMode="auto">
                  <a:xfrm>
                    <a:off x="2057400" y="5257800"/>
                    <a:ext cx="323808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75</a:t>
                    </a:r>
                  </a:p>
                </p:txBody>
              </p:sp>
              <p:sp>
                <p:nvSpPr>
                  <p:cNvPr id="13355" name="Rectangle 35"/>
                  <p:cNvSpPr>
                    <a:spLocks noChangeArrowheads="1"/>
                  </p:cNvSpPr>
                  <p:nvPr/>
                </p:nvSpPr>
                <p:spPr bwMode="auto">
                  <a:xfrm>
                    <a:off x="609600" y="5257800"/>
                    <a:ext cx="253275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0</a:t>
                    </a:r>
                  </a:p>
                </p:txBody>
              </p:sp>
            </p:grpSp>
            <p:sp>
              <p:nvSpPr>
                <p:cNvPr id="13339" name="Rectangle 17"/>
                <p:cNvSpPr>
                  <a:spLocks noChangeArrowheads="1"/>
                </p:cNvSpPr>
                <p:nvPr/>
              </p:nvSpPr>
              <p:spPr bwMode="auto">
                <a:xfrm>
                  <a:off x="1524000" y="3200400"/>
                  <a:ext cx="522581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pPr algn="ctr"/>
                  <a:r>
                    <a:rPr lang="en-US" sz="1000" b="1"/>
                    <a:t>Steve</a:t>
                  </a:r>
                </a:p>
              </p:txBody>
            </p:sp>
            <p:sp>
              <p:nvSpPr>
                <p:cNvPr id="13340" name="Rectangle 17"/>
                <p:cNvSpPr>
                  <a:spLocks noChangeArrowheads="1"/>
                </p:cNvSpPr>
                <p:nvPr/>
              </p:nvSpPr>
              <p:spPr bwMode="auto">
                <a:xfrm>
                  <a:off x="4114800" y="3276600"/>
                  <a:ext cx="458460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pPr algn="ctr"/>
                  <a:r>
                    <a:rPr lang="en-US" sz="1000" b="1"/>
                    <a:t>Sara</a:t>
                  </a:r>
                </a:p>
              </p:txBody>
            </p:sp>
            <p:sp>
              <p:nvSpPr>
                <p:cNvPr id="13341" name="Rectangle 17"/>
                <p:cNvSpPr>
                  <a:spLocks noChangeArrowheads="1"/>
                </p:cNvSpPr>
                <p:nvPr/>
              </p:nvSpPr>
              <p:spPr bwMode="auto">
                <a:xfrm>
                  <a:off x="6858000" y="3200400"/>
                  <a:ext cx="594716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pPr algn="ctr"/>
                  <a:r>
                    <a:rPr lang="en-US" sz="1000" b="1"/>
                    <a:t>Market</a:t>
                  </a:r>
                </a:p>
              </p:txBody>
            </p:sp>
          </p:grpSp>
          <p:grpSp>
            <p:nvGrpSpPr>
              <p:cNvPr id="13324" name="Group 89"/>
              <p:cNvGrpSpPr>
                <a:grpSpLocks/>
              </p:cNvGrpSpPr>
              <p:nvPr/>
            </p:nvGrpSpPr>
            <p:grpSpPr bwMode="auto">
              <a:xfrm>
                <a:off x="885371" y="4898570"/>
                <a:ext cx="986971" cy="863601"/>
                <a:chOff x="885371" y="4898570"/>
                <a:chExt cx="986971" cy="863601"/>
              </a:xfrm>
            </p:grpSpPr>
            <p:cxnSp>
              <p:nvCxnSpPr>
                <p:cNvPr id="13333" name="Straight Connector 248"/>
                <p:cNvCxnSpPr>
                  <a:cxnSpLocks noChangeShapeType="1"/>
                </p:cNvCxnSpPr>
                <p:nvPr/>
              </p:nvCxnSpPr>
              <p:spPr bwMode="auto">
                <a:xfrm>
                  <a:off x="885371" y="4978400"/>
                  <a:ext cx="899886" cy="1588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sysDash"/>
                  <a:round/>
                  <a:headEnd/>
                  <a:tailEnd/>
                </a:ln>
              </p:spPr>
            </p:cxnSp>
            <p:cxnSp>
              <p:nvCxnSpPr>
                <p:cNvPr id="13334" name="Straight Connector 249"/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1393372" y="5384800"/>
                  <a:ext cx="740228" cy="14514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sysDash"/>
                  <a:round/>
                  <a:headEnd/>
                  <a:tailEnd/>
                </a:ln>
              </p:spPr>
            </p:cxnSp>
            <p:sp>
              <p:nvSpPr>
                <p:cNvPr id="13335" name="Flowchart: Connector 250"/>
                <p:cNvSpPr>
                  <a:spLocks noChangeArrowheads="1"/>
                </p:cNvSpPr>
                <p:nvPr/>
              </p:nvSpPr>
              <p:spPr bwMode="auto">
                <a:xfrm>
                  <a:off x="1763485" y="4898570"/>
                  <a:ext cx="108857" cy="130629"/>
                </a:xfrm>
                <a:prstGeom prst="flowChartConnector">
                  <a:avLst/>
                </a:prstGeom>
                <a:solidFill>
                  <a:schemeClr val="accent2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grpSp>
            <p:nvGrpSpPr>
              <p:cNvPr id="13325" name="Group 98"/>
              <p:cNvGrpSpPr>
                <a:grpSpLocks/>
              </p:cNvGrpSpPr>
              <p:nvPr/>
            </p:nvGrpSpPr>
            <p:grpSpPr bwMode="auto">
              <a:xfrm>
                <a:off x="3316515" y="4905827"/>
                <a:ext cx="986971" cy="863601"/>
                <a:chOff x="3316515" y="4905827"/>
                <a:chExt cx="986971" cy="863601"/>
              </a:xfrm>
            </p:grpSpPr>
            <p:cxnSp>
              <p:nvCxnSpPr>
                <p:cNvPr id="13330" name="Straight Connector 245"/>
                <p:cNvCxnSpPr>
                  <a:cxnSpLocks noChangeShapeType="1"/>
                </p:cNvCxnSpPr>
                <p:nvPr/>
              </p:nvCxnSpPr>
              <p:spPr bwMode="auto">
                <a:xfrm>
                  <a:off x="3316515" y="4985657"/>
                  <a:ext cx="899886" cy="1588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sysDash"/>
                  <a:round/>
                  <a:headEnd/>
                  <a:tailEnd/>
                </a:ln>
              </p:spPr>
            </p:cxnSp>
            <p:cxnSp>
              <p:nvCxnSpPr>
                <p:cNvPr id="13331" name="Straight Connector 246"/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3824516" y="5392057"/>
                  <a:ext cx="740228" cy="14514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sysDash"/>
                  <a:round/>
                  <a:headEnd/>
                  <a:tailEnd/>
                </a:ln>
              </p:spPr>
            </p:cxnSp>
            <p:sp>
              <p:nvSpPr>
                <p:cNvPr id="248" name="Flowchart: Connector 247"/>
                <p:cNvSpPr/>
                <p:nvPr/>
              </p:nvSpPr>
              <p:spPr bwMode="auto">
                <a:xfrm>
                  <a:off x="4194047" y="4906095"/>
                  <a:ext cx="109552" cy="130130"/>
                </a:xfrm>
                <a:prstGeom prst="flowChartConnector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/>
                <a:lstStyle/>
                <a:p>
                  <a:pPr>
                    <a:defRPr/>
                  </a:pPr>
                  <a:endParaRPr lang="en-US">
                    <a:ln>
                      <a:solidFill>
                        <a:srgbClr val="008000"/>
                      </a:solidFill>
                    </a:ln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3326" name="Group 99"/>
              <p:cNvGrpSpPr>
                <a:grpSpLocks/>
              </p:cNvGrpSpPr>
              <p:nvPr/>
            </p:nvGrpSpPr>
            <p:grpSpPr bwMode="auto">
              <a:xfrm>
                <a:off x="6095999" y="4927599"/>
                <a:ext cx="986971" cy="863601"/>
                <a:chOff x="6095999" y="4927599"/>
                <a:chExt cx="986971" cy="863601"/>
              </a:xfrm>
            </p:grpSpPr>
            <p:cxnSp>
              <p:nvCxnSpPr>
                <p:cNvPr id="13327" name="Straight Connector 242"/>
                <p:cNvCxnSpPr>
                  <a:cxnSpLocks noChangeShapeType="1"/>
                </p:cNvCxnSpPr>
                <p:nvPr/>
              </p:nvCxnSpPr>
              <p:spPr bwMode="auto">
                <a:xfrm>
                  <a:off x="6095999" y="5007429"/>
                  <a:ext cx="899886" cy="1588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sysDash"/>
                  <a:round/>
                  <a:headEnd/>
                  <a:tailEnd/>
                </a:ln>
              </p:spPr>
            </p:cxnSp>
            <p:cxnSp>
              <p:nvCxnSpPr>
                <p:cNvPr id="13328" name="Straight Connector 243"/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6604000" y="5413829"/>
                  <a:ext cx="740228" cy="14514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sysDash"/>
                  <a:round/>
                  <a:headEnd/>
                  <a:tailEnd/>
                </a:ln>
              </p:spPr>
            </p:cxnSp>
            <p:sp>
              <p:nvSpPr>
                <p:cNvPr id="13329" name="Flowchart: Connector 244"/>
                <p:cNvSpPr>
                  <a:spLocks noChangeArrowheads="1"/>
                </p:cNvSpPr>
                <p:nvPr/>
              </p:nvSpPr>
              <p:spPr bwMode="auto">
                <a:xfrm>
                  <a:off x="6974113" y="4927599"/>
                  <a:ext cx="108857" cy="130629"/>
                </a:xfrm>
                <a:prstGeom prst="flowChartConnector">
                  <a:avLst/>
                </a:prstGeom>
                <a:solidFill>
                  <a:srgbClr val="FF0000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</p:grpSp>
        <p:sp>
          <p:nvSpPr>
            <p:cNvPr id="13322" name="Rectangle 17"/>
            <p:cNvSpPr>
              <a:spLocks noChangeArrowheads="1"/>
            </p:cNvSpPr>
            <p:nvPr/>
          </p:nvSpPr>
          <p:spPr bwMode="auto">
            <a:xfrm>
              <a:off x="7696200" y="3581400"/>
              <a:ext cx="940964" cy="24365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/>
              <a:r>
                <a:rPr lang="en-US" sz="1000" b="1"/>
                <a:t>Market Price</a:t>
              </a:r>
            </a:p>
          </p:txBody>
        </p:sp>
      </p:grp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/>
      <p:bldP spid="77" grpId="0"/>
      <p:bldP spid="7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Demand, Marginal Benefit &amp; Consumer Surplus</a:t>
            </a:r>
          </a:p>
        </p:txBody>
      </p:sp>
      <p:sp>
        <p:nvSpPr>
          <p:cNvPr id="75" name="Rectangle 9"/>
          <p:cNvSpPr>
            <a:spLocks noChangeArrowheads="1"/>
          </p:cNvSpPr>
          <p:nvPr/>
        </p:nvSpPr>
        <p:spPr bwMode="auto">
          <a:xfrm>
            <a:off x="381000" y="1447800"/>
            <a:ext cx="8305800" cy="1354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114300" lvl="1">
              <a:spcBef>
                <a:spcPct val="25000"/>
              </a:spcBef>
              <a:spcAft>
                <a:spcPct val="25000"/>
              </a:spcAft>
              <a:buClr>
                <a:srgbClr val="FF0000"/>
              </a:buClr>
              <a:buFont typeface="Wingdings" pitchFamily="2" charset="2"/>
              <a:buNone/>
            </a:pPr>
            <a:r>
              <a:rPr lang="en-US" sz="2400"/>
              <a:t>At $6 a box, Steve buys 30 boxes.</a:t>
            </a:r>
          </a:p>
          <a:p>
            <a:pPr marL="114300" lvl="1">
              <a:spcBef>
                <a:spcPct val="25000"/>
              </a:spcBef>
              <a:spcAft>
                <a:spcPct val="25000"/>
              </a:spcAft>
              <a:buClr>
                <a:srgbClr val="FF0000"/>
              </a:buClr>
              <a:buFont typeface="Wingdings" pitchFamily="2" charset="2"/>
              <a:buNone/>
            </a:pPr>
            <a:r>
              <a:rPr lang="en-US" sz="2400"/>
              <a:t>So his consumer surplus is the area of the green triangle.</a:t>
            </a:r>
          </a:p>
        </p:txBody>
      </p:sp>
      <p:grpSp>
        <p:nvGrpSpPr>
          <p:cNvPr id="14341" name="Group 234"/>
          <p:cNvGrpSpPr>
            <a:grpSpLocks/>
          </p:cNvGrpSpPr>
          <p:nvPr/>
        </p:nvGrpSpPr>
        <p:grpSpPr bwMode="auto">
          <a:xfrm>
            <a:off x="276225" y="3974811"/>
            <a:ext cx="8255000" cy="2378075"/>
            <a:chOff x="381000" y="2667000"/>
            <a:chExt cx="8256164" cy="2377256"/>
          </a:xfrm>
        </p:grpSpPr>
        <p:cxnSp>
          <p:nvCxnSpPr>
            <p:cNvPr id="237" name="Straight Connector 236"/>
            <p:cNvCxnSpPr/>
            <p:nvPr/>
          </p:nvCxnSpPr>
          <p:spPr>
            <a:xfrm flipV="1">
              <a:off x="990686" y="3961954"/>
              <a:ext cx="7238434" cy="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4343" name="Group 62"/>
            <p:cNvGrpSpPr>
              <a:grpSpLocks/>
            </p:cNvGrpSpPr>
            <p:nvPr/>
          </p:nvGrpSpPr>
          <p:grpSpPr bwMode="auto">
            <a:xfrm>
              <a:off x="381000" y="2667000"/>
              <a:ext cx="7924798" cy="2377256"/>
              <a:chOff x="286658" y="3704771"/>
              <a:chExt cx="7924798" cy="2377256"/>
            </a:xfrm>
          </p:grpSpPr>
          <p:grpSp>
            <p:nvGrpSpPr>
              <p:cNvPr id="14345" name="Group 6"/>
              <p:cNvGrpSpPr>
                <a:grpSpLocks/>
              </p:cNvGrpSpPr>
              <p:nvPr/>
            </p:nvGrpSpPr>
            <p:grpSpPr bwMode="auto">
              <a:xfrm>
                <a:off x="286658" y="3704771"/>
                <a:ext cx="7924798" cy="2377256"/>
                <a:chOff x="228601" y="3124200"/>
                <a:chExt cx="7924798" cy="2377256"/>
              </a:xfrm>
            </p:grpSpPr>
            <p:grpSp>
              <p:nvGrpSpPr>
                <p:cNvPr id="14358" name="Group 76"/>
                <p:cNvGrpSpPr>
                  <a:grpSpLocks/>
                </p:cNvGrpSpPr>
                <p:nvPr/>
              </p:nvGrpSpPr>
              <p:grpSpPr bwMode="auto">
                <a:xfrm>
                  <a:off x="228601" y="3124994"/>
                  <a:ext cx="2743199" cy="2376462"/>
                  <a:chOff x="228601" y="3124994"/>
                  <a:chExt cx="2743199" cy="2376462"/>
                </a:xfrm>
              </p:grpSpPr>
              <p:grpSp>
                <p:nvGrpSpPr>
                  <p:cNvPr id="14398" name="Group 53"/>
                  <p:cNvGrpSpPr>
                    <a:grpSpLocks/>
                  </p:cNvGrpSpPr>
                  <p:nvPr/>
                </p:nvGrpSpPr>
                <p:grpSpPr bwMode="auto">
                  <a:xfrm>
                    <a:off x="837406" y="3124994"/>
                    <a:ext cx="2134394" cy="2058194"/>
                    <a:chOff x="837406" y="3124994"/>
                    <a:chExt cx="2134394" cy="2058194"/>
                  </a:xfrm>
                </p:grpSpPr>
                <p:cxnSp>
                  <p:nvCxnSpPr>
                    <p:cNvPr id="306" name="Straight Connector 4"/>
                    <p:cNvCxnSpPr/>
                    <p:nvPr/>
                  </p:nvCxnSpPr>
                  <p:spPr>
                    <a:xfrm rot="5400000">
                      <a:off x="-201167" y="4165241"/>
                      <a:ext cx="2077322" cy="1587"/>
                    </a:xfrm>
                    <a:prstGeom prst="line">
                      <a:avLst/>
                    </a:prstGeom>
                    <a:ln>
                      <a:solidFill>
                        <a:schemeClr val="tx2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7" name="Straight Connector 306"/>
                    <p:cNvCxnSpPr/>
                    <p:nvPr/>
                  </p:nvCxnSpPr>
                  <p:spPr>
                    <a:xfrm>
                      <a:off x="838287" y="5204697"/>
                      <a:ext cx="2133901" cy="1586"/>
                    </a:xfrm>
                    <a:prstGeom prst="line">
                      <a:avLst/>
                    </a:prstGeom>
                    <a:ln>
                      <a:solidFill>
                        <a:schemeClr val="tx2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8" name="Straight Connector 8"/>
                    <p:cNvCxnSpPr/>
                    <p:nvPr/>
                  </p:nvCxnSpPr>
                  <p:spPr>
                    <a:xfrm rot="16200000" flipH="1">
                      <a:off x="800552" y="3642894"/>
                      <a:ext cx="1523475" cy="990740"/>
                    </a:xfrm>
                    <a:prstGeom prst="line">
                      <a:avLst/>
                    </a:prstGeom>
                    <a:ln>
                      <a:solidFill>
                        <a:schemeClr val="accent2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4399" name="Rectangle 18"/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-229859" y="4116059"/>
                    <a:ext cx="1160575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pPr algn="ctr"/>
                    <a:r>
                      <a:rPr lang="en-US" sz="1000" b="1"/>
                      <a:t>Price of cookies</a:t>
                    </a:r>
                  </a:p>
                </p:txBody>
              </p:sp>
              <p:sp>
                <p:nvSpPr>
                  <p:cNvPr id="14400" name="Rectangle 17"/>
                  <p:cNvSpPr>
                    <a:spLocks noChangeArrowheads="1"/>
                  </p:cNvSpPr>
                  <p:nvPr/>
                </p:nvSpPr>
                <p:spPr bwMode="auto">
                  <a:xfrm>
                    <a:off x="2286000" y="5257800"/>
                    <a:ext cx="679674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pPr algn="ctr"/>
                    <a:r>
                      <a:rPr lang="en-US" sz="1000" b="1"/>
                      <a:t>Cookies</a:t>
                    </a:r>
                  </a:p>
                </p:txBody>
              </p:sp>
              <p:sp>
                <p:nvSpPr>
                  <p:cNvPr id="14401" name="Rectangle 19"/>
                  <p:cNvSpPr>
                    <a:spLocks noChangeArrowheads="1"/>
                  </p:cNvSpPr>
                  <p:nvPr/>
                </p:nvSpPr>
                <p:spPr bwMode="auto">
                  <a:xfrm>
                    <a:off x="457200" y="4876800"/>
                    <a:ext cx="203325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2</a:t>
                    </a:r>
                  </a:p>
                </p:txBody>
              </p:sp>
              <p:sp>
                <p:nvSpPr>
                  <p:cNvPr id="14402" name="Rectangle 20"/>
                  <p:cNvSpPr>
                    <a:spLocks noChangeArrowheads="1"/>
                  </p:cNvSpPr>
                  <p:nvPr/>
                </p:nvSpPr>
                <p:spPr bwMode="auto">
                  <a:xfrm>
                    <a:off x="457200" y="4572000"/>
                    <a:ext cx="307975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4</a:t>
                    </a:r>
                  </a:p>
                </p:txBody>
              </p:sp>
              <p:sp>
                <p:nvSpPr>
                  <p:cNvPr id="14403" name="Rectangle 21"/>
                  <p:cNvSpPr>
                    <a:spLocks noChangeArrowheads="1"/>
                  </p:cNvSpPr>
                  <p:nvPr/>
                </p:nvSpPr>
                <p:spPr bwMode="auto">
                  <a:xfrm>
                    <a:off x="457200" y="4267200"/>
                    <a:ext cx="190406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6</a:t>
                    </a:r>
                  </a:p>
                </p:txBody>
              </p:sp>
              <p:sp>
                <p:nvSpPr>
                  <p:cNvPr id="14404" name="Rectangle 22"/>
                  <p:cNvSpPr>
                    <a:spLocks noChangeArrowheads="1"/>
                  </p:cNvSpPr>
                  <p:nvPr/>
                </p:nvSpPr>
                <p:spPr bwMode="auto">
                  <a:xfrm>
                    <a:off x="457200" y="3886200"/>
                    <a:ext cx="164008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8</a:t>
                    </a:r>
                  </a:p>
                </p:txBody>
              </p:sp>
              <p:sp>
                <p:nvSpPr>
                  <p:cNvPr id="14405" name="Rectangle 23"/>
                  <p:cNvSpPr>
                    <a:spLocks noChangeArrowheads="1"/>
                  </p:cNvSpPr>
                  <p:nvPr/>
                </p:nvSpPr>
                <p:spPr bwMode="auto">
                  <a:xfrm>
                    <a:off x="381000" y="3581400"/>
                    <a:ext cx="381000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10</a:t>
                    </a:r>
                  </a:p>
                </p:txBody>
              </p:sp>
              <p:sp>
                <p:nvSpPr>
                  <p:cNvPr id="14406" name="Rectangle 24"/>
                  <p:cNvSpPr>
                    <a:spLocks noChangeArrowheads="1"/>
                  </p:cNvSpPr>
                  <p:nvPr/>
                </p:nvSpPr>
                <p:spPr bwMode="auto">
                  <a:xfrm>
                    <a:off x="990600" y="5257800"/>
                    <a:ext cx="323808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10</a:t>
                    </a:r>
                  </a:p>
                </p:txBody>
              </p:sp>
              <p:sp>
                <p:nvSpPr>
                  <p:cNvPr id="14407" name="Rectangle 25"/>
                  <p:cNvSpPr>
                    <a:spLocks noChangeArrowheads="1"/>
                  </p:cNvSpPr>
                  <p:nvPr/>
                </p:nvSpPr>
                <p:spPr bwMode="auto">
                  <a:xfrm>
                    <a:off x="1295400" y="5257800"/>
                    <a:ext cx="323808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20</a:t>
                    </a:r>
                  </a:p>
                </p:txBody>
              </p:sp>
              <p:sp>
                <p:nvSpPr>
                  <p:cNvPr id="14408" name="Rectangle 26"/>
                  <p:cNvSpPr>
                    <a:spLocks noChangeArrowheads="1"/>
                  </p:cNvSpPr>
                  <p:nvPr/>
                </p:nvSpPr>
                <p:spPr bwMode="auto">
                  <a:xfrm>
                    <a:off x="1524000" y="5257800"/>
                    <a:ext cx="323808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30</a:t>
                    </a:r>
                  </a:p>
                </p:txBody>
              </p:sp>
              <p:sp>
                <p:nvSpPr>
                  <p:cNvPr id="14409" name="Rectangle 27"/>
                  <p:cNvSpPr>
                    <a:spLocks noChangeArrowheads="1"/>
                  </p:cNvSpPr>
                  <p:nvPr/>
                </p:nvSpPr>
                <p:spPr bwMode="auto">
                  <a:xfrm>
                    <a:off x="1828800" y="5257800"/>
                    <a:ext cx="323808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40</a:t>
                    </a:r>
                  </a:p>
                </p:txBody>
              </p:sp>
              <p:sp>
                <p:nvSpPr>
                  <p:cNvPr id="14410" name="Rectangle 28"/>
                  <p:cNvSpPr>
                    <a:spLocks noChangeArrowheads="1"/>
                  </p:cNvSpPr>
                  <p:nvPr/>
                </p:nvSpPr>
                <p:spPr bwMode="auto">
                  <a:xfrm>
                    <a:off x="2057400" y="5257800"/>
                    <a:ext cx="323808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50</a:t>
                    </a:r>
                  </a:p>
                </p:txBody>
              </p:sp>
              <p:sp>
                <p:nvSpPr>
                  <p:cNvPr id="14411" name="Rectangle 35"/>
                  <p:cNvSpPr>
                    <a:spLocks noChangeArrowheads="1"/>
                  </p:cNvSpPr>
                  <p:nvPr/>
                </p:nvSpPr>
                <p:spPr bwMode="auto">
                  <a:xfrm>
                    <a:off x="609600" y="5257800"/>
                    <a:ext cx="253275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0</a:t>
                    </a:r>
                  </a:p>
                </p:txBody>
              </p:sp>
            </p:grpSp>
            <p:grpSp>
              <p:nvGrpSpPr>
                <p:cNvPr id="14359" name="Group 77"/>
                <p:cNvGrpSpPr>
                  <a:grpSpLocks/>
                </p:cNvGrpSpPr>
                <p:nvPr/>
              </p:nvGrpSpPr>
              <p:grpSpPr bwMode="auto">
                <a:xfrm>
                  <a:off x="2667000" y="3124200"/>
                  <a:ext cx="2743199" cy="2376462"/>
                  <a:chOff x="228601" y="3124994"/>
                  <a:chExt cx="2743199" cy="2376462"/>
                </a:xfrm>
              </p:grpSpPr>
              <p:grpSp>
                <p:nvGrpSpPr>
                  <p:cNvPr id="14381" name="Group 53"/>
                  <p:cNvGrpSpPr>
                    <a:grpSpLocks/>
                  </p:cNvGrpSpPr>
                  <p:nvPr/>
                </p:nvGrpSpPr>
                <p:grpSpPr bwMode="auto">
                  <a:xfrm>
                    <a:off x="837406" y="3124994"/>
                    <a:ext cx="2134394" cy="2058194"/>
                    <a:chOff x="837406" y="3124994"/>
                    <a:chExt cx="2134394" cy="2058194"/>
                  </a:xfrm>
                </p:grpSpPr>
                <p:cxnSp>
                  <p:nvCxnSpPr>
                    <p:cNvPr id="289" name="Straight Connector 288"/>
                    <p:cNvCxnSpPr/>
                    <p:nvPr/>
                  </p:nvCxnSpPr>
                  <p:spPr>
                    <a:xfrm rot="5400000">
                      <a:off x="-190507" y="4152546"/>
                      <a:ext cx="2056692" cy="1587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90" name="Straight Connector 289"/>
                    <p:cNvCxnSpPr/>
                    <p:nvPr/>
                  </p:nvCxnSpPr>
                  <p:spPr>
                    <a:xfrm>
                      <a:off x="837045" y="5181686"/>
                      <a:ext cx="2111673" cy="1587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91" name="Straight Connector 290"/>
                    <p:cNvCxnSpPr/>
                    <p:nvPr/>
                  </p:nvCxnSpPr>
                  <p:spPr>
                    <a:xfrm rot="16200000" flipH="1">
                      <a:off x="799309" y="3619883"/>
                      <a:ext cx="1523475" cy="990740"/>
                    </a:xfrm>
                    <a:prstGeom prst="line">
                      <a:avLst/>
                    </a:prstGeom>
                    <a:ln>
                      <a:solidFill>
                        <a:srgbClr val="0080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4382" name="Rectangle 18"/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-229859" y="4116059"/>
                    <a:ext cx="1160575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pPr algn="ctr"/>
                    <a:r>
                      <a:rPr lang="en-US" sz="1000" b="1"/>
                      <a:t>Price of cookies</a:t>
                    </a:r>
                  </a:p>
                </p:txBody>
              </p:sp>
              <p:sp>
                <p:nvSpPr>
                  <p:cNvPr id="14383" name="Rectangle 17"/>
                  <p:cNvSpPr>
                    <a:spLocks noChangeArrowheads="1"/>
                  </p:cNvSpPr>
                  <p:nvPr/>
                </p:nvSpPr>
                <p:spPr bwMode="auto">
                  <a:xfrm>
                    <a:off x="2286000" y="5257800"/>
                    <a:ext cx="679674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pPr algn="ctr"/>
                    <a:r>
                      <a:rPr lang="en-US" sz="1000" b="1"/>
                      <a:t>Cookies</a:t>
                    </a:r>
                  </a:p>
                </p:txBody>
              </p:sp>
              <p:sp>
                <p:nvSpPr>
                  <p:cNvPr id="14384" name="Rectangle 19"/>
                  <p:cNvSpPr>
                    <a:spLocks noChangeArrowheads="1"/>
                  </p:cNvSpPr>
                  <p:nvPr/>
                </p:nvSpPr>
                <p:spPr bwMode="auto">
                  <a:xfrm>
                    <a:off x="457200" y="4876800"/>
                    <a:ext cx="203325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2</a:t>
                    </a:r>
                  </a:p>
                </p:txBody>
              </p:sp>
              <p:sp>
                <p:nvSpPr>
                  <p:cNvPr id="14385" name="Rectangle 20"/>
                  <p:cNvSpPr>
                    <a:spLocks noChangeArrowheads="1"/>
                  </p:cNvSpPr>
                  <p:nvPr/>
                </p:nvSpPr>
                <p:spPr bwMode="auto">
                  <a:xfrm>
                    <a:off x="457200" y="4572000"/>
                    <a:ext cx="307975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4</a:t>
                    </a:r>
                  </a:p>
                </p:txBody>
              </p:sp>
              <p:sp>
                <p:nvSpPr>
                  <p:cNvPr id="14386" name="Rectangle 21"/>
                  <p:cNvSpPr>
                    <a:spLocks noChangeArrowheads="1"/>
                  </p:cNvSpPr>
                  <p:nvPr/>
                </p:nvSpPr>
                <p:spPr bwMode="auto">
                  <a:xfrm>
                    <a:off x="457200" y="4267200"/>
                    <a:ext cx="190406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6</a:t>
                    </a:r>
                  </a:p>
                </p:txBody>
              </p:sp>
              <p:sp>
                <p:nvSpPr>
                  <p:cNvPr id="14387" name="Rectangle 22"/>
                  <p:cNvSpPr>
                    <a:spLocks noChangeArrowheads="1"/>
                  </p:cNvSpPr>
                  <p:nvPr/>
                </p:nvSpPr>
                <p:spPr bwMode="auto">
                  <a:xfrm>
                    <a:off x="457200" y="3886200"/>
                    <a:ext cx="164008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8</a:t>
                    </a:r>
                  </a:p>
                </p:txBody>
              </p:sp>
              <p:sp>
                <p:nvSpPr>
                  <p:cNvPr id="14388" name="Rectangle 23"/>
                  <p:cNvSpPr>
                    <a:spLocks noChangeArrowheads="1"/>
                  </p:cNvSpPr>
                  <p:nvPr/>
                </p:nvSpPr>
                <p:spPr bwMode="auto">
                  <a:xfrm>
                    <a:off x="381000" y="3581400"/>
                    <a:ext cx="381000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10</a:t>
                    </a:r>
                  </a:p>
                </p:txBody>
              </p:sp>
              <p:sp>
                <p:nvSpPr>
                  <p:cNvPr id="14389" name="Rectangle 24"/>
                  <p:cNvSpPr>
                    <a:spLocks noChangeArrowheads="1"/>
                  </p:cNvSpPr>
                  <p:nvPr/>
                </p:nvSpPr>
                <p:spPr bwMode="auto">
                  <a:xfrm>
                    <a:off x="990600" y="5257800"/>
                    <a:ext cx="253275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5</a:t>
                    </a:r>
                  </a:p>
                </p:txBody>
              </p:sp>
              <p:sp>
                <p:nvSpPr>
                  <p:cNvPr id="14390" name="Rectangle 25"/>
                  <p:cNvSpPr>
                    <a:spLocks noChangeArrowheads="1"/>
                  </p:cNvSpPr>
                  <p:nvPr/>
                </p:nvSpPr>
                <p:spPr bwMode="auto">
                  <a:xfrm>
                    <a:off x="1295400" y="5257800"/>
                    <a:ext cx="323808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10</a:t>
                    </a:r>
                  </a:p>
                </p:txBody>
              </p:sp>
              <p:sp>
                <p:nvSpPr>
                  <p:cNvPr id="14391" name="Rectangle 26"/>
                  <p:cNvSpPr>
                    <a:spLocks noChangeArrowheads="1"/>
                  </p:cNvSpPr>
                  <p:nvPr/>
                </p:nvSpPr>
                <p:spPr bwMode="auto">
                  <a:xfrm>
                    <a:off x="1524000" y="5257800"/>
                    <a:ext cx="323808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15</a:t>
                    </a:r>
                  </a:p>
                </p:txBody>
              </p:sp>
              <p:sp>
                <p:nvSpPr>
                  <p:cNvPr id="14392" name="Rectangle 27"/>
                  <p:cNvSpPr>
                    <a:spLocks noChangeArrowheads="1"/>
                  </p:cNvSpPr>
                  <p:nvPr/>
                </p:nvSpPr>
                <p:spPr bwMode="auto">
                  <a:xfrm>
                    <a:off x="1828800" y="5257800"/>
                    <a:ext cx="323808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20</a:t>
                    </a:r>
                  </a:p>
                </p:txBody>
              </p:sp>
              <p:sp>
                <p:nvSpPr>
                  <p:cNvPr id="14393" name="Rectangle 28"/>
                  <p:cNvSpPr>
                    <a:spLocks noChangeArrowheads="1"/>
                  </p:cNvSpPr>
                  <p:nvPr/>
                </p:nvSpPr>
                <p:spPr bwMode="auto">
                  <a:xfrm>
                    <a:off x="2057400" y="5257800"/>
                    <a:ext cx="323808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25</a:t>
                    </a:r>
                  </a:p>
                </p:txBody>
              </p:sp>
              <p:sp>
                <p:nvSpPr>
                  <p:cNvPr id="14394" name="Rectangle 35"/>
                  <p:cNvSpPr>
                    <a:spLocks noChangeArrowheads="1"/>
                  </p:cNvSpPr>
                  <p:nvPr/>
                </p:nvSpPr>
                <p:spPr bwMode="auto">
                  <a:xfrm>
                    <a:off x="609600" y="5257800"/>
                    <a:ext cx="253275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0</a:t>
                    </a:r>
                  </a:p>
                </p:txBody>
              </p:sp>
            </p:grpSp>
            <p:grpSp>
              <p:nvGrpSpPr>
                <p:cNvPr id="14360" name="Group 95"/>
                <p:cNvGrpSpPr>
                  <a:grpSpLocks/>
                </p:cNvGrpSpPr>
                <p:nvPr/>
              </p:nvGrpSpPr>
              <p:grpSpPr bwMode="auto">
                <a:xfrm>
                  <a:off x="5410200" y="3124200"/>
                  <a:ext cx="2743199" cy="2376462"/>
                  <a:chOff x="228601" y="3124994"/>
                  <a:chExt cx="2743199" cy="2376462"/>
                </a:xfrm>
              </p:grpSpPr>
              <p:grpSp>
                <p:nvGrpSpPr>
                  <p:cNvPr id="14364" name="Group 53"/>
                  <p:cNvGrpSpPr>
                    <a:grpSpLocks/>
                  </p:cNvGrpSpPr>
                  <p:nvPr/>
                </p:nvGrpSpPr>
                <p:grpSpPr bwMode="auto">
                  <a:xfrm>
                    <a:off x="837406" y="3124994"/>
                    <a:ext cx="2134394" cy="2058194"/>
                    <a:chOff x="837406" y="3124994"/>
                    <a:chExt cx="2134394" cy="2058194"/>
                  </a:xfrm>
                </p:grpSpPr>
                <p:cxnSp>
                  <p:nvCxnSpPr>
                    <p:cNvPr id="272" name="Straight Connector 271"/>
                    <p:cNvCxnSpPr/>
                    <p:nvPr/>
                  </p:nvCxnSpPr>
                  <p:spPr>
                    <a:xfrm rot="5400000">
                      <a:off x="-213937" y="4152546"/>
                      <a:ext cx="2056692" cy="1588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73" name="Straight Connector 272"/>
                    <p:cNvCxnSpPr/>
                    <p:nvPr/>
                  </p:nvCxnSpPr>
                  <p:spPr>
                    <a:xfrm>
                      <a:off x="815203" y="5181686"/>
                      <a:ext cx="2156129" cy="1587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74" name="Straight Connector 273"/>
                    <p:cNvCxnSpPr/>
                    <p:nvPr/>
                  </p:nvCxnSpPr>
                  <p:spPr>
                    <a:xfrm rot="16200000" flipH="1">
                      <a:off x="777467" y="3619883"/>
                      <a:ext cx="1523475" cy="990740"/>
                    </a:xfrm>
                    <a:prstGeom prst="line">
                      <a:avLst/>
                    </a:prstGeom>
                    <a:ln>
                      <a:solidFill>
                        <a:srgbClr val="FF3300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4365" name="Rectangle 18"/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-229859" y="4116059"/>
                    <a:ext cx="1160575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pPr algn="ctr"/>
                    <a:r>
                      <a:rPr lang="en-US" sz="1000" b="1"/>
                      <a:t>Price of cookies</a:t>
                    </a:r>
                  </a:p>
                </p:txBody>
              </p:sp>
              <p:sp>
                <p:nvSpPr>
                  <p:cNvPr id="14366" name="Rectangle 17"/>
                  <p:cNvSpPr>
                    <a:spLocks noChangeArrowheads="1"/>
                  </p:cNvSpPr>
                  <p:nvPr/>
                </p:nvSpPr>
                <p:spPr bwMode="auto">
                  <a:xfrm>
                    <a:off x="2286000" y="5257800"/>
                    <a:ext cx="679674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pPr algn="ctr"/>
                    <a:r>
                      <a:rPr lang="en-US" sz="1000" b="1"/>
                      <a:t>Cookies</a:t>
                    </a:r>
                  </a:p>
                </p:txBody>
              </p:sp>
              <p:sp>
                <p:nvSpPr>
                  <p:cNvPr id="14367" name="Rectangle 19"/>
                  <p:cNvSpPr>
                    <a:spLocks noChangeArrowheads="1"/>
                  </p:cNvSpPr>
                  <p:nvPr/>
                </p:nvSpPr>
                <p:spPr bwMode="auto">
                  <a:xfrm>
                    <a:off x="457200" y="4876800"/>
                    <a:ext cx="203325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2</a:t>
                    </a:r>
                  </a:p>
                </p:txBody>
              </p:sp>
              <p:sp>
                <p:nvSpPr>
                  <p:cNvPr id="14368" name="Rectangle 20"/>
                  <p:cNvSpPr>
                    <a:spLocks noChangeArrowheads="1"/>
                  </p:cNvSpPr>
                  <p:nvPr/>
                </p:nvSpPr>
                <p:spPr bwMode="auto">
                  <a:xfrm>
                    <a:off x="457200" y="4572000"/>
                    <a:ext cx="307975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4</a:t>
                    </a:r>
                  </a:p>
                </p:txBody>
              </p:sp>
              <p:sp>
                <p:nvSpPr>
                  <p:cNvPr id="14369" name="Rectangle 21"/>
                  <p:cNvSpPr>
                    <a:spLocks noChangeArrowheads="1"/>
                  </p:cNvSpPr>
                  <p:nvPr/>
                </p:nvSpPr>
                <p:spPr bwMode="auto">
                  <a:xfrm>
                    <a:off x="457200" y="4267200"/>
                    <a:ext cx="190406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6</a:t>
                    </a:r>
                  </a:p>
                </p:txBody>
              </p:sp>
              <p:sp>
                <p:nvSpPr>
                  <p:cNvPr id="14370" name="Rectangle 22"/>
                  <p:cNvSpPr>
                    <a:spLocks noChangeArrowheads="1"/>
                  </p:cNvSpPr>
                  <p:nvPr/>
                </p:nvSpPr>
                <p:spPr bwMode="auto">
                  <a:xfrm>
                    <a:off x="457200" y="3886200"/>
                    <a:ext cx="164008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8</a:t>
                    </a:r>
                  </a:p>
                </p:txBody>
              </p:sp>
              <p:sp>
                <p:nvSpPr>
                  <p:cNvPr id="14371" name="Rectangle 23"/>
                  <p:cNvSpPr>
                    <a:spLocks noChangeArrowheads="1"/>
                  </p:cNvSpPr>
                  <p:nvPr/>
                </p:nvSpPr>
                <p:spPr bwMode="auto">
                  <a:xfrm>
                    <a:off x="381000" y="3581400"/>
                    <a:ext cx="381000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10</a:t>
                    </a:r>
                  </a:p>
                </p:txBody>
              </p:sp>
              <p:sp>
                <p:nvSpPr>
                  <p:cNvPr id="14372" name="Rectangle 24"/>
                  <p:cNvSpPr>
                    <a:spLocks noChangeArrowheads="1"/>
                  </p:cNvSpPr>
                  <p:nvPr/>
                </p:nvSpPr>
                <p:spPr bwMode="auto">
                  <a:xfrm>
                    <a:off x="990600" y="5257800"/>
                    <a:ext cx="323808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15</a:t>
                    </a:r>
                  </a:p>
                </p:txBody>
              </p:sp>
              <p:sp>
                <p:nvSpPr>
                  <p:cNvPr id="14373" name="Rectangle 25"/>
                  <p:cNvSpPr>
                    <a:spLocks noChangeArrowheads="1"/>
                  </p:cNvSpPr>
                  <p:nvPr/>
                </p:nvSpPr>
                <p:spPr bwMode="auto">
                  <a:xfrm>
                    <a:off x="1295400" y="5257800"/>
                    <a:ext cx="323808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30</a:t>
                    </a:r>
                  </a:p>
                </p:txBody>
              </p:sp>
              <p:sp>
                <p:nvSpPr>
                  <p:cNvPr id="14374" name="Rectangle 26"/>
                  <p:cNvSpPr>
                    <a:spLocks noChangeArrowheads="1"/>
                  </p:cNvSpPr>
                  <p:nvPr/>
                </p:nvSpPr>
                <p:spPr bwMode="auto">
                  <a:xfrm>
                    <a:off x="1524000" y="5257800"/>
                    <a:ext cx="323808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45</a:t>
                    </a:r>
                  </a:p>
                </p:txBody>
              </p:sp>
              <p:sp>
                <p:nvSpPr>
                  <p:cNvPr id="14375" name="Rectangle 27"/>
                  <p:cNvSpPr>
                    <a:spLocks noChangeArrowheads="1"/>
                  </p:cNvSpPr>
                  <p:nvPr/>
                </p:nvSpPr>
                <p:spPr bwMode="auto">
                  <a:xfrm>
                    <a:off x="1828800" y="5257800"/>
                    <a:ext cx="323808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60</a:t>
                    </a:r>
                  </a:p>
                </p:txBody>
              </p:sp>
              <p:sp>
                <p:nvSpPr>
                  <p:cNvPr id="14376" name="Rectangle 28"/>
                  <p:cNvSpPr>
                    <a:spLocks noChangeArrowheads="1"/>
                  </p:cNvSpPr>
                  <p:nvPr/>
                </p:nvSpPr>
                <p:spPr bwMode="auto">
                  <a:xfrm>
                    <a:off x="2057400" y="5257800"/>
                    <a:ext cx="323808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75</a:t>
                    </a:r>
                  </a:p>
                </p:txBody>
              </p:sp>
              <p:sp>
                <p:nvSpPr>
                  <p:cNvPr id="14377" name="Rectangle 35"/>
                  <p:cNvSpPr>
                    <a:spLocks noChangeArrowheads="1"/>
                  </p:cNvSpPr>
                  <p:nvPr/>
                </p:nvSpPr>
                <p:spPr bwMode="auto">
                  <a:xfrm>
                    <a:off x="609600" y="5257800"/>
                    <a:ext cx="253275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0</a:t>
                    </a:r>
                  </a:p>
                </p:txBody>
              </p:sp>
            </p:grpSp>
            <p:sp>
              <p:nvSpPr>
                <p:cNvPr id="14361" name="Rectangle 17"/>
                <p:cNvSpPr>
                  <a:spLocks noChangeArrowheads="1"/>
                </p:cNvSpPr>
                <p:nvPr/>
              </p:nvSpPr>
              <p:spPr bwMode="auto">
                <a:xfrm>
                  <a:off x="1524000" y="3200400"/>
                  <a:ext cx="522581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pPr algn="ctr"/>
                  <a:r>
                    <a:rPr lang="en-US" sz="1000" b="1"/>
                    <a:t>Steve</a:t>
                  </a:r>
                </a:p>
              </p:txBody>
            </p:sp>
            <p:sp>
              <p:nvSpPr>
                <p:cNvPr id="14362" name="Rectangle 17"/>
                <p:cNvSpPr>
                  <a:spLocks noChangeArrowheads="1"/>
                </p:cNvSpPr>
                <p:nvPr/>
              </p:nvSpPr>
              <p:spPr bwMode="auto">
                <a:xfrm>
                  <a:off x="4114800" y="3276600"/>
                  <a:ext cx="458460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pPr algn="ctr"/>
                  <a:r>
                    <a:rPr lang="en-US" sz="1000" b="1"/>
                    <a:t>Sara</a:t>
                  </a:r>
                </a:p>
              </p:txBody>
            </p:sp>
            <p:sp>
              <p:nvSpPr>
                <p:cNvPr id="14363" name="Rectangle 17"/>
                <p:cNvSpPr>
                  <a:spLocks noChangeArrowheads="1"/>
                </p:cNvSpPr>
                <p:nvPr/>
              </p:nvSpPr>
              <p:spPr bwMode="auto">
                <a:xfrm>
                  <a:off x="6858000" y="3200400"/>
                  <a:ext cx="594716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pPr algn="ctr"/>
                  <a:r>
                    <a:rPr lang="en-US" sz="1000" b="1"/>
                    <a:t>Market</a:t>
                  </a:r>
                </a:p>
              </p:txBody>
            </p:sp>
          </p:grpSp>
          <p:grpSp>
            <p:nvGrpSpPr>
              <p:cNvPr id="14346" name="Group 89"/>
              <p:cNvGrpSpPr>
                <a:grpSpLocks/>
              </p:cNvGrpSpPr>
              <p:nvPr/>
            </p:nvGrpSpPr>
            <p:grpSpPr bwMode="auto">
              <a:xfrm>
                <a:off x="885371" y="4898570"/>
                <a:ext cx="986971" cy="863601"/>
                <a:chOff x="885371" y="4898570"/>
                <a:chExt cx="986971" cy="863601"/>
              </a:xfrm>
            </p:grpSpPr>
            <p:cxnSp>
              <p:nvCxnSpPr>
                <p:cNvPr id="14355" name="Straight Connector 248"/>
                <p:cNvCxnSpPr>
                  <a:cxnSpLocks noChangeShapeType="1"/>
                </p:cNvCxnSpPr>
                <p:nvPr/>
              </p:nvCxnSpPr>
              <p:spPr bwMode="auto">
                <a:xfrm>
                  <a:off x="885371" y="4978400"/>
                  <a:ext cx="899886" cy="1588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sysDash"/>
                  <a:round/>
                  <a:headEnd/>
                  <a:tailEnd/>
                </a:ln>
              </p:spPr>
            </p:cxnSp>
            <p:cxnSp>
              <p:nvCxnSpPr>
                <p:cNvPr id="14356" name="Straight Connector 249"/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1393372" y="5384800"/>
                  <a:ext cx="740228" cy="14514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sysDash"/>
                  <a:round/>
                  <a:headEnd/>
                  <a:tailEnd/>
                </a:ln>
              </p:spPr>
            </p:cxnSp>
            <p:sp>
              <p:nvSpPr>
                <p:cNvPr id="14357" name="Flowchart: Connector 250"/>
                <p:cNvSpPr>
                  <a:spLocks noChangeArrowheads="1"/>
                </p:cNvSpPr>
                <p:nvPr/>
              </p:nvSpPr>
              <p:spPr bwMode="auto">
                <a:xfrm>
                  <a:off x="1763485" y="4898570"/>
                  <a:ext cx="108857" cy="130629"/>
                </a:xfrm>
                <a:prstGeom prst="flowChartConnector">
                  <a:avLst/>
                </a:prstGeom>
                <a:solidFill>
                  <a:schemeClr val="accent2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grpSp>
            <p:nvGrpSpPr>
              <p:cNvPr id="14347" name="Group 98"/>
              <p:cNvGrpSpPr>
                <a:grpSpLocks/>
              </p:cNvGrpSpPr>
              <p:nvPr/>
            </p:nvGrpSpPr>
            <p:grpSpPr bwMode="auto">
              <a:xfrm>
                <a:off x="3316515" y="4905827"/>
                <a:ext cx="986971" cy="863601"/>
                <a:chOff x="3316515" y="4905827"/>
                <a:chExt cx="986971" cy="863601"/>
              </a:xfrm>
            </p:grpSpPr>
            <p:cxnSp>
              <p:nvCxnSpPr>
                <p:cNvPr id="14352" name="Straight Connector 245"/>
                <p:cNvCxnSpPr>
                  <a:cxnSpLocks noChangeShapeType="1"/>
                </p:cNvCxnSpPr>
                <p:nvPr/>
              </p:nvCxnSpPr>
              <p:spPr bwMode="auto">
                <a:xfrm>
                  <a:off x="3316515" y="4985657"/>
                  <a:ext cx="899886" cy="1588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sysDash"/>
                  <a:round/>
                  <a:headEnd/>
                  <a:tailEnd/>
                </a:ln>
              </p:spPr>
            </p:cxnSp>
            <p:cxnSp>
              <p:nvCxnSpPr>
                <p:cNvPr id="14353" name="Straight Connector 246"/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3824516" y="5392057"/>
                  <a:ext cx="740228" cy="14514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sysDash"/>
                  <a:round/>
                  <a:headEnd/>
                  <a:tailEnd/>
                </a:ln>
              </p:spPr>
            </p:cxnSp>
            <p:sp>
              <p:nvSpPr>
                <p:cNvPr id="248" name="Flowchart: Connector 247"/>
                <p:cNvSpPr/>
                <p:nvPr/>
              </p:nvSpPr>
              <p:spPr bwMode="auto">
                <a:xfrm>
                  <a:off x="4194047" y="4906095"/>
                  <a:ext cx="109552" cy="130130"/>
                </a:xfrm>
                <a:prstGeom prst="flowChartConnector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/>
                <a:lstStyle/>
                <a:p>
                  <a:pPr>
                    <a:defRPr/>
                  </a:pPr>
                  <a:endParaRPr lang="en-US">
                    <a:ln>
                      <a:solidFill>
                        <a:srgbClr val="008000"/>
                      </a:solidFill>
                    </a:ln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4348" name="Group 99"/>
              <p:cNvGrpSpPr>
                <a:grpSpLocks/>
              </p:cNvGrpSpPr>
              <p:nvPr/>
            </p:nvGrpSpPr>
            <p:grpSpPr bwMode="auto">
              <a:xfrm>
                <a:off x="6095999" y="4927599"/>
                <a:ext cx="986971" cy="863601"/>
                <a:chOff x="6095999" y="4927599"/>
                <a:chExt cx="986971" cy="863601"/>
              </a:xfrm>
            </p:grpSpPr>
            <p:cxnSp>
              <p:nvCxnSpPr>
                <p:cNvPr id="14349" name="Straight Connector 242"/>
                <p:cNvCxnSpPr>
                  <a:cxnSpLocks noChangeShapeType="1"/>
                </p:cNvCxnSpPr>
                <p:nvPr/>
              </p:nvCxnSpPr>
              <p:spPr bwMode="auto">
                <a:xfrm>
                  <a:off x="6095999" y="5007429"/>
                  <a:ext cx="899886" cy="1588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sysDash"/>
                  <a:round/>
                  <a:headEnd/>
                  <a:tailEnd/>
                </a:ln>
              </p:spPr>
            </p:cxnSp>
            <p:cxnSp>
              <p:nvCxnSpPr>
                <p:cNvPr id="14350" name="Straight Connector 243"/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6604000" y="5413829"/>
                  <a:ext cx="740228" cy="14514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sysDash"/>
                  <a:round/>
                  <a:headEnd/>
                  <a:tailEnd/>
                </a:ln>
              </p:spPr>
            </p:cxnSp>
            <p:sp>
              <p:nvSpPr>
                <p:cNvPr id="14351" name="Flowchart: Connector 244"/>
                <p:cNvSpPr>
                  <a:spLocks noChangeArrowheads="1"/>
                </p:cNvSpPr>
                <p:nvPr/>
              </p:nvSpPr>
              <p:spPr bwMode="auto">
                <a:xfrm>
                  <a:off x="6974113" y="4927599"/>
                  <a:ext cx="108857" cy="130629"/>
                </a:xfrm>
                <a:prstGeom prst="flowChartConnector">
                  <a:avLst/>
                </a:prstGeom>
                <a:solidFill>
                  <a:srgbClr val="FF0000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</p:grpSp>
        <p:sp>
          <p:nvSpPr>
            <p:cNvPr id="14344" name="Rectangle 17"/>
            <p:cNvSpPr>
              <a:spLocks noChangeArrowheads="1"/>
            </p:cNvSpPr>
            <p:nvPr/>
          </p:nvSpPr>
          <p:spPr bwMode="auto">
            <a:xfrm>
              <a:off x="7696200" y="3581400"/>
              <a:ext cx="940964" cy="24365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/>
              <a:r>
                <a:rPr lang="en-US" sz="1000" b="1"/>
                <a:t>Market Price</a:t>
              </a:r>
            </a:p>
          </p:txBody>
        </p:sp>
      </p:grpSp>
      <p:sp>
        <p:nvSpPr>
          <p:cNvPr id="3" name="Right Triangle 2">
            <a:extLst>
              <a:ext uri="{FF2B5EF4-FFF2-40B4-BE49-F238E27FC236}">
                <a16:creationId xmlns:a16="http://schemas.microsoft.com/office/drawing/2014/main" id="{163AE40B-94ED-F33E-82B3-9141DC417174}"/>
              </a:ext>
            </a:extLst>
          </p:cNvPr>
          <p:cNvSpPr/>
          <p:nvPr/>
        </p:nvSpPr>
        <p:spPr bwMode="auto">
          <a:xfrm>
            <a:off x="922283" y="4065817"/>
            <a:ext cx="838128" cy="1182662"/>
          </a:xfrm>
          <a:prstGeom prst="rtTriangl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Demand, Marginal Benefit &amp; Consumer Surplus</a:t>
            </a:r>
          </a:p>
        </p:txBody>
      </p:sp>
      <p:grpSp>
        <p:nvGrpSpPr>
          <p:cNvPr id="17415" name="Group 234"/>
          <p:cNvGrpSpPr>
            <a:grpSpLocks/>
          </p:cNvGrpSpPr>
          <p:nvPr/>
        </p:nvGrpSpPr>
        <p:grpSpPr bwMode="auto">
          <a:xfrm>
            <a:off x="276225" y="4016375"/>
            <a:ext cx="8255000" cy="2378075"/>
            <a:chOff x="381000" y="2667000"/>
            <a:chExt cx="8256164" cy="2377256"/>
          </a:xfrm>
        </p:grpSpPr>
        <p:cxnSp>
          <p:nvCxnSpPr>
            <p:cNvPr id="237" name="Straight Connector 236"/>
            <p:cNvCxnSpPr/>
            <p:nvPr/>
          </p:nvCxnSpPr>
          <p:spPr>
            <a:xfrm flipV="1">
              <a:off x="990686" y="3961954"/>
              <a:ext cx="7238434" cy="0"/>
            </a:xfrm>
            <a:prstGeom prst="line">
              <a:avLst/>
            </a:pr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7421" name="Group 62"/>
            <p:cNvGrpSpPr>
              <a:grpSpLocks/>
            </p:cNvGrpSpPr>
            <p:nvPr/>
          </p:nvGrpSpPr>
          <p:grpSpPr bwMode="auto">
            <a:xfrm>
              <a:off x="381000" y="2667000"/>
              <a:ext cx="7924798" cy="2377256"/>
              <a:chOff x="286658" y="3704771"/>
              <a:chExt cx="7924798" cy="2377256"/>
            </a:xfrm>
          </p:grpSpPr>
          <p:grpSp>
            <p:nvGrpSpPr>
              <p:cNvPr id="17423" name="Group 6"/>
              <p:cNvGrpSpPr>
                <a:grpSpLocks/>
              </p:cNvGrpSpPr>
              <p:nvPr/>
            </p:nvGrpSpPr>
            <p:grpSpPr bwMode="auto">
              <a:xfrm>
                <a:off x="286658" y="3704771"/>
                <a:ext cx="7924798" cy="2377256"/>
                <a:chOff x="228601" y="3124200"/>
                <a:chExt cx="7924798" cy="2377256"/>
              </a:xfrm>
            </p:grpSpPr>
            <p:grpSp>
              <p:nvGrpSpPr>
                <p:cNvPr id="17436" name="Group 76"/>
                <p:cNvGrpSpPr>
                  <a:grpSpLocks/>
                </p:cNvGrpSpPr>
                <p:nvPr/>
              </p:nvGrpSpPr>
              <p:grpSpPr bwMode="auto">
                <a:xfrm>
                  <a:off x="228601" y="3124994"/>
                  <a:ext cx="2743199" cy="2376462"/>
                  <a:chOff x="228601" y="3124994"/>
                  <a:chExt cx="2743199" cy="2376462"/>
                </a:xfrm>
              </p:grpSpPr>
              <p:grpSp>
                <p:nvGrpSpPr>
                  <p:cNvPr id="17476" name="Group 53"/>
                  <p:cNvGrpSpPr>
                    <a:grpSpLocks/>
                  </p:cNvGrpSpPr>
                  <p:nvPr/>
                </p:nvGrpSpPr>
                <p:grpSpPr bwMode="auto">
                  <a:xfrm>
                    <a:off x="837406" y="3124994"/>
                    <a:ext cx="2134394" cy="2058194"/>
                    <a:chOff x="837406" y="3124994"/>
                    <a:chExt cx="2134394" cy="2058194"/>
                  </a:xfrm>
                </p:grpSpPr>
                <p:cxnSp>
                  <p:nvCxnSpPr>
                    <p:cNvPr id="306" name="Straight Connector 4"/>
                    <p:cNvCxnSpPr/>
                    <p:nvPr/>
                  </p:nvCxnSpPr>
                  <p:spPr>
                    <a:xfrm rot="5400000">
                      <a:off x="-201167" y="4165241"/>
                      <a:ext cx="2077322" cy="1587"/>
                    </a:xfrm>
                    <a:prstGeom prst="line">
                      <a:avLst/>
                    </a:prstGeom>
                    <a:ln>
                      <a:solidFill>
                        <a:schemeClr val="tx2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7" name="Straight Connector 306"/>
                    <p:cNvCxnSpPr/>
                    <p:nvPr/>
                  </p:nvCxnSpPr>
                  <p:spPr>
                    <a:xfrm>
                      <a:off x="838287" y="5204697"/>
                      <a:ext cx="2133901" cy="1586"/>
                    </a:xfrm>
                    <a:prstGeom prst="line">
                      <a:avLst/>
                    </a:prstGeom>
                    <a:ln>
                      <a:solidFill>
                        <a:schemeClr val="tx2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8" name="Straight Connector 8"/>
                    <p:cNvCxnSpPr/>
                    <p:nvPr/>
                  </p:nvCxnSpPr>
                  <p:spPr>
                    <a:xfrm rot="16200000" flipH="1">
                      <a:off x="800552" y="3642894"/>
                      <a:ext cx="1523475" cy="990740"/>
                    </a:xfrm>
                    <a:prstGeom prst="line">
                      <a:avLst/>
                    </a:prstGeom>
                    <a:ln>
                      <a:solidFill>
                        <a:schemeClr val="accent2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7477" name="Rectangle 18"/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-229859" y="4116059"/>
                    <a:ext cx="1160575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pPr algn="ctr"/>
                    <a:r>
                      <a:rPr lang="en-US" sz="1000" b="1"/>
                      <a:t>Price of cookies</a:t>
                    </a:r>
                  </a:p>
                </p:txBody>
              </p:sp>
              <p:sp>
                <p:nvSpPr>
                  <p:cNvPr id="17478" name="Rectangle 17"/>
                  <p:cNvSpPr>
                    <a:spLocks noChangeArrowheads="1"/>
                  </p:cNvSpPr>
                  <p:nvPr/>
                </p:nvSpPr>
                <p:spPr bwMode="auto">
                  <a:xfrm>
                    <a:off x="2286000" y="5257800"/>
                    <a:ext cx="679674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pPr algn="ctr"/>
                    <a:r>
                      <a:rPr lang="en-US" sz="1000" b="1"/>
                      <a:t>Cookies</a:t>
                    </a:r>
                  </a:p>
                </p:txBody>
              </p:sp>
              <p:sp>
                <p:nvSpPr>
                  <p:cNvPr id="17479" name="Rectangle 19"/>
                  <p:cNvSpPr>
                    <a:spLocks noChangeArrowheads="1"/>
                  </p:cNvSpPr>
                  <p:nvPr/>
                </p:nvSpPr>
                <p:spPr bwMode="auto">
                  <a:xfrm>
                    <a:off x="457200" y="4876800"/>
                    <a:ext cx="203325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2</a:t>
                    </a:r>
                  </a:p>
                </p:txBody>
              </p:sp>
              <p:sp>
                <p:nvSpPr>
                  <p:cNvPr id="17480" name="Rectangle 20"/>
                  <p:cNvSpPr>
                    <a:spLocks noChangeArrowheads="1"/>
                  </p:cNvSpPr>
                  <p:nvPr/>
                </p:nvSpPr>
                <p:spPr bwMode="auto">
                  <a:xfrm>
                    <a:off x="457200" y="4572000"/>
                    <a:ext cx="307975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4</a:t>
                    </a:r>
                  </a:p>
                </p:txBody>
              </p:sp>
              <p:sp>
                <p:nvSpPr>
                  <p:cNvPr id="17481" name="Rectangle 21"/>
                  <p:cNvSpPr>
                    <a:spLocks noChangeArrowheads="1"/>
                  </p:cNvSpPr>
                  <p:nvPr/>
                </p:nvSpPr>
                <p:spPr bwMode="auto">
                  <a:xfrm>
                    <a:off x="457200" y="4267200"/>
                    <a:ext cx="190406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6</a:t>
                    </a:r>
                  </a:p>
                </p:txBody>
              </p:sp>
              <p:sp>
                <p:nvSpPr>
                  <p:cNvPr id="17482" name="Rectangle 22"/>
                  <p:cNvSpPr>
                    <a:spLocks noChangeArrowheads="1"/>
                  </p:cNvSpPr>
                  <p:nvPr/>
                </p:nvSpPr>
                <p:spPr bwMode="auto">
                  <a:xfrm>
                    <a:off x="457200" y="3886200"/>
                    <a:ext cx="164008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8</a:t>
                    </a:r>
                  </a:p>
                </p:txBody>
              </p:sp>
              <p:sp>
                <p:nvSpPr>
                  <p:cNvPr id="17483" name="Rectangle 23"/>
                  <p:cNvSpPr>
                    <a:spLocks noChangeArrowheads="1"/>
                  </p:cNvSpPr>
                  <p:nvPr/>
                </p:nvSpPr>
                <p:spPr bwMode="auto">
                  <a:xfrm>
                    <a:off x="381000" y="3581400"/>
                    <a:ext cx="381000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10</a:t>
                    </a:r>
                  </a:p>
                </p:txBody>
              </p:sp>
              <p:sp>
                <p:nvSpPr>
                  <p:cNvPr id="17484" name="Rectangle 24"/>
                  <p:cNvSpPr>
                    <a:spLocks noChangeArrowheads="1"/>
                  </p:cNvSpPr>
                  <p:nvPr/>
                </p:nvSpPr>
                <p:spPr bwMode="auto">
                  <a:xfrm>
                    <a:off x="990600" y="5257800"/>
                    <a:ext cx="323808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10</a:t>
                    </a:r>
                  </a:p>
                </p:txBody>
              </p:sp>
              <p:sp>
                <p:nvSpPr>
                  <p:cNvPr id="17485" name="Rectangle 25"/>
                  <p:cNvSpPr>
                    <a:spLocks noChangeArrowheads="1"/>
                  </p:cNvSpPr>
                  <p:nvPr/>
                </p:nvSpPr>
                <p:spPr bwMode="auto">
                  <a:xfrm>
                    <a:off x="1295400" y="5257800"/>
                    <a:ext cx="323808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20</a:t>
                    </a:r>
                  </a:p>
                </p:txBody>
              </p:sp>
              <p:sp>
                <p:nvSpPr>
                  <p:cNvPr id="17486" name="Rectangle 26"/>
                  <p:cNvSpPr>
                    <a:spLocks noChangeArrowheads="1"/>
                  </p:cNvSpPr>
                  <p:nvPr/>
                </p:nvSpPr>
                <p:spPr bwMode="auto">
                  <a:xfrm>
                    <a:off x="1524000" y="5257800"/>
                    <a:ext cx="323808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30</a:t>
                    </a:r>
                  </a:p>
                </p:txBody>
              </p:sp>
              <p:sp>
                <p:nvSpPr>
                  <p:cNvPr id="17487" name="Rectangle 27"/>
                  <p:cNvSpPr>
                    <a:spLocks noChangeArrowheads="1"/>
                  </p:cNvSpPr>
                  <p:nvPr/>
                </p:nvSpPr>
                <p:spPr bwMode="auto">
                  <a:xfrm>
                    <a:off x="1828800" y="5257800"/>
                    <a:ext cx="323808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40</a:t>
                    </a:r>
                  </a:p>
                </p:txBody>
              </p:sp>
              <p:sp>
                <p:nvSpPr>
                  <p:cNvPr id="17488" name="Rectangle 28"/>
                  <p:cNvSpPr>
                    <a:spLocks noChangeArrowheads="1"/>
                  </p:cNvSpPr>
                  <p:nvPr/>
                </p:nvSpPr>
                <p:spPr bwMode="auto">
                  <a:xfrm>
                    <a:off x="2057400" y="5257800"/>
                    <a:ext cx="323808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50</a:t>
                    </a:r>
                  </a:p>
                </p:txBody>
              </p:sp>
              <p:sp>
                <p:nvSpPr>
                  <p:cNvPr id="17489" name="Rectangle 35"/>
                  <p:cNvSpPr>
                    <a:spLocks noChangeArrowheads="1"/>
                  </p:cNvSpPr>
                  <p:nvPr/>
                </p:nvSpPr>
                <p:spPr bwMode="auto">
                  <a:xfrm>
                    <a:off x="609600" y="5257800"/>
                    <a:ext cx="253275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0</a:t>
                    </a:r>
                  </a:p>
                </p:txBody>
              </p:sp>
            </p:grpSp>
            <p:grpSp>
              <p:nvGrpSpPr>
                <p:cNvPr id="17437" name="Group 77"/>
                <p:cNvGrpSpPr>
                  <a:grpSpLocks/>
                </p:cNvGrpSpPr>
                <p:nvPr/>
              </p:nvGrpSpPr>
              <p:grpSpPr bwMode="auto">
                <a:xfrm>
                  <a:off x="2667000" y="3124200"/>
                  <a:ext cx="2743199" cy="2376462"/>
                  <a:chOff x="228601" y="3124994"/>
                  <a:chExt cx="2743199" cy="2376462"/>
                </a:xfrm>
              </p:grpSpPr>
              <p:grpSp>
                <p:nvGrpSpPr>
                  <p:cNvPr id="17459" name="Group 53"/>
                  <p:cNvGrpSpPr>
                    <a:grpSpLocks/>
                  </p:cNvGrpSpPr>
                  <p:nvPr/>
                </p:nvGrpSpPr>
                <p:grpSpPr bwMode="auto">
                  <a:xfrm>
                    <a:off x="837406" y="3124994"/>
                    <a:ext cx="2134394" cy="2058194"/>
                    <a:chOff x="837406" y="3124994"/>
                    <a:chExt cx="2134394" cy="2058194"/>
                  </a:xfrm>
                </p:grpSpPr>
                <p:cxnSp>
                  <p:nvCxnSpPr>
                    <p:cNvPr id="289" name="Straight Connector 288"/>
                    <p:cNvCxnSpPr/>
                    <p:nvPr/>
                  </p:nvCxnSpPr>
                  <p:spPr>
                    <a:xfrm rot="5400000">
                      <a:off x="-190507" y="4152546"/>
                      <a:ext cx="2056692" cy="1587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90" name="Straight Connector 289"/>
                    <p:cNvCxnSpPr/>
                    <p:nvPr/>
                  </p:nvCxnSpPr>
                  <p:spPr>
                    <a:xfrm>
                      <a:off x="837045" y="5181686"/>
                      <a:ext cx="2111673" cy="1587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91" name="Straight Connector 290"/>
                    <p:cNvCxnSpPr/>
                    <p:nvPr/>
                  </p:nvCxnSpPr>
                  <p:spPr>
                    <a:xfrm rot="16200000" flipH="1">
                      <a:off x="799309" y="3619883"/>
                      <a:ext cx="1523475" cy="990740"/>
                    </a:xfrm>
                    <a:prstGeom prst="line">
                      <a:avLst/>
                    </a:prstGeom>
                    <a:ln>
                      <a:solidFill>
                        <a:srgbClr val="0080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7460" name="Rectangle 18"/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-229859" y="4116059"/>
                    <a:ext cx="1160575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pPr algn="ctr"/>
                    <a:r>
                      <a:rPr lang="en-US" sz="1000" b="1"/>
                      <a:t>Price of cookies</a:t>
                    </a:r>
                  </a:p>
                </p:txBody>
              </p:sp>
              <p:sp>
                <p:nvSpPr>
                  <p:cNvPr id="17461" name="Rectangle 17"/>
                  <p:cNvSpPr>
                    <a:spLocks noChangeArrowheads="1"/>
                  </p:cNvSpPr>
                  <p:nvPr/>
                </p:nvSpPr>
                <p:spPr bwMode="auto">
                  <a:xfrm>
                    <a:off x="2286000" y="5257800"/>
                    <a:ext cx="679674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pPr algn="ctr"/>
                    <a:r>
                      <a:rPr lang="en-US" sz="1000" b="1"/>
                      <a:t>Cookies</a:t>
                    </a:r>
                  </a:p>
                </p:txBody>
              </p:sp>
              <p:sp>
                <p:nvSpPr>
                  <p:cNvPr id="17462" name="Rectangle 19"/>
                  <p:cNvSpPr>
                    <a:spLocks noChangeArrowheads="1"/>
                  </p:cNvSpPr>
                  <p:nvPr/>
                </p:nvSpPr>
                <p:spPr bwMode="auto">
                  <a:xfrm>
                    <a:off x="457200" y="4876800"/>
                    <a:ext cx="203325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2</a:t>
                    </a:r>
                  </a:p>
                </p:txBody>
              </p:sp>
              <p:sp>
                <p:nvSpPr>
                  <p:cNvPr id="17463" name="Rectangle 20"/>
                  <p:cNvSpPr>
                    <a:spLocks noChangeArrowheads="1"/>
                  </p:cNvSpPr>
                  <p:nvPr/>
                </p:nvSpPr>
                <p:spPr bwMode="auto">
                  <a:xfrm>
                    <a:off x="457200" y="4572000"/>
                    <a:ext cx="307975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4</a:t>
                    </a:r>
                  </a:p>
                </p:txBody>
              </p:sp>
              <p:sp>
                <p:nvSpPr>
                  <p:cNvPr id="17464" name="Rectangle 21"/>
                  <p:cNvSpPr>
                    <a:spLocks noChangeArrowheads="1"/>
                  </p:cNvSpPr>
                  <p:nvPr/>
                </p:nvSpPr>
                <p:spPr bwMode="auto">
                  <a:xfrm>
                    <a:off x="457200" y="4267200"/>
                    <a:ext cx="190406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6</a:t>
                    </a:r>
                  </a:p>
                </p:txBody>
              </p:sp>
              <p:sp>
                <p:nvSpPr>
                  <p:cNvPr id="17465" name="Rectangle 22"/>
                  <p:cNvSpPr>
                    <a:spLocks noChangeArrowheads="1"/>
                  </p:cNvSpPr>
                  <p:nvPr/>
                </p:nvSpPr>
                <p:spPr bwMode="auto">
                  <a:xfrm>
                    <a:off x="457200" y="3886200"/>
                    <a:ext cx="164008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8</a:t>
                    </a:r>
                  </a:p>
                </p:txBody>
              </p:sp>
              <p:sp>
                <p:nvSpPr>
                  <p:cNvPr id="17466" name="Rectangle 23"/>
                  <p:cNvSpPr>
                    <a:spLocks noChangeArrowheads="1"/>
                  </p:cNvSpPr>
                  <p:nvPr/>
                </p:nvSpPr>
                <p:spPr bwMode="auto">
                  <a:xfrm>
                    <a:off x="381000" y="3581400"/>
                    <a:ext cx="381000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10</a:t>
                    </a:r>
                  </a:p>
                </p:txBody>
              </p:sp>
              <p:sp>
                <p:nvSpPr>
                  <p:cNvPr id="17467" name="Rectangle 24"/>
                  <p:cNvSpPr>
                    <a:spLocks noChangeArrowheads="1"/>
                  </p:cNvSpPr>
                  <p:nvPr/>
                </p:nvSpPr>
                <p:spPr bwMode="auto">
                  <a:xfrm>
                    <a:off x="990600" y="5257800"/>
                    <a:ext cx="253275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5</a:t>
                    </a:r>
                  </a:p>
                </p:txBody>
              </p:sp>
              <p:sp>
                <p:nvSpPr>
                  <p:cNvPr id="17468" name="Rectangle 25"/>
                  <p:cNvSpPr>
                    <a:spLocks noChangeArrowheads="1"/>
                  </p:cNvSpPr>
                  <p:nvPr/>
                </p:nvSpPr>
                <p:spPr bwMode="auto">
                  <a:xfrm>
                    <a:off x="1295400" y="5257800"/>
                    <a:ext cx="323808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10</a:t>
                    </a:r>
                  </a:p>
                </p:txBody>
              </p:sp>
              <p:sp>
                <p:nvSpPr>
                  <p:cNvPr id="17469" name="Rectangle 26"/>
                  <p:cNvSpPr>
                    <a:spLocks noChangeArrowheads="1"/>
                  </p:cNvSpPr>
                  <p:nvPr/>
                </p:nvSpPr>
                <p:spPr bwMode="auto">
                  <a:xfrm>
                    <a:off x="1524000" y="5257800"/>
                    <a:ext cx="323808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15</a:t>
                    </a:r>
                  </a:p>
                </p:txBody>
              </p:sp>
              <p:sp>
                <p:nvSpPr>
                  <p:cNvPr id="17470" name="Rectangle 27"/>
                  <p:cNvSpPr>
                    <a:spLocks noChangeArrowheads="1"/>
                  </p:cNvSpPr>
                  <p:nvPr/>
                </p:nvSpPr>
                <p:spPr bwMode="auto">
                  <a:xfrm>
                    <a:off x="1828800" y="5257800"/>
                    <a:ext cx="323808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20</a:t>
                    </a:r>
                  </a:p>
                </p:txBody>
              </p:sp>
              <p:sp>
                <p:nvSpPr>
                  <p:cNvPr id="17471" name="Rectangle 28"/>
                  <p:cNvSpPr>
                    <a:spLocks noChangeArrowheads="1"/>
                  </p:cNvSpPr>
                  <p:nvPr/>
                </p:nvSpPr>
                <p:spPr bwMode="auto">
                  <a:xfrm>
                    <a:off x="2057400" y="5257800"/>
                    <a:ext cx="323808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25</a:t>
                    </a:r>
                  </a:p>
                </p:txBody>
              </p:sp>
              <p:sp>
                <p:nvSpPr>
                  <p:cNvPr id="17472" name="Rectangle 35"/>
                  <p:cNvSpPr>
                    <a:spLocks noChangeArrowheads="1"/>
                  </p:cNvSpPr>
                  <p:nvPr/>
                </p:nvSpPr>
                <p:spPr bwMode="auto">
                  <a:xfrm>
                    <a:off x="609600" y="5257800"/>
                    <a:ext cx="253275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0</a:t>
                    </a:r>
                  </a:p>
                </p:txBody>
              </p:sp>
            </p:grpSp>
            <p:grpSp>
              <p:nvGrpSpPr>
                <p:cNvPr id="17438" name="Group 95"/>
                <p:cNvGrpSpPr>
                  <a:grpSpLocks/>
                </p:cNvGrpSpPr>
                <p:nvPr/>
              </p:nvGrpSpPr>
              <p:grpSpPr bwMode="auto">
                <a:xfrm>
                  <a:off x="5410200" y="3124200"/>
                  <a:ext cx="2743199" cy="2376462"/>
                  <a:chOff x="228601" y="3124994"/>
                  <a:chExt cx="2743199" cy="2376462"/>
                </a:xfrm>
              </p:grpSpPr>
              <p:grpSp>
                <p:nvGrpSpPr>
                  <p:cNvPr id="17442" name="Group 53"/>
                  <p:cNvGrpSpPr>
                    <a:grpSpLocks/>
                  </p:cNvGrpSpPr>
                  <p:nvPr/>
                </p:nvGrpSpPr>
                <p:grpSpPr bwMode="auto">
                  <a:xfrm>
                    <a:off x="837406" y="3124994"/>
                    <a:ext cx="2134394" cy="2058194"/>
                    <a:chOff x="837406" y="3124994"/>
                    <a:chExt cx="2134394" cy="2058194"/>
                  </a:xfrm>
                </p:grpSpPr>
                <p:cxnSp>
                  <p:nvCxnSpPr>
                    <p:cNvPr id="272" name="Straight Connector 271"/>
                    <p:cNvCxnSpPr/>
                    <p:nvPr/>
                  </p:nvCxnSpPr>
                  <p:spPr>
                    <a:xfrm rot="5400000">
                      <a:off x="-213937" y="4152546"/>
                      <a:ext cx="2056692" cy="1588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73" name="Straight Connector 272"/>
                    <p:cNvCxnSpPr/>
                    <p:nvPr/>
                  </p:nvCxnSpPr>
                  <p:spPr>
                    <a:xfrm>
                      <a:off x="815203" y="5181686"/>
                      <a:ext cx="2156129" cy="1587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74" name="Straight Connector 273"/>
                    <p:cNvCxnSpPr/>
                    <p:nvPr/>
                  </p:nvCxnSpPr>
                  <p:spPr>
                    <a:xfrm rot="16200000" flipH="1">
                      <a:off x="777467" y="3619883"/>
                      <a:ext cx="1523475" cy="990740"/>
                    </a:xfrm>
                    <a:prstGeom prst="line">
                      <a:avLst/>
                    </a:prstGeom>
                    <a:ln>
                      <a:solidFill>
                        <a:srgbClr val="FF3300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7443" name="Rectangle 18"/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-229859" y="4116059"/>
                    <a:ext cx="1160575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pPr algn="ctr"/>
                    <a:r>
                      <a:rPr lang="en-US" sz="1000" b="1"/>
                      <a:t>Price of cookies</a:t>
                    </a:r>
                  </a:p>
                </p:txBody>
              </p:sp>
              <p:sp>
                <p:nvSpPr>
                  <p:cNvPr id="17444" name="Rectangle 17"/>
                  <p:cNvSpPr>
                    <a:spLocks noChangeArrowheads="1"/>
                  </p:cNvSpPr>
                  <p:nvPr/>
                </p:nvSpPr>
                <p:spPr bwMode="auto">
                  <a:xfrm>
                    <a:off x="2286000" y="5257800"/>
                    <a:ext cx="679674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pPr algn="ctr"/>
                    <a:r>
                      <a:rPr lang="en-US" sz="1000" b="1"/>
                      <a:t>Cookies</a:t>
                    </a:r>
                  </a:p>
                </p:txBody>
              </p:sp>
              <p:sp>
                <p:nvSpPr>
                  <p:cNvPr id="17445" name="Rectangle 19"/>
                  <p:cNvSpPr>
                    <a:spLocks noChangeArrowheads="1"/>
                  </p:cNvSpPr>
                  <p:nvPr/>
                </p:nvSpPr>
                <p:spPr bwMode="auto">
                  <a:xfrm>
                    <a:off x="457200" y="4876800"/>
                    <a:ext cx="203325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2</a:t>
                    </a:r>
                  </a:p>
                </p:txBody>
              </p:sp>
              <p:sp>
                <p:nvSpPr>
                  <p:cNvPr id="17446" name="Rectangle 20"/>
                  <p:cNvSpPr>
                    <a:spLocks noChangeArrowheads="1"/>
                  </p:cNvSpPr>
                  <p:nvPr/>
                </p:nvSpPr>
                <p:spPr bwMode="auto">
                  <a:xfrm>
                    <a:off x="457200" y="4572000"/>
                    <a:ext cx="307975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4</a:t>
                    </a:r>
                  </a:p>
                </p:txBody>
              </p:sp>
              <p:sp>
                <p:nvSpPr>
                  <p:cNvPr id="17447" name="Rectangle 21"/>
                  <p:cNvSpPr>
                    <a:spLocks noChangeArrowheads="1"/>
                  </p:cNvSpPr>
                  <p:nvPr/>
                </p:nvSpPr>
                <p:spPr bwMode="auto">
                  <a:xfrm>
                    <a:off x="457200" y="4267200"/>
                    <a:ext cx="190406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6</a:t>
                    </a:r>
                  </a:p>
                </p:txBody>
              </p:sp>
              <p:sp>
                <p:nvSpPr>
                  <p:cNvPr id="17448" name="Rectangle 22"/>
                  <p:cNvSpPr>
                    <a:spLocks noChangeArrowheads="1"/>
                  </p:cNvSpPr>
                  <p:nvPr/>
                </p:nvSpPr>
                <p:spPr bwMode="auto">
                  <a:xfrm>
                    <a:off x="457200" y="3886200"/>
                    <a:ext cx="164008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8</a:t>
                    </a:r>
                  </a:p>
                </p:txBody>
              </p:sp>
              <p:sp>
                <p:nvSpPr>
                  <p:cNvPr id="17449" name="Rectangle 23"/>
                  <p:cNvSpPr>
                    <a:spLocks noChangeArrowheads="1"/>
                  </p:cNvSpPr>
                  <p:nvPr/>
                </p:nvSpPr>
                <p:spPr bwMode="auto">
                  <a:xfrm>
                    <a:off x="381000" y="3581400"/>
                    <a:ext cx="381000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10</a:t>
                    </a:r>
                  </a:p>
                </p:txBody>
              </p:sp>
              <p:sp>
                <p:nvSpPr>
                  <p:cNvPr id="17450" name="Rectangle 24"/>
                  <p:cNvSpPr>
                    <a:spLocks noChangeArrowheads="1"/>
                  </p:cNvSpPr>
                  <p:nvPr/>
                </p:nvSpPr>
                <p:spPr bwMode="auto">
                  <a:xfrm>
                    <a:off x="990600" y="5257800"/>
                    <a:ext cx="323808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15</a:t>
                    </a:r>
                  </a:p>
                </p:txBody>
              </p:sp>
              <p:sp>
                <p:nvSpPr>
                  <p:cNvPr id="17451" name="Rectangle 25"/>
                  <p:cNvSpPr>
                    <a:spLocks noChangeArrowheads="1"/>
                  </p:cNvSpPr>
                  <p:nvPr/>
                </p:nvSpPr>
                <p:spPr bwMode="auto">
                  <a:xfrm>
                    <a:off x="1295400" y="5257800"/>
                    <a:ext cx="323808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30</a:t>
                    </a:r>
                  </a:p>
                </p:txBody>
              </p:sp>
              <p:sp>
                <p:nvSpPr>
                  <p:cNvPr id="17452" name="Rectangle 26"/>
                  <p:cNvSpPr>
                    <a:spLocks noChangeArrowheads="1"/>
                  </p:cNvSpPr>
                  <p:nvPr/>
                </p:nvSpPr>
                <p:spPr bwMode="auto">
                  <a:xfrm>
                    <a:off x="1524000" y="5257800"/>
                    <a:ext cx="323808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45</a:t>
                    </a:r>
                  </a:p>
                </p:txBody>
              </p:sp>
              <p:sp>
                <p:nvSpPr>
                  <p:cNvPr id="17453" name="Rectangle 27"/>
                  <p:cNvSpPr>
                    <a:spLocks noChangeArrowheads="1"/>
                  </p:cNvSpPr>
                  <p:nvPr/>
                </p:nvSpPr>
                <p:spPr bwMode="auto">
                  <a:xfrm>
                    <a:off x="1828800" y="5257800"/>
                    <a:ext cx="323808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60</a:t>
                    </a:r>
                  </a:p>
                </p:txBody>
              </p:sp>
              <p:sp>
                <p:nvSpPr>
                  <p:cNvPr id="17454" name="Rectangle 28"/>
                  <p:cNvSpPr>
                    <a:spLocks noChangeArrowheads="1"/>
                  </p:cNvSpPr>
                  <p:nvPr/>
                </p:nvSpPr>
                <p:spPr bwMode="auto">
                  <a:xfrm>
                    <a:off x="2057400" y="5257800"/>
                    <a:ext cx="323808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75</a:t>
                    </a:r>
                  </a:p>
                </p:txBody>
              </p:sp>
              <p:sp>
                <p:nvSpPr>
                  <p:cNvPr id="17455" name="Rectangle 35"/>
                  <p:cNvSpPr>
                    <a:spLocks noChangeArrowheads="1"/>
                  </p:cNvSpPr>
                  <p:nvPr/>
                </p:nvSpPr>
                <p:spPr bwMode="auto">
                  <a:xfrm>
                    <a:off x="609600" y="5257800"/>
                    <a:ext cx="253275" cy="243656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r>
                      <a:rPr lang="en-US" sz="1000"/>
                      <a:t>0</a:t>
                    </a:r>
                  </a:p>
                </p:txBody>
              </p:sp>
            </p:grpSp>
            <p:sp>
              <p:nvSpPr>
                <p:cNvPr id="17439" name="Rectangle 17"/>
                <p:cNvSpPr>
                  <a:spLocks noChangeArrowheads="1"/>
                </p:cNvSpPr>
                <p:nvPr/>
              </p:nvSpPr>
              <p:spPr bwMode="auto">
                <a:xfrm>
                  <a:off x="1524000" y="3200400"/>
                  <a:ext cx="522581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pPr algn="ctr"/>
                  <a:r>
                    <a:rPr lang="en-US" sz="1000" b="1"/>
                    <a:t>Steve</a:t>
                  </a:r>
                </a:p>
              </p:txBody>
            </p:sp>
            <p:sp>
              <p:nvSpPr>
                <p:cNvPr id="17440" name="Rectangle 17"/>
                <p:cNvSpPr>
                  <a:spLocks noChangeArrowheads="1"/>
                </p:cNvSpPr>
                <p:nvPr/>
              </p:nvSpPr>
              <p:spPr bwMode="auto">
                <a:xfrm>
                  <a:off x="4114800" y="3276600"/>
                  <a:ext cx="458460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pPr algn="ctr"/>
                  <a:r>
                    <a:rPr lang="en-US" sz="1000" b="1"/>
                    <a:t>Sara</a:t>
                  </a:r>
                </a:p>
              </p:txBody>
            </p:sp>
            <p:sp>
              <p:nvSpPr>
                <p:cNvPr id="17441" name="Rectangle 17"/>
                <p:cNvSpPr>
                  <a:spLocks noChangeArrowheads="1"/>
                </p:cNvSpPr>
                <p:nvPr/>
              </p:nvSpPr>
              <p:spPr bwMode="auto">
                <a:xfrm>
                  <a:off x="6858000" y="3200400"/>
                  <a:ext cx="594716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pPr algn="ctr"/>
                  <a:r>
                    <a:rPr lang="en-US" sz="1000" b="1"/>
                    <a:t>Market</a:t>
                  </a:r>
                </a:p>
              </p:txBody>
            </p:sp>
          </p:grpSp>
          <p:grpSp>
            <p:nvGrpSpPr>
              <p:cNvPr id="17424" name="Group 89"/>
              <p:cNvGrpSpPr>
                <a:grpSpLocks/>
              </p:cNvGrpSpPr>
              <p:nvPr/>
            </p:nvGrpSpPr>
            <p:grpSpPr bwMode="auto">
              <a:xfrm>
                <a:off x="885371" y="4898570"/>
                <a:ext cx="986971" cy="863601"/>
                <a:chOff x="885371" y="4898570"/>
                <a:chExt cx="986971" cy="863601"/>
              </a:xfrm>
            </p:grpSpPr>
            <p:cxnSp>
              <p:nvCxnSpPr>
                <p:cNvPr id="17433" name="Straight Connector 248"/>
                <p:cNvCxnSpPr>
                  <a:cxnSpLocks noChangeShapeType="1"/>
                </p:cNvCxnSpPr>
                <p:nvPr/>
              </p:nvCxnSpPr>
              <p:spPr bwMode="auto">
                <a:xfrm>
                  <a:off x="885371" y="4978400"/>
                  <a:ext cx="899886" cy="1588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sysDash"/>
                  <a:round/>
                  <a:headEnd/>
                  <a:tailEnd/>
                </a:ln>
              </p:spPr>
            </p:cxnSp>
            <p:cxnSp>
              <p:nvCxnSpPr>
                <p:cNvPr id="17434" name="Straight Connector 249"/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1393372" y="5384800"/>
                  <a:ext cx="740228" cy="14514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sysDash"/>
                  <a:round/>
                  <a:headEnd/>
                  <a:tailEnd/>
                </a:ln>
              </p:spPr>
            </p:cxnSp>
            <p:sp>
              <p:nvSpPr>
                <p:cNvPr id="17435" name="Flowchart: Connector 250"/>
                <p:cNvSpPr>
                  <a:spLocks noChangeArrowheads="1"/>
                </p:cNvSpPr>
                <p:nvPr/>
              </p:nvSpPr>
              <p:spPr bwMode="auto">
                <a:xfrm>
                  <a:off x="1763485" y="4898570"/>
                  <a:ext cx="108857" cy="130629"/>
                </a:xfrm>
                <a:prstGeom prst="flowChartConnector">
                  <a:avLst/>
                </a:prstGeom>
                <a:solidFill>
                  <a:schemeClr val="accent2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grpSp>
            <p:nvGrpSpPr>
              <p:cNvPr id="17425" name="Group 98"/>
              <p:cNvGrpSpPr>
                <a:grpSpLocks/>
              </p:cNvGrpSpPr>
              <p:nvPr/>
            </p:nvGrpSpPr>
            <p:grpSpPr bwMode="auto">
              <a:xfrm>
                <a:off x="3316515" y="4905827"/>
                <a:ext cx="986971" cy="863601"/>
                <a:chOff x="3316515" y="4905827"/>
                <a:chExt cx="986971" cy="863601"/>
              </a:xfrm>
            </p:grpSpPr>
            <p:cxnSp>
              <p:nvCxnSpPr>
                <p:cNvPr id="17430" name="Straight Connector 245"/>
                <p:cNvCxnSpPr>
                  <a:cxnSpLocks noChangeShapeType="1"/>
                </p:cNvCxnSpPr>
                <p:nvPr/>
              </p:nvCxnSpPr>
              <p:spPr bwMode="auto">
                <a:xfrm>
                  <a:off x="3316515" y="4985657"/>
                  <a:ext cx="899886" cy="1588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sysDash"/>
                  <a:round/>
                  <a:headEnd/>
                  <a:tailEnd/>
                </a:ln>
              </p:spPr>
            </p:cxnSp>
            <p:cxnSp>
              <p:nvCxnSpPr>
                <p:cNvPr id="17431" name="Straight Connector 246"/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3824516" y="5392057"/>
                  <a:ext cx="740228" cy="14514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sysDash"/>
                  <a:round/>
                  <a:headEnd/>
                  <a:tailEnd/>
                </a:ln>
              </p:spPr>
            </p:cxnSp>
            <p:sp>
              <p:nvSpPr>
                <p:cNvPr id="248" name="Flowchart: Connector 247"/>
                <p:cNvSpPr/>
                <p:nvPr/>
              </p:nvSpPr>
              <p:spPr bwMode="auto">
                <a:xfrm>
                  <a:off x="4194047" y="4906095"/>
                  <a:ext cx="109552" cy="130130"/>
                </a:xfrm>
                <a:prstGeom prst="flowChartConnector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/>
                <a:lstStyle/>
                <a:p>
                  <a:pPr>
                    <a:defRPr/>
                  </a:pPr>
                  <a:endParaRPr lang="en-US">
                    <a:ln>
                      <a:solidFill>
                        <a:srgbClr val="008000"/>
                      </a:solidFill>
                    </a:ln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7426" name="Group 99"/>
              <p:cNvGrpSpPr>
                <a:grpSpLocks/>
              </p:cNvGrpSpPr>
              <p:nvPr/>
            </p:nvGrpSpPr>
            <p:grpSpPr bwMode="auto">
              <a:xfrm>
                <a:off x="6095999" y="4927599"/>
                <a:ext cx="986971" cy="863601"/>
                <a:chOff x="6095999" y="4927599"/>
                <a:chExt cx="986971" cy="863601"/>
              </a:xfrm>
            </p:grpSpPr>
            <p:cxnSp>
              <p:nvCxnSpPr>
                <p:cNvPr id="17427" name="Straight Connector 242"/>
                <p:cNvCxnSpPr>
                  <a:cxnSpLocks noChangeShapeType="1"/>
                </p:cNvCxnSpPr>
                <p:nvPr/>
              </p:nvCxnSpPr>
              <p:spPr bwMode="auto">
                <a:xfrm>
                  <a:off x="6095999" y="5007429"/>
                  <a:ext cx="899886" cy="1588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sysDash"/>
                  <a:round/>
                  <a:headEnd/>
                  <a:tailEnd/>
                </a:ln>
              </p:spPr>
            </p:cxnSp>
            <p:cxnSp>
              <p:nvCxnSpPr>
                <p:cNvPr id="17428" name="Straight Connector 243"/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6604000" y="5413829"/>
                  <a:ext cx="740228" cy="14514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prstDash val="sysDash"/>
                  <a:round/>
                  <a:headEnd/>
                  <a:tailEnd/>
                </a:ln>
              </p:spPr>
            </p:cxnSp>
            <p:sp>
              <p:nvSpPr>
                <p:cNvPr id="17429" name="Flowchart: Connector 244"/>
                <p:cNvSpPr>
                  <a:spLocks noChangeArrowheads="1"/>
                </p:cNvSpPr>
                <p:nvPr/>
              </p:nvSpPr>
              <p:spPr bwMode="auto">
                <a:xfrm>
                  <a:off x="6974113" y="4927599"/>
                  <a:ext cx="108857" cy="130629"/>
                </a:xfrm>
                <a:prstGeom prst="flowChartConnector">
                  <a:avLst/>
                </a:prstGeom>
                <a:solidFill>
                  <a:srgbClr val="FF0000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</p:grpSp>
        <p:sp>
          <p:nvSpPr>
            <p:cNvPr id="17422" name="Rectangle 17"/>
            <p:cNvSpPr>
              <a:spLocks noChangeArrowheads="1"/>
            </p:cNvSpPr>
            <p:nvPr/>
          </p:nvSpPr>
          <p:spPr bwMode="auto">
            <a:xfrm>
              <a:off x="7696200" y="3581400"/>
              <a:ext cx="940964" cy="24365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/>
              <a:r>
                <a:rPr lang="en-US" sz="1000" b="1"/>
                <a:t>Market Price</a:t>
              </a:r>
            </a:p>
          </p:txBody>
        </p:sp>
      </p:grpSp>
      <p:sp>
        <p:nvSpPr>
          <p:cNvPr id="28683" name="Rectangle 84"/>
          <p:cNvSpPr>
            <a:spLocks noChangeArrowheads="1"/>
          </p:cNvSpPr>
          <p:nvPr/>
        </p:nvSpPr>
        <p:spPr bwMode="auto">
          <a:xfrm>
            <a:off x="0" y="3126573"/>
            <a:ext cx="9140824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14300" lvl="1">
              <a:spcBef>
                <a:spcPct val="25000"/>
              </a:spcBef>
              <a:spcAft>
                <a:spcPct val="25000"/>
              </a:spcAft>
              <a:buClr>
                <a:srgbClr val="FF0000"/>
              </a:buClr>
              <a:buFont typeface="Wingdings" pitchFamily="2" charset="2"/>
              <a:buNone/>
            </a:pPr>
            <a:r>
              <a:rPr lang="en-US" sz="2400" dirty="0"/>
              <a:t>The consumer surplus is the net value from cookies in excess of the expenditure on it (green triangle).</a:t>
            </a:r>
          </a:p>
        </p:txBody>
      </p:sp>
      <p:sp>
        <p:nvSpPr>
          <p:cNvPr id="85" name="Rectangle 9">
            <a:extLst>
              <a:ext uri="{FF2B5EF4-FFF2-40B4-BE49-F238E27FC236}">
                <a16:creationId xmlns:a16="http://schemas.microsoft.com/office/drawing/2014/main" id="{E2C585D3-FDEE-41EF-BF66-B60F50EE4C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65862"/>
            <a:ext cx="9144000" cy="846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114300" lvl="1">
              <a:spcBef>
                <a:spcPct val="25000"/>
              </a:spcBef>
              <a:spcAft>
                <a:spcPct val="25000"/>
              </a:spcAft>
              <a:buClr>
                <a:srgbClr val="FF0000"/>
              </a:buClr>
              <a:buFont typeface="Wingdings" pitchFamily="2" charset="2"/>
              <a:buNone/>
            </a:pPr>
            <a:r>
              <a:rPr lang="en-US" sz="2400" dirty="0"/>
              <a:t>At $6 a box, Steve spends $180, Sara spends $90, and together they spend $270 on cookies.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D5EDD50D-5A7F-424B-BE65-215DC35DB49A}"/>
              </a:ext>
            </a:extLst>
          </p:cNvPr>
          <p:cNvSpPr/>
          <p:nvPr/>
        </p:nvSpPr>
        <p:spPr>
          <a:xfrm>
            <a:off x="0" y="1248230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4300" lvl="1">
              <a:spcBef>
                <a:spcPct val="25000"/>
              </a:spcBef>
              <a:spcAft>
                <a:spcPct val="25000"/>
              </a:spcAft>
              <a:buClr>
                <a:srgbClr val="FF0000"/>
              </a:buClr>
              <a:buFont typeface="Wingdings" pitchFamily="2" charset="2"/>
              <a:buNone/>
            </a:pPr>
            <a:r>
              <a:rPr lang="en-US" sz="2400" dirty="0"/>
              <a:t>At $6 a box, the consumer surplus for the economy is the area under the market demand curve above the market price, summed over the 45 boxes bought.</a:t>
            </a:r>
          </a:p>
        </p:txBody>
      </p:sp>
      <p:sp>
        <p:nvSpPr>
          <p:cNvPr id="2" name="Right Triangle 1">
            <a:extLst>
              <a:ext uri="{FF2B5EF4-FFF2-40B4-BE49-F238E27FC236}">
                <a16:creationId xmlns:a16="http://schemas.microsoft.com/office/drawing/2014/main" id="{20045EAC-5A0D-D25D-2225-9B9A18955117}"/>
              </a:ext>
            </a:extLst>
          </p:cNvPr>
          <p:cNvSpPr/>
          <p:nvPr/>
        </p:nvSpPr>
        <p:spPr bwMode="auto">
          <a:xfrm>
            <a:off x="884238" y="4092601"/>
            <a:ext cx="921230" cy="1239812"/>
          </a:xfrm>
          <a:prstGeom prst="rtTriangl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Right Triangle 2">
            <a:extLst>
              <a:ext uri="{FF2B5EF4-FFF2-40B4-BE49-F238E27FC236}">
                <a16:creationId xmlns:a16="http://schemas.microsoft.com/office/drawing/2014/main" id="{7198BB62-A508-0330-D4C8-F783B9DE1426}"/>
              </a:ext>
            </a:extLst>
          </p:cNvPr>
          <p:cNvSpPr/>
          <p:nvPr/>
        </p:nvSpPr>
        <p:spPr bwMode="auto">
          <a:xfrm>
            <a:off x="3321050" y="4044169"/>
            <a:ext cx="921230" cy="1239812"/>
          </a:xfrm>
          <a:prstGeom prst="rtTriangl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DA7F50B5-C14D-8622-6BF6-9C7D5A6360D4}"/>
              </a:ext>
            </a:extLst>
          </p:cNvPr>
          <p:cNvSpPr/>
          <p:nvPr/>
        </p:nvSpPr>
        <p:spPr bwMode="auto">
          <a:xfrm>
            <a:off x="6028297" y="4071963"/>
            <a:ext cx="921230" cy="1239812"/>
          </a:xfrm>
          <a:prstGeom prst="rtTriangl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73AA96-4EBB-F836-7359-D654F53F1D5B}"/>
              </a:ext>
            </a:extLst>
          </p:cNvPr>
          <p:cNvSpPr/>
          <p:nvPr/>
        </p:nvSpPr>
        <p:spPr bwMode="auto">
          <a:xfrm>
            <a:off x="910409" y="5402715"/>
            <a:ext cx="813239" cy="651928"/>
          </a:xfrm>
          <a:prstGeom prst="rect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85D506-8272-BA00-F7B6-D21F123ED00F}"/>
              </a:ext>
            </a:extLst>
          </p:cNvPr>
          <p:cNvSpPr/>
          <p:nvPr/>
        </p:nvSpPr>
        <p:spPr bwMode="auto">
          <a:xfrm>
            <a:off x="3356287" y="5377087"/>
            <a:ext cx="813239" cy="651928"/>
          </a:xfrm>
          <a:prstGeom prst="rect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A5D9D7-27AE-02C2-F88E-AABC0E7F550D}"/>
              </a:ext>
            </a:extLst>
          </p:cNvPr>
          <p:cNvSpPr/>
          <p:nvPr/>
        </p:nvSpPr>
        <p:spPr bwMode="auto">
          <a:xfrm>
            <a:off x="6100952" y="5360597"/>
            <a:ext cx="813239" cy="651928"/>
          </a:xfrm>
          <a:prstGeom prst="rect">
            <a:avLst/>
          </a:prstGeom>
          <a:solidFill>
            <a:schemeClr val="accent2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8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83" grpId="0"/>
      <p:bldP spid="8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 dirty="0"/>
              <a:t>Learning Objective #3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0" y="1233714"/>
            <a:ext cx="9144000" cy="5624286"/>
          </a:xfrm>
        </p:spPr>
        <p:txBody>
          <a:bodyPr/>
          <a:lstStyle/>
          <a:p>
            <a:pPr marL="0" lvl="0" indent="0" algn="ctr">
              <a:buNone/>
            </a:pPr>
            <a:r>
              <a:rPr lang="en-US" sz="6000" dirty="0"/>
              <a:t>Interrelate, determine, and illustrate price, cost, minimum supply-price, marginal cost, supply and producer surplus.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43932742"/>
      </p:ext>
    </p:extLst>
  </p:cSld>
  <p:clrMapOvr>
    <a:masterClrMapping/>
  </p:clrMapOvr>
  <p:transition spd="med">
    <p:pull dir="r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Supply, Marginal Cost  &amp; Producer Surplus</a:t>
            </a:r>
          </a:p>
        </p:txBody>
      </p:sp>
      <p:sp>
        <p:nvSpPr>
          <p:cNvPr id="239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566863"/>
            <a:ext cx="9144000" cy="5080000"/>
          </a:xfrm>
        </p:spPr>
        <p:txBody>
          <a:bodyPr/>
          <a:lstStyle/>
          <a:p>
            <a:r>
              <a:rPr lang="en-US" dirty="0"/>
              <a:t>Supply, Cost, and Minimum Supply-Price</a:t>
            </a:r>
          </a:p>
          <a:p>
            <a:pPr lvl="1"/>
            <a:r>
              <a:rPr lang="en-US" dirty="0"/>
              <a:t>Cost is what the producer gives up, price is what the producer receives.  </a:t>
            </a:r>
          </a:p>
          <a:p>
            <a:pPr lvl="1"/>
            <a:r>
              <a:rPr lang="en-US" dirty="0"/>
              <a:t>Marginal cost is the </a:t>
            </a:r>
            <a:r>
              <a:rPr lang="en-US" i="1" dirty="0"/>
              <a:t>minimum price</a:t>
            </a:r>
            <a:r>
              <a:rPr lang="en-US" dirty="0"/>
              <a:t> that a firm is willing to accept. 	</a:t>
            </a:r>
          </a:p>
          <a:p>
            <a:pPr lvl="1"/>
            <a:r>
              <a:rPr lang="en-US" dirty="0"/>
              <a:t>The minimum supply-price determines supply (marginal cost).</a:t>
            </a:r>
          </a:p>
        </p:txBody>
      </p:sp>
    </p:spTree>
    <p:custDataLst>
      <p:tags r:id="rId1"/>
    </p:custDataLst>
  </p:cSld>
  <p:clrMapOvr>
    <a:masterClrMapping/>
  </p:clrMapOvr>
  <p:transition spd="med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39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39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39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9619" grpId="0" uiExpand="1" build="p" bldLvl="3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Supply, Marginal Cost  &amp; Producer Surplus</a:t>
            </a:r>
          </a:p>
        </p:txBody>
      </p:sp>
      <p:sp>
        <p:nvSpPr>
          <p:cNvPr id="414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538288"/>
            <a:ext cx="9144000" cy="503713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Individual Supply and Market Supply</a:t>
            </a:r>
          </a:p>
          <a:p>
            <a:pPr>
              <a:lnSpc>
                <a:spcPct val="90000"/>
              </a:lnSpc>
            </a:pPr>
            <a:r>
              <a:rPr lang="en-US" dirty="0"/>
              <a:t>The relationship between the price of a good and the quantity supplied by one producer is called </a:t>
            </a:r>
            <a:r>
              <a:rPr lang="en-US" i="1" dirty="0"/>
              <a:t>individual supply</a:t>
            </a:r>
          </a:p>
          <a:p>
            <a:pPr>
              <a:lnSpc>
                <a:spcPct val="90000"/>
              </a:lnSpc>
            </a:pPr>
            <a:r>
              <a:rPr lang="en-US" dirty="0"/>
              <a:t>The relationship between the price of a good and the quantity supplied by all producers in the market is called </a:t>
            </a:r>
            <a:r>
              <a:rPr lang="en-US" i="1" dirty="0"/>
              <a:t> market supply</a:t>
            </a:r>
            <a:endParaRPr lang="en-US" dirty="0"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14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414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472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Supply, Marginal Cost  &amp; Producer Surplus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95408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At $8 a box, the quantity supplied by Barbara is 30 boxes and by Bill is 15 boxes.</a:t>
            </a:r>
          </a:p>
        </p:txBody>
      </p:sp>
      <p:sp>
        <p:nvSpPr>
          <p:cNvPr id="416774" name="Rectangle 6"/>
          <p:cNvSpPr>
            <a:spLocks noChangeArrowheads="1"/>
          </p:cNvSpPr>
          <p:nvPr/>
        </p:nvSpPr>
        <p:spPr bwMode="auto">
          <a:xfrm>
            <a:off x="457200" y="2681288"/>
            <a:ext cx="8229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sz="2400" dirty="0"/>
              <a:t>The quantity supplied by all producers is 45 boxes.</a:t>
            </a:r>
          </a:p>
        </p:txBody>
      </p:sp>
      <p:grpSp>
        <p:nvGrpSpPr>
          <p:cNvPr id="21524" name="Group 76"/>
          <p:cNvGrpSpPr>
            <a:grpSpLocks/>
          </p:cNvGrpSpPr>
          <p:nvPr/>
        </p:nvGrpSpPr>
        <p:grpSpPr bwMode="auto">
          <a:xfrm>
            <a:off x="482600" y="3859213"/>
            <a:ext cx="2743200" cy="2389187"/>
            <a:chOff x="228601" y="3111496"/>
            <a:chExt cx="2743199" cy="2389960"/>
          </a:xfrm>
        </p:grpSpPr>
        <p:grpSp>
          <p:nvGrpSpPr>
            <p:cNvPr id="21564" name="Group 53"/>
            <p:cNvGrpSpPr>
              <a:grpSpLocks/>
            </p:cNvGrpSpPr>
            <p:nvPr/>
          </p:nvGrpSpPr>
          <p:grpSpPr bwMode="auto">
            <a:xfrm>
              <a:off x="836614" y="3111496"/>
              <a:ext cx="2135186" cy="2072358"/>
              <a:chOff x="836614" y="3111496"/>
              <a:chExt cx="2135186" cy="2072358"/>
            </a:xfrm>
          </p:grpSpPr>
          <p:cxnSp>
            <p:nvCxnSpPr>
              <p:cNvPr id="134" name="Straight Connector 4"/>
              <p:cNvCxnSpPr/>
              <p:nvPr/>
            </p:nvCxnSpPr>
            <p:spPr>
              <a:xfrm rot="5400000">
                <a:off x="-197977" y="4146087"/>
                <a:ext cx="2070769" cy="158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>
              <a:xfrm>
                <a:off x="838201" y="5182265"/>
                <a:ext cx="2133599" cy="158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/>
              <p:cNvCxnSpPr/>
              <p:nvPr/>
            </p:nvCxnSpPr>
            <p:spPr>
              <a:xfrm rot="5400000">
                <a:off x="972169" y="3919128"/>
                <a:ext cx="1089377" cy="782637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sp>
          <p:nvSpPr>
            <p:cNvPr id="21565" name="Rectangle 18"/>
            <p:cNvSpPr>
              <a:spLocks noChangeArrowheads="1"/>
            </p:cNvSpPr>
            <p:nvPr/>
          </p:nvSpPr>
          <p:spPr bwMode="auto">
            <a:xfrm rot="-5400000">
              <a:off x="-229859" y="4116059"/>
              <a:ext cx="1160575" cy="24365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/>
              <a:r>
                <a:rPr lang="en-US" sz="1000" b="1"/>
                <a:t>Price of cookies</a:t>
              </a:r>
            </a:p>
          </p:txBody>
        </p:sp>
        <p:sp>
          <p:nvSpPr>
            <p:cNvPr id="21566" name="Rectangle 17"/>
            <p:cNvSpPr>
              <a:spLocks noChangeArrowheads="1"/>
            </p:cNvSpPr>
            <p:nvPr/>
          </p:nvSpPr>
          <p:spPr bwMode="auto">
            <a:xfrm>
              <a:off x="2286000" y="5257800"/>
              <a:ext cx="679674" cy="24365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/>
              <a:r>
                <a:rPr lang="en-US" sz="1000" b="1"/>
                <a:t>Cookies</a:t>
              </a:r>
            </a:p>
          </p:txBody>
        </p:sp>
        <p:sp>
          <p:nvSpPr>
            <p:cNvPr id="21567" name="Rectangle 19"/>
            <p:cNvSpPr>
              <a:spLocks noChangeArrowheads="1"/>
            </p:cNvSpPr>
            <p:nvPr/>
          </p:nvSpPr>
          <p:spPr bwMode="auto">
            <a:xfrm>
              <a:off x="457200" y="4876800"/>
              <a:ext cx="203325" cy="24365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r>
                <a:rPr lang="en-US" sz="1000"/>
                <a:t>2</a:t>
              </a:r>
            </a:p>
          </p:txBody>
        </p:sp>
        <p:sp>
          <p:nvSpPr>
            <p:cNvPr id="21568" name="Rectangle 20"/>
            <p:cNvSpPr>
              <a:spLocks noChangeArrowheads="1"/>
            </p:cNvSpPr>
            <p:nvPr/>
          </p:nvSpPr>
          <p:spPr bwMode="auto">
            <a:xfrm>
              <a:off x="457200" y="4572000"/>
              <a:ext cx="307975" cy="24365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r>
                <a:rPr lang="en-US" sz="1000"/>
                <a:t>4</a:t>
              </a:r>
            </a:p>
          </p:txBody>
        </p:sp>
        <p:sp>
          <p:nvSpPr>
            <p:cNvPr id="21569" name="Rectangle 21"/>
            <p:cNvSpPr>
              <a:spLocks noChangeArrowheads="1"/>
            </p:cNvSpPr>
            <p:nvPr/>
          </p:nvSpPr>
          <p:spPr bwMode="auto">
            <a:xfrm>
              <a:off x="457200" y="4267200"/>
              <a:ext cx="190406" cy="24365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r>
                <a:rPr lang="en-US" sz="1000"/>
                <a:t>6</a:t>
              </a:r>
            </a:p>
          </p:txBody>
        </p:sp>
        <p:sp>
          <p:nvSpPr>
            <p:cNvPr id="21570" name="Rectangle 22"/>
            <p:cNvSpPr>
              <a:spLocks noChangeArrowheads="1"/>
            </p:cNvSpPr>
            <p:nvPr/>
          </p:nvSpPr>
          <p:spPr bwMode="auto">
            <a:xfrm>
              <a:off x="457200" y="3886200"/>
              <a:ext cx="164008" cy="24365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r>
                <a:rPr lang="en-US" sz="1000"/>
                <a:t>8</a:t>
              </a:r>
            </a:p>
          </p:txBody>
        </p:sp>
        <p:sp>
          <p:nvSpPr>
            <p:cNvPr id="21571" name="Rectangle 23"/>
            <p:cNvSpPr>
              <a:spLocks noChangeArrowheads="1"/>
            </p:cNvSpPr>
            <p:nvPr/>
          </p:nvSpPr>
          <p:spPr bwMode="auto">
            <a:xfrm>
              <a:off x="381000" y="3581400"/>
              <a:ext cx="381000" cy="24365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r>
                <a:rPr lang="en-US" sz="1000"/>
                <a:t>10</a:t>
              </a:r>
            </a:p>
          </p:txBody>
        </p:sp>
        <p:sp>
          <p:nvSpPr>
            <p:cNvPr id="21572" name="Rectangle 24"/>
            <p:cNvSpPr>
              <a:spLocks noChangeArrowheads="1"/>
            </p:cNvSpPr>
            <p:nvPr/>
          </p:nvSpPr>
          <p:spPr bwMode="auto">
            <a:xfrm>
              <a:off x="990600" y="5257800"/>
              <a:ext cx="323808" cy="24365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000"/>
                <a:t>10</a:t>
              </a:r>
            </a:p>
          </p:txBody>
        </p:sp>
        <p:sp>
          <p:nvSpPr>
            <p:cNvPr id="21573" name="Rectangle 25"/>
            <p:cNvSpPr>
              <a:spLocks noChangeArrowheads="1"/>
            </p:cNvSpPr>
            <p:nvPr/>
          </p:nvSpPr>
          <p:spPr bwMode="auto">
            <a:xfrm>
              <a:off x="1295400" y="5257800"/>
              <a:ext cx="323808" cy="24365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000"/>
                <a:t>20</a:t>
              </a:r>
            </a:p>
          </p:txBody>
        </p:sp>
        <p:sp>
          <p:nvSpPr>
            <p:cNvPr id="21574" name="Rectangle 26"/>
            <p:cNvSpPr>
              <a:spLocks noChangeArrowheads="1"/>
            </p:cNvSpPr>
            <p:nvPr/>
          </p:nvSpPr>
          <p:spPr bwMode="auto">
            <a:xfrm>
              <a:off x="1524000" y="5257800"/>
              <a:ext cx="323808" cy="24365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000"/>
                <a:t>30</a:t>
              </a:r>
            </a:p>
          </p:txBody>
        </p:sp>
        <p:sp>
          <p:nvSpPr>
            <p:cNvPr id="21575" name="Rectangle 27"/>
            <p:cNvSpPr>
              <a:spLocks noChangeArrowheads="1"/>
            </p:cNvSpPr>
            <p:nvPr/>
          </p:nvSpPr>
          <p:spPr bwMode="auto">
            <a:xfrm>
              <a:off x="1828800" y="5257800"/>
              <a:ext cx="323808" cy="24365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000"/>
                <a:t>40</a:t>
              </a:r>
            </a:p>
          </p:txBody>
        </p:sp>
        <p:sp>
          <p:nvSpPr>
            <p:cNvPr id="21576" name="Rectangle 28"/>
            <p:cNvSpPr>
              <a:spLocks noChangeArrowheads="1"/>
            </p:cNvSpPr>
            <p:nvPr/>
          </p:nvSpPr>
          <p:spPr bwMode="auto">
            <a:xfrm>
              <a:off x="2057400" y="5257800"/>
              <a:ext cx="323808" cy="24365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000"/>
                <a:t>50</a:t>
              </a:r>
            </a:p>
          </p:txBody>
        </p:sp>
        <p:sp>
          <p:nvSpPr>
            <p:cNvPr id="21577" name="Rectangle 35"/>
            <p:cNvSpPr>
              <a:spLocks noChangeArrowheads="1"/>
            </p:cNvSpPr>
            <p:nvPr/>
          </p:nvSpPr>
          <p:spPr bwMode="auto">
            <a:xfrm>
              <a:off x="609600" y="5257800"/>
              <a:ext cx="253275" cy="24365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000"/>
                <a:t>0</a:t>
              </a:r>
            </a:p>
          </p:txBody>
        </p:sp>
      </p:grpSp>
      <p:grpSp>
        <p:nvGrpSpPr>
          <p:cNvPr id="21525" name="Group 77"/>
          <p:cNvGrpSpPr>
            <a:grpSpLocks/>
          </p:cNvGrpSpPr>
          <p:nvPr/>
        </p:nvGrpSpPr>
        <p:grpSpPr bwMode="auto">
          <a:xfrm>
            <a:off x="2921000" y="3871913"/>
            <a:ext cx="2743200" cy="2375693"/>
            <a:chOff x="228601" y="3124994"/>
            <a:chExt cx="2743199" cy="2376462"/>
          </a:xfrm>
        </p:grpSpPr>
        <p:grpSp>
          <p:nvGrpSpPr>
            <p:cNvPr id="21548" name="Group 53"/>
            <p:cNvGrpSpPr>
              <a:grpSpLocks/>
            </p:cNvGrpSpPr>
            <p:nvPr/>
          </p:nvGrpSpPr>
          <p:grpSpPr bwMode="auto">
            <a:xfrm>
              <a:off x="837406" y="3124994"/>
              <a:ext cx="2134394" cy="2058194"/>
              <a:chOff x="837406" y="3124994"/>
              <a:chExt cx="2134394" cy="2058194"/>
            </a:xfrm>
          </p:grpSpPr>
          <p:cxnSp>
            <p:nvCxnSpPr>
              <p:cNvPr id="118" name="Straight Connector 117"/>
              <p:cNvCxnSpPr/>
              <p:nvPr/>
            </p:nvCxnSpPr>
            <p:spPr>
              <a:xfrm rot="5400000">
                <a:off x="-202742" y="4164350"/>
                <a:ext cx="2080298" cy="158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>
              <a:xfrm>
                <a:off x="838201" y="5205292"/>
                <a:ext cx="2133599" cy="158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549" name="Rectangle 18"/>
            <p:cNvSpPr>
              <a:spLocks noChangeArrowheads="1"/>
            </p:cNvSpPr>
            <p:nvPr/>
          </p:nvSpPr>
          <p:spPr bwMode="auto">
            <a:xfrm rot="-5400000">
              <a:off x="-229859" y="4116059"/>
              <a:ext cx="1160575" cy="24365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/>
              <a:r>
                <a:rPr lang="en-US" sz="1000" b="1"/>
                <a:t>Price of cookies</a:t>
              </a:r>
            </a:p>
          </p:txBody>
        </p:sp>
        <p:sp>
          <p:nvSpPr>
            <p:cNvPr id="21550" name="Rectangle 17"/>
            <p:cNvSpPr>
              <a:spLocks noChangeArrowheads="1"/>
            </p:cNvSpPr>
            <p:nvPr/>
          </p:nvSpPr>
          <p:spPr bwMode="auto">
            <a:xfrm>
              <a:off x="2286000" y="5257800"/>
              <a:ext cx="679674" cy="24365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/>
              <a:r>
                <a:rPr lang="en-US" sz="1000" b="1"/>
                <a:t>Cookies</a:t>
              </a:r>
            </a:p>
          </p:txBody>
        </p:sp>
        <p:sp>
          <p:nvSpPr>
            <p:cNvPr id="21551" name="Rectangle 19"/>
            <p:cNvSpPr>
              <a:spLocks noChangeArrowheads="1"/>
            </p:cNvSpPr>
            <p:nvPr/>
          </p:nvSpPr>
          <p:spPr bwMode="auto">
            <a:xfrm>
              <a:off x="457200" y="4876800"/>
              <a:ext cx="203325" cy="24365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r>
                <a:rPr lang="en-US" sz="1000"/>
                <a:t>2</a:t>
              </a:r>
            </a:p>
          </p:txBody>
        </p:sp>
        <p:sp>
          <p:nvSpPr>
            <p:cNvPr id="21552" name="Rectangle 20"/>
            <p:cNvSpPr>
              <a:spLocks noChangeArrowheads="1"/>
            </p:cNvSpPr>
            <p:nvPr/>
          </p:nvSpPr>
          <p:spPr bwMode="auto">
            <a:xfrm>
              <a:off x="457200" y="4572000"/>
              <a:ext cx="307975" cy="24365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r>
                <a:rPr lang="en-US" sz="1000"/>
                <a:t>4</a:t>
              </a:r>
            </a:p>
          </p:txBody>
        </p:sp>
        <p:sp>
          <p:nvSpPr>
            <p:cNvPr id="21553" name="Rectangle 21"/>
            <p:cNvSpPr>
              <a:spLocks noChangeArrowheads="1"/>
            </p:cNvSpPr>
            <p:nvPr/>
          </p:nvSpPr>
          <p:spPr bwMode="auto">
            <a:xfrm>
              <a:off x="457200" y="4267200"/>
              <a:ext cx="190406" cy="24365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r>
                <a:rPr lang="en-US" sz="1000"/>
                <a:t>6</a:t>
              </a:r>
            </a:p>
          </p:txBody>
        </p:sp>
        <p:sp>
          <p:nvSpPr>
            <p:cNvPr id="21554" name="Rectangle 22"/>
            <p:cNvSpPr>
              <a:spLocks noChangeArrowheads="1"/>
            </p:cNvSpPr>
            <p:nvPr/>
          </p:nvSpPr>
          <p:spPr bwMode="auto">
            <a:xfrm>
              <a:off x="457200" y="3886200"/>
              <a:ext cx="164008" cy="24365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r>
                <a:rPr lang="en-US" sz="1000"/>
                <a:t>8</a:t>
              </a:r>
            </a:p>
          </p:txBody>
        </p:sp>
        <p:sp>
          <p:nvSpPr>
            <p:cNvPr id="21555" name="Rectangle 23"/>
            <p:cNvSpPr>
              <a:spLocks noChangeArrowheads="1"/>
            </p:cNvSpPr>
            <p:nvPr/>
          </p:nvSpPr>
          <p:spPr bwMode="auto">
            <a:xfrm>
              <a:off x="381000" y="3581400"/>
              <a:ext cx="381000" cy="24365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r>
                <a:rPr lang="en-US" sz="1000"/>
                <a:t>10</a:t>
              </a:r>
            </a:p>
          </p:txBody>
        </p:sp>
        <p:sp>
          <p:nvSpPr>
            <p:cNvPr id="21556" name="Rectangle 24"/>
            <p:cNvSpPr>
              <a:spLocks noChangeArrowheads="1"/>
            </p:cNvSpPr>
            <p:nvPr/>
          </p:nvSpPr>
          <p:spPr bwMode="auto">
            <a:xfrm>
              <a:off x="990600" y="5257800"/>
              <a:ext cx="253275" cy="24365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000"/>
                <a:t>5</a:t>
              </a:r>
            </a:p>
          </p:txBody>
        </p:sp>
        <p:sp>
          <p:nvSpPr>
            <p:cNvPr id="21557" name="Rectangle 25"/>
            <p:cNvSpPr>
              <a:spLocks noChangeArrowheads="1"/>
            </p:cNvSpPr>
            <p:nvPr/>
          </p:nvSpPr>
          <p:spPr bwMode="auto">
            <a:xfrm>
              <a:off x="1295400" y="5257800"/>
              <a:ext cx="323808" cy="24365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000"/>
                <a:t>10</a:t>
              </a:r>
            </a:p>
          </p:txBody>
        </p:sp>
        <p:sp>
          <p:nvSpPr>
            <p:cNvPr id="21558" name="Rectangle 26"/>
            <p:cNvSpPr>
              <a:spLocks noChangeArrowheads="1"/>
            </p:cNvSpPr>
            <p:nvPr/>
          </p:nvSpPr>
          <p:spPr bwMode="auto">
            <a:xfrm>
              <a:off x="1524000" y="5257800"/>
              <a:ext cx="323808" cy="24365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000"/>
                <a:t>15</a:t>
              </a:r>
            </a:p>
          </p:txBody>
        </p:sp>
        <p:sp>
          <p:nvSpPr>
            <p:cNvPr id="21559" name="Rectangle 27"/>
            <p:cNvSpPr>
              <a:spLocks noChangeArrowheads="1"/>
            </p:cNvSpPr>
            <p:nvPr/>
          </p:nvSpPr>
          <p:spPr bwMode="auto">
            <a:xfrm>
              <a:off x="1828800" y="5257800"/>
              <a:ext cx="323808" cy="24365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000"/>
                <a:t>20</a:t>
              </a:r>
            </a:p>
          </p:txBody>
        </p:sp>
        <p:sp>
          <p:nvSpPr>
            <p:cNvPr id="21560" name="Rectangle 28"/>
            <p:cNvSpPr>
              <a:spLocks noChangeArrowheads="1"/>
            </p:cNvSpPr>
            <p:nvPr/>
          </p:nvSpPr>
          <p:spPr bwMode="auto">
            <a:xfrm>
              <a:off x="2057400" y="5257800"/>
              <a:ext cx="323808" cy="24365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000"/>
                <a:t>25</a:t>
              </a:r>
            </a:p>
          </p:txBody>
        </p:sp>
        <p:sp>
          <p:nvSpPr>
            <p:cNvPr id="21561" name="Rectangle 35"/>
            <p:cNvSpPr>
              <a:spLocks noChangeArrowheads="1"/>
            </p:cNvSpPr>
            <p:nvPr/>
          </p:nvSpPr>
          <p:spPr bwMode="auto">
            <a:xfrm>
              <a:off x="609600" y="5257800"/>
              <a:ext cx="253275" cy="24365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000"/>
                <a:t>0</a:t>
              </a:r>
            </a:p>
          </p:txBody>
        </p:sp>
      </p:grpSp>
      <p:grpSp>
        <p:nvGrpSpPr>
          <p:cNvPr id="21526" name="Group 95"/>
          <p:cNvGrpSpPr>
            <a:grpSpLocks/>
          </p:cNvGrpSpPr>
          <p:nvPr/>
        </p:nvGrpSpPr>
        <p:grpSpPr bwMode="auto">
          <a:xfrm>
            <a:off x="5664200" y="3871913"/>
            <a:ext cx="2743200" cy="2375693"/>
            <a:chOff x="228601" y="3124994"/>
            <a:chExt cx="2743199" cy="2376462"/>
          </a:xfrm>
        </p:grpSpPr>
        <p:grpSp>
          <p:nvGrpSpPr>
            <p:cNvPr id="21532" name="Group 53"/>
            <p:cNvGrpSpPr>
              <a:grpSpLocks/>
            </p:cNvGrpSpPr>
            <p:nvPr/>
          </p:nvGrpSpPr>
          <p:grpSpPr bwMode="auto">
            <a:xfrm>
              <a:off x="837406" y="3124994"/>
              <a:ext cx="2134394" cy="2058194"/>
              <a:chOff x="837406" y="3124994"/>
              <a:chExt cx="2134394" cy="2058194"/>
            </a:xfrm>
          </p:grpSpPr>
          <p:cxnSp>
            <p:nvCxnSpPr>
              <p:cNvPr id="102" name="Straight Connector 101"/>
              <p:cNvCxnSpPr/>
              <p:nvPr/>
            </p:nvCxnSpPr>
            <p:spPr>
              <a:xfrm rot="5400000">
                <a:off x="-202742" y="4164350"/>
                <a:ext cx="2080298" cy="158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/>
              <p:cNvCxnSpPr/>
              <p:nvPr/>
            </p:nvCxnSpPr>
            <p:spPr>
              <a:xfrm>
                <a:off x="838201" y="5205292"/>
                <a:ext cx="2133599" cy="158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533" name="Rectangle 18"/>
            <p:cNvSpPr>
              <a:spLocks noChangeArrowheads="1"/>
            </p:cNvSpPr>
            <p:nvPr/>
          </p:nvSpPr>
          <p:spPr bwMode="auto">
            <a:xfrm rot="-5400000">
              <a:off x="-229859" y="4116059"/>
              <a:ext cx="1160575" cy="24365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/>
              <a:r>
                <a:rPr lang="en-US" sz="1000" b="1"/>
                <a:t>Price of cookies</a:t>
              </a:r>
            </a:p>
          </p:txBody>
        </p:sp>
        <p:sp>
          <p:nvSpPr>
            <p:cNvPr id="21534" name="Rectangle 89"/>
            <p:cNvSpPr>
              <a:spLocks noChangeArrowheads="1"/>
            </p:cNvSpPr>
            <p:nvPr/>
          </p:nvSpPr>
          <p:spPr bwMode="auto">
            <a:xfrm>
              <a:off x="2286000" y="5257800"/>
              <a:ext cx="679674" cy="24365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/>
              <a:r>
                <a:rPr lang="en-US" sz="1000" b="1"/>
                <a:t>Cookies</a:t>
              </a:r>
            </a:p>
          </p:txBody>
        </p:sp>
        <p:sp>
          <p:nvSpPr>
            <p:cNvPr id="21535" name="Rectangle 19"/>
            <p:cNvSpPr>
              <a:spLocks noChangeArrowheads="1"/>
            </p:cNvSpPr>
            <p:nvPr/>
          </p:nvSpPr>
          <p:spPr bwMode="auto">
            <a:xfrm>
              <a:off x="457200" y="4876800"/>
              <a:ext cx="203325" cy="24365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r>
                <a:rPr lang="en-US" sz="1000"/>
                <a:t>2</a:t>
              </a:r>
            </a:p>
          </p:txBody>
        </p:sp>
        <p:sp>
          <p:nvSpPr>
            <p:cNvPr id="21536" name="Rectangle 20"/>
            <p:cNvSpPr>
              <a:spLocks noChangeArrowheads="1"/>
            </p:cNvSpPr>
            <p:nvPr/>
          </p:nvSpPr>
          <p:spPr bwMode="auto">
            <a:xfrm>
              <a:off x="457200" y="4572000"/>
              <a:ext cx="307975" cy="24365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r>
                <a:rPr lang="en-US" sz="1000"/>
                <a:t>4</a:t>
              </a:r>
            </a:p>
          </p:txBody>
        </p:sp>
        <p:sp>
          <p:nvSpPr>
            <p:cNvPr id="21537" name="Rectangle 21"/>
            <p:cNvSpPr>
              <a:spLocks noChangeArrowheads="1"/>
            </p:cNvSpPr>
            <p:nvPr/>
          </p:nvSpPr>
          <p:spPr bwMode="auto">
            <a:xfrm>
              <a:off x="457200" y="4267200"/>
              <a:ext cx="190406" cy="24365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r>
                <a:rPr lang="en-US" sz="1000"/>
                <a:t>6</a:t>
              </a:r>
            </a:p>
          </p:txBody>
        </p:sp>
        <p:sp>
          <p:nvSpPr>
            <p:cNvPr id="21538" name="Rectangle 22"/>
            <p:cNvSpPr>
              <a:spLocks noChangeArrowheads="1"/>
            </p:cNvSpPr>
            <p:nvPr/>
          </p:nvSpPr>
          <p:spPr bwMode="auto">
            <a:xfrm>
              <a:off x="457200" y="3886200"/>
              <a:ext cx="164008" cy="24365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r>
                <a:rPr lang="en-US" sz="1000"/>
                <a:t>8</a:t>
              </a:r>
            </a:p>
          </p:txBody>
        </p:sp>
        <p:sp>
          <p:nvSpPr>
            <p:cNvPr id="21539" name="Rectangle 23"/>
            <p:cNvSpPr>
              <a:spLocks noChangeArrowheads="1"/>
            </p:cNvSpPr>
            <p:nvPr/>
          </p:nvSpPr>
          <p:spPr bwMode="auto">
            <a:xfrm>
              <a:off x="381000" y="3581400"/>
              <a:ext cx="381000" cy="24365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r>
                <a:rPr lang="en-US" sz="1000"/>
                <a:t>10</a:t>
              </a:r>
            </a:p>
          </p:txBody>
        </p:sp>
        <p:sp>
          <p:nvSpPr>
            <p:cNvPr id="21540" name="Rectangle 24"/>
            <p:cNvSpPr>
              <a:spLocks noChangeArrowheads="1"/>
            </p:cNvSpPr>
            <p:nvPr/>
          </p:nvSpPr>
          <p:spPr bwMode="auto">
            <a:xfrm>
              <a:off x="990600" y="5257800"/>
              <a:ext cx="323808" cy="24365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000"/>
                <a:t>15</a:t>
              </a:r>
            </a:p>
          </p:txBody>
        </p:sp>
        <p:sp>
          <p:nvSpPr>
            <p:cNvPr id="21541" name="Rectangle 25"/>
            <p:cNvSpPr>
              <a:spLocks noChangeArrowheads="1"/>
            </p:cNvSpPr>
            <p:nvPr/>
          </p:nvSpPr>
          <p:spPr bwMode="auto">
            <a:xfrm>
              <a:off x="1295400" y="5257800"/>
              <a:ext cx="323808" cy="24365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000"/>
                <a:t>30</a:t>
              </a:r>
            </a:p>
          </p:txBody>
        </p:sp>
        <p:sp>
          <p:nvSpPr>
            <p:cNvPr id="21542" name="Rectangle 26"/>
            <p:cNvSpPr>
              <a:spLocks noChangeArrowheads="1"/>
            </p:cNvSpPr>
            <p:nvPr/>
          </p:nvSpPr>
          <p:spPr bwMode="auto">
            <a:xfrm>
              <a:off x="1524000" y="5257800"/>
              <a:ext cx="323808" cy="24365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000"/>
                <a:t>45</a:t>
              </a:r>
            </a:p>
          </p:txBody>
        </p:sp>
        <p:sp>
          <p:nvSpPr>
            <p:cNvPr id="21543" name="Rectangle 27"/>
            <p:cNvSpPr>
              <a:spLocks noChangeArrowheads="1"/>
            </p:cNvSpPr>
            <p:nvPr/>
          </p:nvSpPr>
          <p:spPr bwMode="auto">
            <a:xfrm>
              <a:off x="1828800" y="5257800"/>
              <a:ext cx="323808" cy="24365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000"/>
                <a:t>60</a:t>
              </a:r>
            </a:p>
          </p:txBody>
        </p:sp>
        <p:sp>
          <p:nvSpPr>
            <p:cNvPr id="21544" name="Rectangle 28"/>
            <p:cNvSpPr>
              <a:spLocks noChangeArrowheads="1"/>
            </p:cNvSpPr>
            <p:nvPr/>
          </p:nvSpPr>
          <p:spPr bwMode="auto">
            <a:xfrm>
              <a:off x="2057400" y="5257800"/>
              <a:ext cx="323808" cy="24365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000"/>
                <a:t>75</a:t>
              </a:r>
            </a:p>
          </p:txBody>
        </p:sp>
        <p:sp>
          <p:nvSpPr>
            <p:cNvPr id="21545" name="Rectangle 35"/>
            <p:cNvSpPr>
              <a:spLocks noChangeArrowheads="1"/>
            </p:cNvSpPr>
            <p:nvPr/>
          </p:nvSpPr>
          <p:spPr bwMode="auto">
            <a:xfrm>
              <a:off x="609600" y="5257800"/>
              <a:ext cx="253275" cy="24365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000"/>
                <a:t>0</a:t>
              </a:r>
            </a:p>
          </p:txBody>
        </p:sp>
      </p:grpSp>
      <p:sp>
        <p:nvSpPr>
          <p:cNvPr id="21527" name="Rectangle 17"/>
          <p:cNvSpPr>
            <a:spLocks noChangeArrowheads="1"/>
          </p:cNvSpPr>
          <p:nvPr/>
        </p:nvSpPr>
        <p:spPr bwMode="auto">
          <a:xfrm>
            <a:off x="1777999" y="3948088"/>
            <a:ext cx="665248" cy="24357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000" b="1"/>
              <a:t>Barbara</a:t>
            </a:r>
          </a:p>
        </p:txBody>
      </p:sp>
      <p:sp>
        <p:nvSpPr>
          <p:cNvPr id="21528" name="Rectangle 17"/>
          <p:cNvSpPr>
            <a:spLocks noChangeArrowheads="1"/>
          </p:cNvSpPr>
          <p:nvPr/>
        </p:nvSpPr>
        <p:spPr bwMode="auto">
          <a:xfrm>
            <a:off x="4368800" y="4024264"/>
            <a:ext cx="381516" cy="24357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000" b="1"/>
              <a:t>Bill</a:t>
            </a:r>
          </a:p>
        </p:txBody>
      </p:sp>
      <p:sp>
        <p:nvSpPr>
          <p:cNvPr id="21529" name="Rectangle 17"/>
          <p:cNvSpPr>
            <a:spLocks noChangeArrowheads="1"/>
          </p:cNvSpPr>
          <p:nvPr/>
        </p:nvSpPr>
        <p:spPr bwMode="auto">
          <a:xfrm>
            <a:off x="7112001" y="3948088"/>
            <a:ext cx="594716" cy="24357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000" b="1"/>
              <a:t>Market</a:t>
            </a:r>
          </a:p>
        </p:txBody>
      </p:sp>
      <p:cxnSp>
        <p:nvCxnSpPr>
          <p:cNvPr id="86" name="Straight Connector 85"/>
          <p:cNvCxnSpPr/>
          <p:nvPr/>
        </p:nvCxnSpPr>
        <p:spPr bwMode="auto">
          <a:xfrm rot="5400000">
            <a:off x="3658394" y="4717257"/>
            <a:ext cx="1101725" cy="725487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 bwMode="auto">
          <a:xfrm rot="5400000">
            <a:off x="6371432" y="4731544"/>
            <a:ext cx="1103312" cy="75565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grpSp>
        <p:nvGrpSpPr>
          <p:cNvPr id="21512" name="Group 243"/>
          <p:cNvGrpSpPr>
            <a:grpSpLocks/>
          </p:cNvGrpSpPr>
          <p:nvPr/>
        </p:nvGrpSpPr>
        <p:grpSpPr bwMode="auto">
          <a:xfrm>
            <a:off x="1092199" y="4786017"/>
            <a:ext cx="883919" cy="1142630"/>
            <a:chOff x="838200" y="4038600"/>
            <a:chExt cx="883919" cy="1143000"/>
          </a:xfrm>
        </p:grpSpPr>
        <p:cxnSp>
          <p:nvCxnSpPr>
            <p:cNvPr id="77" name="Straight Connector 76"/>
            <p:cNvCxnSpPr/>
            <p:nvPr/>
          </p:nvCxnSpPr>
          <p:spPr>
            <a:xfrm>
              <a:off x="838201" y="4038896"/>
              <a:ext cx="838200" cy="1588"/>
            </a:xfrm>
            <a:prstGeom prst="line">
              <a:avLst/>
            </a:prstGeom>
            <a:ln>
              <a:solidFill>
                <a:srgbClr val="002060"/>
              </a:solidFill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/>
          </p:nvCxnSpPr>
          <p:spPr>
            <a:xfrm rot="5400000">
              <a:off x="1105510" y="4609787"/>
              <a:ext cx="1143370" cy="1588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Flowchart: Connector 78"/>
            <p:cNvSpPr/>
            <p:nvPr/>
          </p:nvSpPr>
          <p:spPr>
            <a:xfrm>
              <a:off x="1676401" y="4038896"/>
              <a:ext cx="46038" cy="46052"/>
            </a:xfrm>
            <a:prstGeom prst="flowChartConnector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21513" name="Group 244"/>
          <p:cNvGrpSpPr>
            <a:grpSpLocks/>
          </p:cNvGrpSpPr>
          <p:nvPr/>
        </p:nvGrpSpPr>
        <p:grpSpPr bwMode="auto">
          <a:xfrm>
            <a:off x="6273801" y="4786017"/>
            <a:ext cx="883919" cy="1142630"/>
            <a:chOff x="838200" y="4038600"/>
            <a:chExt cx="883919" cy="1143000"/>
          </a:xfrm>
        </p:grpSpPr>
        <p:cxnSp>
          <p:nvCxnSpPr>
            <p:cNvPr id="74" name="Straight Connector 73"/>
            <p:cNvCxnSpPr/>
            <p:nvPr/>
          </p:nvCxnSpPr>
          <p:spPr>
            <a:xfrm>
              <a:off x="838199" y="4038896"/>
              <a:ext cx="838200" cy="1588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 rot="5400000">
              <a:off x="1105508" y="4609787"/>
              <a:ext cx="1143370" cy="1588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Flowchart: Connector 75"/>
            <p:cNvSpPr/>
            <p:nvPr/>
          </p:nvSpPr>
          <p:spPr>
            <a:xfrm>
              <a:off x="1676399" y="4038896"/>
              <a:ext cx="46038" cy="46052"/>
            </a:xfrm>
            <a:prstGeom prst="flowChartConnector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21514" name="Group 248"/>
          <p:cNvGrpSpPr>
            <a:grpSpLocks/>
          </p:cNvGrpSpPr>
          <p:nvPr/>
        </p:nvGrpSpPr>
        <p:grpSpPr bwMode="auto">
          <a:xfrm>
            <a:off x="3530600" y="4786017"/>
            <a:ext cx="883919" cy="1142630"/>
            <a:chOff x="838200" y="4038600"/>
            <a:chExt cx="883919" cy="1143000"/>
          </a:xfrm>
        </p:grpSpPr>
        <p:cxnSp>
          <p:nvCxnSpPr>
            <p:cNvPr id="71" name="Straight Connector 70"/>
            <p:cNvCxnSpPr/>
            <p:nvPr/>
          </p:nvCxnSpPr>
          <p:spPr>
            <a:xfrm>
              <a:off x="838200" y="4038896"/>
              <a:ext cx="838200" cy="1588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 rot="5400000">
              <a:off x="1105509" y="4609787"/>
              <a:ext cx="1143370" cy="1588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lowchart: Connector 72"/>
            <p:cNvSpPr/>
            <p:nvPr/>
          </p:nvSpPr>
          <p:spPr>
            <a:xfrm>
              <a:off x="1676400" y="4038896"/>
              <a:ext cx="46038" cy="46052"/>
            </a:xfrm>
            <a:prstGeom prst="flowChartConnector">
              <a:avLst/>
            </a:prstGeom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4167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6774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Supply, Marginal Cost  &amp; Producer Surplus</a:t>
            </a:r>
          </a:p>
        </p:txBody>
      </p:sp>
      <p:sp>
        <p:nvSpPr>
          <p:cNvPr id="425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46238"/>
            <a:ext cx="8229600" cy="4525962"/>
          </a:xfrm>
        </p:spPr>
        <p:txBody>
          <a:bodyPr/>
          <a:lstStyle/>
          <a:p>
            <a:r>
              <a:rPr lang="en-US" dirty="0"/>
              <a:t>Producer Surplus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Producer surplus</a:t>
            </a:r>
            <a:r>
              <a:rPr lang="en-US" dirty="0"/>
              <a:t> is the price received for a good minus the minimum-supply price (marginal cost), summed over the quantity sold.</a:t>
            </a:r>
          </a:p>
          <a:p>
            <a:pPr lvl="1"/>
            <a:r>
              <a:rPr lang="en-US" dirty="0"/>
              <a:t>It is measured by the area below the market price and above the supply curve, summed over the quantity sold.		  </a:t>
            </a: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25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425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5987" grpId="0" build="p" bldLvl="3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54" name="Group 64"/>
          <p:cNvGrpSpPr>
            <a:grpSpLocks/>
          </p:cNvGrpSpPr>
          <p:nvPr/>
        </p:nvGrpSpPr>
        <p:grpSpPr bwMode="auto">
          <a:xfrm>
            <a:off x="482600" y="3859213"/>
            <a:ext cx="7924800" cy="2389187"/>
            <a:chOff x="228601" y="3111496"/>
            <a:chExt cx="7924798" cy="2389960"/>
          </a:xfrm>
        </p:grpSpPr>
        <p:grpSp>
          <p:nvGrpSpPr>
            <p:cNvPr id="23561" name="Group 177"/>
            <p:cNvGrpSpPr>
              <a:grpSpLocks/>
            </p:cNvGrpSpPr>
            <p:nvPr/>
          </p:nvGrpSpPr>
          <p:grpSpPr bwMode="auto">
            <a:xfrm>
              <a:off x="228601" y="3111496"/>
              <a:ext cx="7924798" cy="2389960"/>
              <a:chOff x="228601" y="3111496"/>
              <a:chExt cx="7924798" cy="2389960"/>
            </a:xfrm>
          </p:grpSpPr>
          <p:grpSp>
            <p:nvGrpSpPr>
              <p:cNvPr id="23575" name="Group 76"/>
              <p:cNvGrpSpPr>
                <a:grpSpLocks/>
              </p:cNvGrpSpPr>
              <p:nvPr/>
            </p:nvGrpSpPr>
            <p:grpSpPr bwMode="auto">
              <a:xfrm>
                <a:off x="228601" y="3111496"/>
                <a:ext cx="2743199" cy="2389960"/>
                <a:chOff x="228601" y="3111496"/>
                <a:chExt cx="2743199" cy="2389960"/>
              </a:xfrm>
            </p:grpSpPr>
            <p:grpSp>
              <p:nvGrpSpPr>
                <p:cNvPr id="23615" name="Group 53"/>
                <p:cNvGrpSpPr>
                  <a:grpSpLocks/>
                </p:cNvGrpSpPr>
                <p:nvPr/>
              </p:nvGrpSpPr>
              <p:grpSpPr bwMode="auto">
                <a:xfrm>
                  <a:off x="836614" y="3111496"/>
                  <a:ext cx="2135186" cy="2072358"/>
                  <a:chOff x="836614" y="3111496"/>
                  <a:chExt cx="2135186" cy="2072358"/>
                </a:xfrm>
              </p:grpSpPr>
              <p:cxnSp>
                <p:nvCxnSpPr>
                  <p:cNvPr id="160" name="Straight Connector 4"/>
                  <p:cNvCxnSpPr/>
                  <p:nvPr/>
                </p:nvCxnSpPr>
                <p:spPr>
                  <a:xfrm rot="5400000">
                    <a:off x="-197977" y="4146087"/>
                    <a:ext cx="2070769" cy="1587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1" name="Straight Connector 160"/>
                  <p:cNvCxnSpPr/>
                  <p:nvPr/>
                </p:nvCxnSpPr>
                <p:spPr>
                  <a:xfrm>
                    <a:off x="838201" y="5182265"/>
                    <a:ext cx="2133599" cy="1588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2" name="Straight Connector 161"/>
                  <p:cNvCxnSpPr/>
                  <p:nvPr/>
                </p:nvCxnSpPr>
                <p:spPr>
                  <a:xfrm rot="5400000">
                    <a:off x="972169" y="3919128"/>
                    <a:ext cx="1089377" cy="782637"/>
                  </a:xfrm>
                  <a:prstGeom prst="line">
                    <a:avLst/>
                  </a:prstGeom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3616" name="Rectangle 18"/>
                <p:cNvSpPr>
                  <a:spLocks noChangeArrowheads="1"/>
                </p:cNvSpPr>
                <p:nvPr/>
              </p:nvSpPr>
              <p:spPr bwMode="auto">
                <a:xfrm rot="-5400000">
                  <a:off x="-229859" y="4116059"/>
                  <a:ext cx="1160575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pPr algn="ctr"/>
                  <a:r>
                    <a:rPr lang="en-US" sz="1000" b="1"/>
                    <a:t>Price of cookies</a:t>
                  </a:r>
                </a:p>
              </p:txBody>
            </p:sp>
            <p:sp>
              <p:nvSpPr>
                <p:cNvPr id="23617" name="Rectangle 17"/>
                <p:cNvSpPr>
                  <a:spLocks noChangeArrowheads="1"/>
                </p:cNvSpPr>
                <p:nvPr/>
              </p:nvSpPr>
              <p:spPr bwMode="auto">
                <a:xfrm>
                  <a:off x="2286000" y="5257800"/>
                  <a:ext cx="679674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pPr algn="ctr"/>
                  <a:r>
                    <a:rPr lang="en-US" sz="1000" b="1"/>
                    <a:t>Cookies</a:t>
                  </a:r>
                </a:p>
              </p:txBody>
            </p:sp>
            <p:sp>
              <p:nvSpPr>
                <p:cNvPr id="23618" name="Rectangle 19"/>
                <p:cNvSpPr>
                  <a:spLocks noChangeArrowheads="1"/>
                </p:cNvSpPr>
                <p:nvPr/>
              </p:nvSpPr>
              <p:spPr bwMode="auto">
                <a:xfrm>
                  <a:off x="457200" y="4876800"/>
                  <a:ext cx="203325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lIns="90488" tIns="44450" rIns="90488" bIns="44450">
                  <a:spAutoFit/>
                </a:bodyPr>
                <a:lstStyle/>
                <a:p>
                  <a:r>
                    <a:rPr lang="en-US" sz="1000"/>
                    <a:t>2</a:t>
                  </a:r>
                </a:p>
              </p:txBody>
            </p:sp>
            <p:sp>
              <p:nvSpPr>
                <p:cNvPr id="23619" name="Rectangle 20"/>
                <p:cNvSpPr>
                  <a:spLocks noChangeArrowheads="1"/>
                </p:cNvSpPr>
                <p:nvPr/>
              </p:nvSpPr>
              <p:spPr bwMode="auto">
                <a:xfrm>
                  <a:off x="457200" y="4572000"/>
                  <a:ext cx="307975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lIns="90488" tIns="44450" rIns="90488" bIns="44450">
                  <a:spAutoFit/>
                </a:bodyPr>
                <a:lstStyle/>
                <a:p>
                  <a:r>
                    <a:rPr lang="en-US" sz="1000"/>
                    <a:t>4</a:t>
                  </a:r>
                </a:p>
              </p:txBody>
            </p:sp>
            <p:sp>
              <p:nvSpPr>
                <p:cNvPr id="23620" name="Rectangle 21"/>
                <p:cNvSpPr>
                  <a:spLocks noChangeArrowheads="1"/>
                </p:cNvSpPr>
                <p:nvPr/>
              </p:nvSpPr>
              <p:spPr bwMode="auto">
                <a:xfrm>
                  <a:off x="457200" y="4267200"/>
                  <a:ext cx="190406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lIns="90488" tIns="44450" rIns="90488" bIns="44450">
                  <a:spAutoFit/>
                </a:bodyPr>
                <a:lstStyle/>
                <a:p>
                  <a:r>
                    <a:rPr lang="en-US" sz="1000"/>
                    <a:t>6</a:t>
                  </a:r>
                </a:p>
              </p:txBody>
            </p:sp>
            <p:sp>
              <p:nvSpPr>
                <p:cNvPr id="23621" name="Rectangle 22"/>
                <p:cNvSpPr>
                  <a:spLocks noChangeArrowheads="1"/>
                </p:cNvSpPr>
                <p:nvPr/>
              </p:nvSpPr>
              <p:spPr bwMode="auto">
                <a:xfrm>
                  <a:off x="457200" y="3886200"/>
                  <a:ext cx="164008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lIns="90488" tIns="44450" rIns="90488" bIns="44450">
                  <a:spAutoFit/>
                </a:bodyPr>
                <a:lstStyle/>
                <a:p>
                  <a:r>
                    <a:rPr lang="en-US" sz="1000"/>
                    <a:t>8</a:t>
                  </a:r>
                </a:p>
              </p:txBody>
            </p:sp>
            <p:sp>
              <p:nvSpPr>
                <p:cNvPr id="23622" name="Rectangle 23"/>
                <p:cNvSpPr>
                  <a:spLocks noChangeArrowheads="1"/>
                </p:cNvSpPr>
                <p:nvPr/>
              </p:nvSpPr>
              <p:spPr bwMode="auto">
                <a:xfrm>
                  <a:off x="381000" y="3581400"/>
                  <a:ext cx="381000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lIns="90488" tIns="44450" rIns="90488" bIns="44450">
                  <a:spAutoFit/>
                </a:bodyPr>
                <a:lstStyle/>
                <a:p>
                  <a:r>
                    <a:rPr lang="en-US" sz="1000"/>
                    <a:t>10</a:t>
                  </a:r>
                </a:p>
              </p:txBody>
            </p:sp>
            <p:sp>
              <p:nvSpPr>
                <p:cNvPr id="23623" name="Rectangle 24"/>
                <p:cNvSpPr>
                  <a:spLocks noChangeArrowheads="1"/>
                </p:cNvSpPr>
                <p:nvPr/>
              </p:nvSpPr>
              <p:spPr bwMode="auto">
                <a:xfrm>
                  <a:off x="990600" y="5257800"/>
                  <a:ext cx="323808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sz="1000"/>
                    <a:t>10</a:t>
                  </a:r>
                </a:p>
              </p:txBody>
            </p:sp>
            <p:sp>
              <p:nvSpPr>
                <p:cNvPr id="23624" name="Rectangle 25"/>
                <p:cNvSpPr>
                  <a:spLocks noChangeArrowheads="1"/>
                </p:cNvSpPr>
                <p:nvPr/>
              </p:nvSpPr>
              <p:spPr bwMode="auto">
                <a:xfrm>
                  <a:off x="1295400" y="5257800"/>
                  <a:ext cx="323808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sz="1000"/>
                    <a:t>20</a:t>
                  </a:r>
                </a:p>
              </p:txBody>
            </p:sp>
            <p:sp>
              <p:nvSpPr>
                <p:cNvPr id="23625" name="Rectangle 26"/>
                <p:cNvSpPr>
                  <a:spLocks noChangeArrowheads="1"/>
                </p:cNvSpPr>
                <p:nvPr/>
              </p:nvSpPr>
              <p:spPr bwMode="auto">
                <a:xfrm>
                  <a:off x="1524000" y="5257800"/>
                  <a:ext cx="323808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sz="1000"/>
                    <a:t>30</a:t>
                  </a:r>
                </a:p>
              </p:txBody>
            </p:sp>
            <p:sp>
              <p:nvSpPr>
                <p:cNvPr id="23626" name="Rectangle 27"/>
                <p:cNvSpPr>
                  <a:spLocks noChangeArrowheads="1"/>
                </p:cNvSpPr>
                <p:nvPr/>
              </p:nvSpPr>
              <p:spPr bwMode="auto">
                <a:xfrm>
                  <a:off x="1828800" y="5257800"/>
                  <a:ext cx="323808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sz="1000"/>
                    <a:t>40</a:t>
                  </a:r>
                </a:p>
              </p:txBody>
            </p:sp>
            <p:sp>
              <p:nvSpPr>
                <p:cNvPr id="23627" name="Rectangle 28"/>
                <p:cNvSpPr>
                  <a:spLocks noChangeArrowheads="1"/>
                </p:cNvSpPr>
                <p:nvPr/>
              </p:nvSpPr>
              <p:spPr bwMode="auto">
                <a:xfrm>
                  <a:off x="2057400" y="5257800"/>
                  <a:ext cx="323808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sz="1000"/>
                    <a:t>50</a:t>
                  </a:r>
                </a:p>
              </p:txBody>
            </p:sp>
            <p:sp>
              <p:nvSpPr>
                <p:cNvPr id="23628" name="Rectangle 35"/>
                <p:cNvSpPr>
                  <a:spLocks noChangeArrowheads="1"/>
                </p:cNvSpPr>
                <p:nvPr/>
              </p:nvSpPr>
              <p:spPr bwMode="auto">
                <a:xfrm>
                  <a:off x="609600" y="5257800"/>
                  <a:ext cx="253275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sz="1000"/>
                    <a:t>0</a:t>
                  </a:r>
                </a:p>
              </p:txBody>
            </p:sp>
          </p:grpSp>
          <p:grpSp>
            <p:nvGrpSpPr>
              <p:cNvPr id="23576" name="Group 77"/>
              <p:cNvGrpSpPr>
                <a:grpSpLocks/>
              </p:cNvGrpSpPr>
              <p:nvPr/>
            </p:nvGrpSpPr>
            <p:grpSpPr bwMode="auto">
              <a:xfrm>
                <a:off x="2667000" y="3124200"/>
                <a:ext cx="2743199" cy="2376462"/>
                <a:chOff x="228601" y="3124994"/>
                <a:chExt cx="2743199" cy="2376462"/>
              </a:xfrm>
            </p:grpSpPr>
            <p:grpSp>
              <p:nvGrpSpPr>
                <p:cNvPr id="23599" name="Group 53"/>
                <p:cNvGrpSpPr>
                  <a:grpSpLocks/>
                </p:cNvGrpSpPr>
                <p:nvPr/>
              </p:nvGrpSpPr>
              <p:grpSpPr bwMode="auto">
                <a:xfrm>
                  <a:off x="836614" y="3124994"/>
                  <a:ext cx="2135186" cy="2072358"/>
                  <a:chOff x="836614" y="3124994"/>
                  <a:chExt cx="2135186" cy="2072358"/>
                </a:xfrm>
              </p:grpSpPr>
              <p:cxnSp>
                <p:nvCxnSpPr>
                  <p:cNvPr id="144" name="Straight Connector 143"/>
                  <p:cNvCxnSpPr/>
                  <p:nvPr/>
                </p:nvCxnSpPr>
                <p:spPr>
                  <a:xfrm rot="5400000">
                    <a:off x="-197977" y="4159585"/>
                    <a:ext cx="2070770" cy="1587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5" name="Straight Connector 144"/>
                  <p:cNvCxnSpPr/>
                  <p:nvPr/>
                </p:nvCxnSpPr>
                <p:spPr>
                  <a:xfrm>
                    <a:off x="838201" y="5195764"/>
                    <a:ext cx="2133599" cy="1588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3600" name="Rectangle 18"/>
                <p:cNvSpPr>
                  <a:spLocks noChangeArrowheads="1"/>
                </p:cNvSpPr>
                <p:nvPr/>
              </p:nvSpPr>
              <p:spPr bwMode="auto">
                <a:xfrm rot="-5400000">
                  <a:off x="-229859" y="4116059"/>
                  <a:ext cx="1160575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pPr algn="ctr"/>
                  <a:r>
                    <a:rPr lang="en-US" sz="1000" b="1"/>
                    <a:t>Price of cookies</a:t>
                  </a:r>
                </a:p>
              </p:txBody>
            </p:sp>
            <p:sp>
              <p:nvSpPr>
                <p:cNvPr id="23601" name="Rectangle 17"/>
                <p:cNvSpPr>
                  <a:spLocks noChangeArrowheads="1"/>
                </p:cNvSpPr>
                <p:nvPr/>
              </p:nvSpPr>
              <p:spPr bwMode="auto">
                <a:xfrm>
                  <a:off x="2286000" y="5257800"/>
                  <a:ext cx="679674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pPr algn="ctr"/>
                  <a:r>
                    <a:rPr lang="en-US" sz="1000" b="1"/>
                    <a:t>Cookies</a:t>
                  </a:r>
                </a:p>
              </p:txBody>
            </p:sp>
            <p:sp>
              <p:nvSpPr>
                <p:cNvPr id="23602" name="Rectangle 19"/>
                <p:cNvSpPr>
                  <a:spLocks noChangeArrowheads="1"/>
                </p:cNvSpPr>
                <p:nvPr/>
              </p:nvSpPr>
              <p:spPr bwMode="auto">
                <a:xfrm>
                  <a:off x="457200" y="4876800"/>
                  <a:ext cx="203325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lIns="90488" tIns="44450" rIns="90488" bIns="44450">
                  <a:spAutoFit/>
                </a:bodyPr>
                <a:lstStyle/>
                <a:p>
                  <a:r>
                    <a:rPr lang="en-US" sz="1000"/>
                    <a:t>2</a:t>
                  </a:r>
                </a:p>
              </p:txBody>
            </p:sp>
            <p:sp>
              <p:nvSpPr>
                <p:cNvPr id="23603" name="Rectangle 20"/>
                <p:cNvSpPr>
                  <a:spLocks noChangeArrowheads="1"/>
                </p:cNvSpPr>
                <p:nvPr/>
              </p:nvSpPr>
              <p:spPr bwMode="auto">
                <a:xfrm>
                  <a:off x="457200" y="4572000"/>
                  <a:ext cx="307975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lIns="90488" tIns="44450" rIns="90488" bIns="44450">
                  <a:spAutoFit/>
                </a:bodyPr>
                <a:lstStyle/>
                <a:p>
                  <a:r>
                    <a:rPr lang="en-US" sz="1000"/>
                    <a:t>4</a:t>
                  </a:r>
                </a:p>
              </p:txBody>
            </p:sp>
            <p:sp>
              <p:nvSpPr>
                <p:cNvPr id="23604" name="Rectangle 21"/>
                <p:cNvSpPr>
                  <a:spLocks noChangeArrowheads="1"/>
                </p:cNvSpPr>
                <p:nvPr/>
              </p:nvSpPr>
              <p:spPr bwMode="auto">
                <a:xfrm>
                  <a:off x="457200" y="4267200"/>
                  <a:ext cx="190406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lIns="90488" tIns="44450" rIns="90488" bIns="44450">
                  <a:spAutoFit/>
                </a:bodyPr>
                <a:lstStyle/>
                <a:p>
                  <a:r>
                    <a:rPr lang="en-US" sz="1000"/>
                    <a:t>6</a:t>
                  </a:r>
                </a:p>
              </p:txBody>
            </p:sp>
            <p:sp>
              <p:nvSpPr>
                <p:cNvPr id="23605" name="Rectangle 22"/>
                <p:cNvSpPr>
                  <a:spLocks noChangeArrowheads="1"/>
                </p:cNvSpPr>
                <p:nvPr/>
              </p:nvSpPr>
              <p:spPr bwMode="auto">
                <a:xfrm>
                  <a:off x="457200" y="3886200"/>
                  <a:ext cx="164008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lIns="90488" tIns="44450" rIns="90488" bIns="44450">
                  <a:spAutoFit/>
                </a:bodyPr>
                <a:lstStyle/>
                <a:p>
                  <a:r>
                    <a:rPr lang="en-US" sz="1000"/>
                    <a:t>8</a:t>
                  </a:r>
                </a:p>
              </p:txBody>
            </p:sp>
            <p:sp>
              <p:nvSpPr>
                <p:cNvPr id="23606" name="Rectangle 23"/>
                <p:cNvSpPr>
                  <a:spLocks noChangeArrowheads="1"/>
                </p:cNvSpPr>
                <p:nvPr/>
              </p:nvSpPr>
              <p:spPr bwMode="auto">
                <a:xfrm>
                  <a:off x="381000" y="3581400"/>
                  <a:ext cx="381000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lIns="90488" tIns="44450" rIns="90488" bIns="44450">
                  <a:spAutoFit/>
                </a:bodyPr>
                <a:lstStyle/>
                <a:p>
                  <a:r>
                    <a:rPr lang="en-US" sz="1000"/>
                    <a:t>10</a:t>
                  </a:r>
                </a:p>
              </p:txBody>
            </p:sp>
            <p:sp>
              <p:nvSpPr>
                <p:cNvPr id="23607" name="Rectangle 24"/>
                <p:cNvSpPr>
                  <a:spLocks noChangeArrowheads="1"/>
                </p:cNvSpPr>
                <p:nvPr/>
              </p:nvSpPr>
              <p:spPr bwMode="auto">
                <a:xfrm>
                  <a:off x="990600" y="5257800"/>
                  <a:ext cx="253275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sz="1000"/>
                    <a:t>5</a:t>
                  </a:r>
                </a:p>
              </p:txBody>
            </p:sp>
            <p:sp>
              <p:nvSpPr>
                <p:cNvPr id="23608" name="Rectangle 25"/>
                <p:cNvSpPr>
                  <a:spLocks noChangeArrowheads="1"/>
                </p:cNvSpPr>
                <p:nvPr/>
              </p:nvSpPr>
              <p:spPr bwMode="auto">
                <a:xfrm>
                  <a:off x="1295400" y="5257800"/>
                  <a:ext cx="323808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sz="1000"/>
                    <a:t>10</a:t>
                  </a:r>
                </a:p>
              </p:txBody>
            </p:sp>
            <p:sp>
              <p:nvSpPr>
                <p:cNvPr id="23609" name="Rectangle 26"/>
                <p:cNvSpPr>
                  <a:spLocks noChangeArrowheads="1"/>
                </p:cNvSpPr>
                <p:nvPr/>
              </p:nvSpPr>
              <p:spPr bwMode="auto">
                <a:xfrm>
                  <a:off x="1524000" y="5257800"/>
                  <a:ext cx="323808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sz="1000"/>
                    <a:t>15</a:t>
                  </a:r>
                </a:p>
              </p:txBody>
            </p:sp>
            <p:sp>
              <p:nvSpPr>
                <p:cNvPr id="23610" name="Rectangle 27"/>
                <p:cNvSpPr>
                  <a:spLocks noChangeArrowheads="1"/>
                </p:cNvSpPr>
                <p:nvPr/>
              </p:nvSpPr>
              <p:spPr bwMode="auto">
                <a:xfrm>
                  <a:off x="1828800" y="5257800"/>
                  <a:ext cx="323808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sz="1000"/>
                    <a:t>20</a:t>
                  </a:r>
                </a:p>
              </p:txBody>
            </p:sp>
            <p:sp>
              <p:nvSpPr>
                <p:cNvPr id="23611" name="Rectangle 28"/>
                <p:cNvSpPr>
                  <a:spLocks noChangeArrowheads="1"/>
                </p:cNvSpPr>
                <p:nvPr/>
              </p:nvSpPr>
              <p:spPr bwMode="auto">
                <a:xfrm>
                  <a:off x="2057400" y="5257800"/>
                  <a:ext cx="323808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sz="1000"/>
                    <a:t>25</a:t>
                  </a:r>
                </a:p>
              </p:txBody>
            </p:sp>
            <p:sp>
              <p:nvSpPr>
                <p:cNvPr id="23612" name="Rectangle 35"/>
                <p:cNvSpPr>
                  <a:spLocks noChangeArrowheads="1"/>
                </p:cNvSpPr>
                <p:nvPr/>
              </p:nvSpPr>
              <p:spPr bwMode="auto">
                <a:xfrm>
                  <a:off x="609600" y="5257800"/>
                  <a:ext cx="253275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sz="1000"/>
                    <a:t>0</a:t>
                  </a:r>
                </a:p>
              </p:txBody>
            </p:sp>
          </p:grpSp>
          <p:grpSp>
            <p:nvGrpSpPr>
              <p:cNvPr id="23577" name="Group 95"/>
              <p:cNvGrpSpPr>
                <a:grpSpLocks/>
              </p:cNvGrpSpPr>
              <p:nvPr/>
            </p:nvGrpSpPr>
            <p:grpSpPr bwMode="auto">
              <a:xfrm>
                <a:off x="5410200" y="3124200"/>
                <a:ext cx="2743199" cy="2376462"/>
                <a:chOff x="228601" y="3124994"/>
                <a:chExt cx="2743199" cy="2376462"/>
              </a:xfrm>
            </p:grpSpPr>
            <p:grpSp>
              <p:nvGrpSpPr>
                <p:cNvPr id="23583" name="Group 53"/>
                <p:cNvGrpSpPr>
                  <a:grpSpLocks/>
                </p:cNvGrpSpPr>
                <p:nvPr/>
              </p:nvGrpSpPr>
              <p:grpSpPr bwMode="auto">
                <a:xfrm>
                  <a:off x="836614" y="3124994"/>
                  <a:ext cx="2135186" cy="2072358"/>
                  <a:chOff x="836614" y="3124994"/>
                  <a:chExt cx="2135186" cy="2072358"/>
                </a:xfrm>
              </p:grpSpPr>
              <p:cxnSp>
                <p:nvCxnSpPr>
                  <p:cNvPr id="125" name="Straight Connector 124"/>
                  <p:cNvCxnSpPr/>
                  <p:nvPr/>
                </p:nvCxnSpPr>
                <p:spPr>
                  <a:xfrm rot="5400000">
                    <a:off x="-197977" y="4159585"/>
                    <a:ext cx="2070770" cy="1587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6" name="Straight Connector 125"/>
                  <p:cNvCxnSpPr/>
                  <p:nvPr/>
                </p:nvCxnSpPr>
                <p:spPr>
                  <a:xfrm>
                    <a:off x="838201" y="5195764"/>
                    <a:ext cx="2133599" cy="1588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3584" name="Rectangle 18"/>
                <p:cNvSpPr>
                  <a:spLocks noChangeArrowheads="1"/>
                </p:cNvSpPr>
                <p:nvPr/>
              </p:nvSpPr>
              <p:spPr bwMode="auto">
                <a:xfrm rot="-5400000">
                  <a:off x="-229859" y="4116059"/>
                  <a:ext cx="1160575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pPr algn="ctr"/>
                  <a:r>
                    <a:rPr lang="en-US" sz="1000" b="1"/>
                    <a:t>Price of cookies</a:t>
                  </a:r>
                </a:p>
              </p:txBody>
            </p:sp>
            <p:sp>
              <p:nvSpPr>
                <p:cNvPr id="23585" name="Rectangle 89"/>
                <p:cNvSpPr>
                  <a:spLocks noChangeArrowheads="1"/>
                </p:cNvSpPr>
                <p:nvPr/>
              </p:nvSpPr>
              <p:spPr bwMode="auto">
                <a:xfrm>
                  <a:off x="2286000" y="5257800"/>
                  <a:ext cx="679674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pPr algn="ctr"/>
                  <a:r>
                    <a:rPr lang="en-US" sz="1000" b="1"/>
                    <a:t>Cookies</a:t>
                  </a:r>
                </a:p>
              </p:txBody>
            </p:sp>
            <p:sp>
              <p:nvSpPr>
                <p:cNvPr id="23586" name="Rectangle 19"/>
                <p:cNvSpPr>
                  <a:spLocks noChangeArrowheads="1"/>
                </p:cNvSpPr>
                <p:nvPr/>
              </p:nvSpPr>
              <p:spPr bwMode="auto">
                <a:xfrm>
                  <a:off x="457200" y="4876800"/>
                  <a:ext cx="203325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lIns="90488" tIns="44450" rIns="90488" bIns="44450">
                  <a:spAutoFit/>
                </a:bodyPr>
                <a:lstStyle/>
                <a:p>
                  <a:r>
                    <a:rPr lang="en-US" sz="1000"/>
                    <a:t>2</a:t>
                  </a:r>
                </a:p>
              </p:txBody>
            </p:sp>
            <p:sp>
              <p:nvSpPr>
                <p:cNvPr id="23587" name="Rectangle 20"/>
                <p:cNvSpPr>
                  <a:spLocks noChangeArrowheads="1"/>
                </p:cNvSpPr>
                <p:nvPr/>
              </p:nvSpPr>
              <p:spPr bwMode="auto">
                <a:xfrm>
                  <a:off x="457200" y="4572000"/>
                  <a:ext cx="307975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lIns="90488" tIns="44450" rIns="90488" bIns="44450">
                  <a:spAutoFit/>
                </a:bodyPr>
                <a:lstStyle/>
                <a:p>
                  <a:r>
                    <a:rPr lang="en-US" sz="1000"/>
                    <a:t>4</a:t>
                  </a:r>
                </a:p>
              </p:txBody>
            </p:sp>
            <p:sp>
              <p:nvSpPr>
                <p:cNvPr id="23588" name="Rectangle 21"/>
                <p:cNvSpPr>
                  <a:spLocks noChangeArrowheads="1"/>
                </p:cNvSpPr>
                <p:nvPr/>
              </p:nvSpPr>
              <p:spPr bwMode="auto">
                <a:xfrm>
                  <a:off x="457200" y="4267200"/>
                  <a:ext cx="190406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lIns="90488" tIns="44450" rIns="90488" bIns="44450">
                  <a:spAutoFit/>
                </a:bodyPr>
                <a:lstStyle/>
                <a:p>
                  <a:r>
                    <a:rPr lang="en-US" sz="1000"/>
                    <a:t>6</a:t>
                  </a:r>
                </a:p>
              </p:txBody>
            </p:sp>
            <p:sp>
              <p:nvSpPr>
                <p:cNvPr id="23589" name="Rectangle 22"/>
                <p:cNvSpPr>
                  <a:spLocks noChangeArrowheads="1"/>
                </p:cNvSpPr>
                <p:nvPr/>
              </p:nvSpPr>
              <p:spPr bwMode="auto">
                <a:xfrm>
                  <a:off x="457200" y="3886200"/>
                  <a:ext cx="164008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lIns="90488" tIns="44450" rIns="90488" bIns="44450">
                  <a:spAutoFit/>
                </a:bodyPr>
                <a:lstStyle/>
                <a:p>
                  <a:r>
                    <a:rPr lang="en-US" sz="1000"/>
                    <a:t>8</a:t>
                  </a:r>
                </a:p>
              </p:txBody>
            </p:sp>
            <p:sp>
              <p:nvSpPr>
                <p:cNvPr id="23590" name="Rectangle 23"/>
                <p:cNvSpPr>
                  <a:spLocks noChangeArrowheads="1"/>
                </p:cNvSpPr>
                <p:nvPr/>
              </p:nvSpPr>
              <p:spPr bwMode="auto">
                <a:xfrm>
                  <a:off x="381000" y="3581400"/>
                  <a:ext cx="381000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lIns="90488" tIns="44450" rIns="90488" bIns="44450">
                  <a:spAutoFit/>
                </a:bodyPr>
                <a:lstStyle/>
                <a:p>
                  <a:r>
                    <a:rPr lang="en-US" sz="1000"/>
                    <a:t>10</a:t>
                  </a:r>
                </a:p>
              </p:txBody>
            </p:sp>
            <p:sp>
              <p:nvSpPr>
                <p:cNvPr id="23591" name="Rectangle 24"/>
                <p:cNvSpPr>
                  <a:spLocks noChangeArrowheads="1"/>
                </p:cNvSpPr>
                <p:nvPr/>
              </p:nvSpPr>
              <p:spPr bwMode="auto">
                <a:xfrm>
                  <a:off x="990600" y="5257800"/>
                  <a:ext cx="323808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sz="1000"/>
                    <a:t>15</a:t>
                  </a:r>
                </a:p>
              </p:txBody>
            </p:sp>
            <p:sp>
              <p:nvSpPr>
                <p:cNvPr id="23592" name="Rectangle 25"/>
                <p:cNvSpPr>
                  <a:spLocks noChangeArrowheads="1"/>
                </p:cNvSpPr>
                <p:nvPr/>
              </p:nvSpPr>
              <p:spPr bwMode="auto">
                <a:xfrm>
                  <a:off x="1295400" y="5257800"/>
                  <a:ext cx="323808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sz="1000"/>
                    <a:t>30</a:t>
                  </a:r>
                </a:p>
              </p:txBody>
            </p:sp>
            <p:sp>
              <p:nvSpPr>
                <p:cNvPr id="23593" name="Rectangle 26"/>
                <p:cNvSpPr>
                  <a:spLocks noChangeArrowheads="1"/>
                </p:cNvSpPr>
                <p:nvPr/>
              </p:nvSpPr>
              <p:spPr bwMode="auto">
                <a:xfrm>
                  <a:off x="1524000" y="5257800"/>
                  <a:ext cx="323808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sz="1000"/>
                    <a:t>45</a:t>
                  </a:r>
                </a:p>
              </p:txBody>
            </p:sp>
            <p:sp>
              <p:nvSpPr>
                <p:cNvPr id="23594" name="Rectangle 27"/>
                <p:cNvSpPr>
                  <a:spLocks noChangeArrowheads="1"/>
                </p:cNvSpPr>
                <p:nvPr/>
              </p:nvSpPr>
              <p:spPr bwMode="auto">
                <a:xfrm>
                  <a:off x="1828800" y="5257800"/>
                  <a:ext cx="323808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sz="1000"/>
                    <a:t>60</a:t>
                  </a:r>
                </a:p>
              </p:txBody>
            </p:sp>
            <p:sp>
              <p:nvSpPr>
                <p:cNvPr id="23595" name="Rectangle 28"/>
                <p:cNvSpPr>
                  <a:spLocks noChangeArrowheads="1"/>
                </p:cNvSpPr>
                <p:nvPr/>
              </p:nvSpPr>
              <p:spPr bwMode="auto">
                <a:xfrm>
                  <a:off x="2057400" y="5257800"/>
                  <a:ext cx="323808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sz="1000"/>
                    <a:t>75</a:t>
                  </a:r>
                </a:p>
              </p:txBody>
            </p:sp>
            <p:sp>
              <p:nvSpPr>
                <p:cNvPr id="23596" name="Rectangle 35"/>
                <p:cNvSpPr>
                  <a:spLocks noChangeArrowheads="1"/>
                </p:cNvSpPr>
                <p:nvPr/>
              </p:nvSpPr>
              <p:spPr bwMode="auto">
                <a:xfrm>
                  <a:off x="609600" y="5257800"/>
                  <a:ext cx="253275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sz="1000"/>
                    <a:t>0</a:t>
                  </a:r>
                </a:p>
              </p:txBody>
            </p:sp>
          </p:grpSp>
          <p:sp>
            <p:nvSpPr>
              <p:cNvPr id="23578" name="Rectangle 17"/>
              <p:cNvSpPr>
                <a:spLocks noChangeArrowheads="1"/>
              </p:cNvSpPr>
              <p:nvPr/>
            </p:nvSpPr>
            <p:spPr bwMode="auto">
              <a:xfrm>
                <a:off x="1524000" y="3200400"/>
                <a:ext cx="665248" cy="24365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algn="ctr"/>
                <a:r>
                  <a:rPr lang="en-US" sz="1000" b="1"/>
                  <a:t>Barbara</a:t>
                </a:r>
              </a:p>
            </p:txBody>
          </p:sp>
          <p:sp>
            <p:nvSpPr>
              <p:cNvPr id="23579" name="Rectangle 17"/>
              <p:cNvSpPr>
                <a:spLocks noChangeArrowheads="1"/>
              </p:cNvSpPr>
              <p:nvPr/>
            </p:nvSpPr>
            <p:spPr bwMode="auto">
              <a:xfrm>
                <a:off x="4114800" y="3276600"/>
                <a:ext cx="381516" cy="24365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algn="ctr"/>
                <a:r>
                  <a:rPr lang="en-US" sz="1000" b="1"/>
                  <a:t>Bill</a:t>
                </a:r>
              </a:p>
            </p:txBody>
          </p:sp>
          <p:sp>
            <p:nvSpPr>
              <p:cNvPr id="23580" name="Rectangle 17"/>
              <p:cNvSpPr>
                <a:spLocks noChangeArrowheads="1"/>
              </p:cNvSpPr>
              <p:nvPr/>
            </p:nvSpPr>
            <p:spPr bwMode="auto">
              <a:xfrm>
                <a:off x="6858000" y="3200400"/>
                <a:ext cx="594716" cy="24365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algn="ctr"/>
                <a:r>
                  <a:rPr lang="en-US" sz="1000" b="1"/>
                  <a:t>Market</a:t>
                </a:r>
              </a:p>
            </p:txBody>
          </p:sp>
          <p:cxnSp>
            <p:nvCxnSpPr>
              <p:cNvPr id="106" name="Straight Connector 105"/>
              <p:cNvCxnSpPr/>
              <p:nvPr/>
            </p:nvCxnSpPr>
            <p:spPr>
              <a:xfrm rot="5400000">
                <a:off x="3404216" y="3969935"/>
                <a:ext cx="1102081" cy="725487"/>
              </a:xfrm>
              <a:prstGeom prst="line">
                <a:avLst/>
              </a:prstGeom>
              <a:ln>
                <a:solidFill>
                  <a:srgbClr val="FFC000"/>
                </a:solidFill>
              </a:ln>
            </p:spPr>
            <p:style>
              <a:lnRef idx="1">
                <a:schemeClr val="accent5"/>
              </a:lnRef>
              <a:fillRef idx="0">
                <a:schemeClr val="accent5"/>
              </a:fillRef>
              <a:effectRef idx="0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/>
              <p:cNvCxnSpPr/>
              <p:nvPr/>
            </p:nvCxnSpPr>
            <p:spPr>
              <a:xfrm rot="5400000">
                <a:off x="6117253" y="3984232"/>
                <a:ext cx="1103669" cy="75565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</p:grpSp>
        <p:grpSp>
          <p:nvGrpSpPr>
            <p:cNvPr id="23562" name="Group 252"/>
            <p:cNvGrpSpPr>
              <a:grpSpLocks/>
            </p:cNvGrpSpPr>
            <p:nvPr/>
          </p:nvGrpSpPr>
          <p:grpSpPr bwMode="auto">
            <a:xfrm>
              <a:off x="838201" y="4038896"/>
              <a:ext cx="6065836" cy="1143370"/>
              <a:chOff x="838201" y="4038896"/>
              <a:chExt cx="6065836" cy="1143370"/>
            </a:xfrm>
          </p:grpSpPr>
          <p:grpSp>
            <p:nvGrpSpPr>
              <p:cNvPr id="23563" name="Group 243"/>
              <p:cNvGrpSpPr>
                <a:grpSpLocks/>
              </p:cNvGrpSpPr>
              <p:nvPr/>
            </p:nvGrpSpPr>
            <p:grpSpPr bwMode="auto">
              <a:xfrm>
                <a:off x="838201" y="4038896"/>
                <a:ext cx="884238" cy="1143370"/>
                <a:chOff x="838201" y="4038896"/>
                <a:chExt cx="884238" cy="1143370"/>
              </a:xfrm>
            </p:grpSpPr>
            <p:cxnSp>
              <p:nvCxnSpPr>
                <p:cNvPr id="95" name="Straight Connector 94"/>
                <p:cNvCxnSpPr/>
                <p:nvPr/>
              </p:nvCxnSpPr>
              <p:spPr>
                <a:xfrm>
                  <a:off x="838201" y="4038896"/>
                  <a:ext cx="838200" cy="1588"/>
                </a:xfrm>
                <a:prstGeom prst="line">
                  <a:avLst/>
                </a:prstGeom>
                <a:ln>
                  <a:solidFill>
                    <a:srgbClr val="002060"/>
                  </a:solidFill>
                  <a:prstDash val="sysDot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Straight Connector 95"/>
                <p:cNvCxnSpPr/>
                <p:nvPr/>
              </p:nvCxnSpPr>
              <p:spPr>
                <a:xfrm rot="5400000">
                  <a:off x="1105510" y="4609787"/>
                  <a:ext cx="1143370" cy="158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7" name="Flowchart: Connector 96"/>
                <p:cNvSpPr/>
                <p:nvPr/>
              </p:nvSpPr>
              <p:spPr>
                <a:xfrm>
                  <a:off x="1676401" y="4038896"/>
                  <a:ext cx="46038" cy="46052"/>
                </a:xfrm>
                <a:prstGeom prst="flowChartConnector">
                  <a:avLst/>
                </a:prstGeom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</p:grpSp>
          <p:grpSp>
            <p:nvGrpSpPr>
              <p:cNvPr id="23564" name="Group 244"/>
              <p:cNvGrpSpPr>
                <a:grpSpLocks/>
              </p:cNvGrpSpPr>
              <p:nvPr/>
            </p:nvGrpSpPr>
            <p:grpSpPr bwMode="auto">
              <a:xfrm>
                <a:off x="6019799" y="4038896"/>
                <a:ext cx="884238" cy="1143370"/>
                <a:chOff x="838199" y="4038896"/>
                <a:chExt cx="884238" cy="1143370"/>
              </a:xfrm>
            </p:grpSpPr>
            <p:cxnSp>
              <p:nvCxnSpPr>
                <p:cNvPr id="92" name="Straight Connector 91"/>
                <p:cNvCxnSpPr/>
                <p:nvPr/>
              </p:nvCxnSpPr>
              <p:spPr>
                <a:xfrm>
                  <a:off x="838199" y="4038896"/>
                  <a:ext cx="838200" cy="1588"/>
                </a:xfrm>
                <a:prstGeom prst="line">
                  <a:avLst/>
                </a:prstGeom>
                <a:ln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Straight Connector 92"/>
                <p:cNvCxnSpPr/>
                <p:nvPr/>
              </p:nvCxnSpPr>
              <p:spPr>
                <a:xfrm rot="5400000">
                  <a:off x="1105508" y="4609787"/>
                  <a:ext cx="1143370" cy="1588"/>
                </a:xfrm>
                <a:prstGeom prst="line">
                  <a:avLst/>
                </a:prstGeom>
                <a:ln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4" name="Flowchart: Connector 93"/>
                <p:cNvSpPr/>
                <p:nvPr/>
              </p:nvSpPr>
              <p:spPr>
                <a:xfrm>
                  <a:off x="1676399" y="4038896"/>
                  <a:ext cx="46038" cy="46052"/>
                </a:xfrm>
                <a:prstGeom prst="flowChartConnector">
                  <a:avLst/>
                </a:prstGeom>
                <a:ln>
                  <a:solidFill>
                    <a:schemeClr val="tx1"/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</p:grpSp>
          <p:grpSp>
            <p:nvGrpSpPr>
              <p:cNvPr id="23565" name="Group 248"/>
              <p:cNvGrpSpPr>
                <a:grpSpLocks/>
              </p:cNvGrpSpPr>
              <p:nvPr/>
            </p:nvGrpSpPr>
            <p:grpSpPr bwMode="auto">
              <a:xfrm>
                <a:off x="3276600" y="4038896"/>
                <a:ext cx="884238" cy="1143370"/>
                <a:chOff x="838200" y="4038896"/>
                <a:chExt cx="884238" cy="1143370"/>
              </a:xfrm>
            </p:grpSpPr>
            <p:cxnSp>
              <p:nvCxnSpPr>
                <p:cNvPr id="89" name="Straight Connector 88"/>
                <p:cNvCxnSpPr/>
                <p:nvPr/>
              </p:nvCxnSpPr>
              <p:spPr>
                <a:xfrm>
                  <a:off x="838200" y="4038896"/>
                  <a:ext cx="838200" cy="158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Straight Connector 89"/>
                <p:cNvCxnSpPr/>
                <p:nvPr/>
              </p:nvCxnSpPr>
              <p:spPr>
                <a:xfrm rot="5400000">
                  <a:off x="1105509" y="4609787"/>
                  <a:ext cx="1143370" cy="1588"/>
                </a:xfrm>
                <a:prstGeom prst="line">
                  <a:avLst/>
                </a:prstGeom>
                <a:ln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1" name="Flowchart: Connector 90"/>
                <p:cNvSpPr/>
                <p:nvPr/>
              </p:nvSpPr>
              <p:spPr>
                <a:xfrm>
                  <a:off x="1676400" y="4038896"/>
                  <a:ext cx="46038" cy="46052"/>
                </a:xfrm>
                <a:prstGeom prst="flowChartConnector">
                  <a:avLst/>
                </a:prstGeom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</p:grpSp>
        </p:grpSp>
      </p:grpSp>
      <p:cxnSp>
        <p:nvCxnSpPr>
          <p:cNvPr id="23555" name="Straight Connector 80"/>
          <p:cNvCxnSpPr>
            <a:cxnSpLocks noChangeShapeType="1"/>
          </p:cNvCxnSpPr>
          <p:nvPr/>
        </p:nvCxnSpPr>
        <p:spPr bwMode="auto">
          <a:xfrm>
            <a:off x="1074738" y="4789488"/>
            <a:ext cx="7329487" cy="28575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Supply, Marginal Cost  &amp; Producer Surplus</a:t>
            </a:r>
          </a:p>
        </p:txBody>
      </p:sp>
      <p:sp>
        <p:nvSpPr>
          <p:cNvPr id="416774" name="Rectangle 6"/>
          <p:cNvSpPr>
            <a:spLocks noChangeArrowheads="1"/>
          </p:cNvSpPr>
          <p:nvPr/>
        </p:nvSpPr>
        <p:spPr bwMode="auto">
          <a:xfrm>
            <a:off x="347663" y="2732063"/>
            <a:ext cx="8229600" cy="947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114300" lvl="1">
              <a:spcBef>
                <a:spcPct val="25000"/>
              </a:spcBef>
              <a:spcAft>
                <a:spcPct val="25000"/>
              </a:spcAft>
              <a:buClr>
                <a:srgbClr val="FF0000"/>
              </a:buClr>
              <a:buFont typeface="Wingdings" pitchFamily="2" charset="2"/>
              <a:buNone/>
            </a:pPr>
            <a:r>
              <a:rPr lang="en-US" sz="2400" dirty="0"/>
              <a:t>Barbara’s producer surplus from the 10</a:t>
            </a:r>
            <a:r>
              <a:rPr lang="en-US" sz="2400" baseline="30000" dirty="0"/>
              <a:t>th</a:t>
            </a:r>
            <a:r>
              <a:rPr lang="en-US" sz="2400" dirty="0"/>
              <a:t> box is the price minus the marginal cost, which is $6.</a:t>
            </a:r>
          </a:p>
        </p:txBody>
      </p:sp>
      <p:sp>
        <p:nvSpPr>
          <p:cNvPr id="23558" name="Rectangle 17"/>
          <p:cNvSpPr>
            <a:spLocks noChangeArrowheads="1"/>
          </p:cNvSpPr>
          <p:nvPr/>
        </p:nvSpPr>
        <p:spPr bwMode="auto">
          <a:xfrm>
            <a:off x="7656513" y="4506913"/>
            <a:ext cx="941387" cy="2428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000" b="1"/>
              <a:t>Market Price</a:t>
            </a:r>
          </a:p>
        </p:txBody>
      </p:sp>
      <p:sp>
        <p:nvSpPr>
          <p:cNvPr id="88" name="Rectangle 3"/>
          <p:cNvSpPr>
            <a:spLocks noChangeArrowheads="1"/>
          </p:cNvSpPr>
          <p:nvPr/>
        </p:nvSpPr>
        <p:spPr bwMode="auto">
          <a:xfrm>
            <a:off x="381000" y="1447800"/>
            <a:ext cx="85344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114300" lvl="1">
              <a:spcBef>
                <a:spcPct val="25000"/>
              </a:spcBef>
              <a:spcAft>
                <a:spcPct val="25000"/>
              </a:spcAft>
              <a:buClr>
                <a:srgbClr val="FF0000"/>
              </a:buClr>
              <a:buFont typeface="Wingdings" pitchFamily="2" charset="2"/>
              <a:buNone/>
            </a:pPr>
            <a:r>
              <a:rPr lang="en-US" sz="2400" dirty="0"/>
              <a:t>Barbara is willing to produce the 10</a:t>
            </a:r>
            <a:r>
              <a:rPr lang="en-US" sz="2400" baseline="30000" dirty="0"/>
              <a:t>th</a:t>
            </a:r>
            <a:r>
              <a:rPr lang="en-US" sz="2400" dirty="0"/>
              <a:t> box for $2</a:t>
            </a:r>
          </a:p>
        </p:txBody>
      </p:sp>
      <p:sp>
        <p:nvSpPr>
          <p:cNvPr id="80" name="Rectangle 10">
            <a:extLst>
              <a:ext uri="{FF2B5EF4-FFF2-40B4-BE49-F238E27FC236}">
                <a16:creationId xmlns:a16="http://schemas.microsoft.com/office/drawing/2014/main" id="{AF72C518-13AA-4121-8AF3-A42DC1ECD5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258" y="2057123"/>
            <a:ext cx="807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114300" lvl="1">
              <a:spcBef>
                <a:spcPct val="25000"/>
              </a:spcBef>
              <a:spcAft>
                <a:spcPct val="25000"/>
              </a:spcAft>
              <a:buClr>
                <a:srgbClr val="FF0000"/>
              </a:buClr>
              <a:buFont typeface="Wingdings" pitchFamily="2" charset="2"/>
              <a:buNone/>
            </a:pPr>
            <a:r>
              <a:rPr lang="en-US" sz="2400" dirty="0"/>
              <a:t>The price Barbara receives for the 10</a:t>
            </a:r>
            <a:r>
              <a:rPr lang="en-US" sz="2400" baseline="30000" dirty="0"/>
              <a:t>th</a:t>
            </a:r>
            <a:r>
              <a:rPr lang="en-US" sz="2400" dirty="0"/>
              <a:t> box is $8</a:t>
            </a:r>
          </a:p>
        </p:txBody>
      </p:sp>
      <p:sp>
        <p:nvSpPr>
          <p:cNvPr id="2" name="Right Triangle 1">
            <a:extLst>
              <a:ext uri="{FF2B5EF4-FFF2-40B4-BE49-F238E27FC236}">
                <a16:creationId xmlns:a16="http://schemas.microsoft.com/office/drawing/2014/main" id="{EF22EBCC-74D1-A937-9D5E-A6CF6DDE0DBD}"/>
              </a:ext>
            </a:extLst>
          </p:cNvPr>
          <p:cNvSpPr/>
          <p:nvPr/>
        </p:nvSpPr>
        <p:spPr bwMode="auto">
          <a:xfrm rot="167123" flipV="1">
            <a:off x="1156450" y="4829266"/>
            <a:ext cx="734151" cy="1033814"/>
          </a:xfrm>
          <a:prstGeom prst="rtTriangl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4167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6774" grpId="0" build="p"/>
      <p:bldP spid="88" grpId="0"/>
      <p:bldP spid="8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579" name="Straight Connector 80"/>
          <p:cNvCxnSpPr>
            <a:cxnSpLocks noChangeShapeType="1"/>
          </p:cNvCxnSpPr>
          <p:nvPr/>
        </p:nvCxnSpPr>
        <p:spPr bwMode="auto">
          <a:xfrm>
            <a:off x="1074738" y="4789488"/>
            <a:ext cx="7329487" cy="28575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Supply, Marginal Cost  &amp; Producer Surplus</a:t>
            </a:r>
          </a:p>
        </p:txBody>
      </p:sp>
      <p:sp>
        <p:nvSpPr>
          <p:cNvPr id="24581" name="Rectangle 17"/>
          <p:cNvSpPr>
            <a:spLocks noChangeArrowheads="1"/>
          </p:cNvSpPr>
          <p:nvPr/>
        </p:nvSpPr>
        <p:spPr bwMode="auto">
          <a:xfrm>
            <a:off x="7656513" y="4506913"/>
            <a:ext cx="941387" cy="2428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000" b="1"/>
              <a:t>Market Price</a:t>
            </a:r>
          </a:p>
        </p:txBody>
      </p:sp>
      <p:sp>
        <p:nvSpPr>
          <p:cNvPr id="88" name="Rectangle 3"/>
          <p:cNvSpPr>
            <a:spLocks noChangeArrowheads="1"/>
          </p:cNvSpPr>
          <p:nvPr/>
        </p:nvSpPr>
        <p:spPr bwMode="auto">
          <a:xfrm>
            <a:off x="381000" y="1447800"/>
            <a:ext cx="85344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114300" lvl="1">
              <a:spcBef>
                <a:spcPct val="25000"/>
              </a:spcBef>
              <a:spcAft>
                <a:spcPct val="25000"/>
              </a:spcAft>
              <a:buClr>
                <a:srgbClr val="FF0000"/>
              </a:buClr>
              <a:buFont typeface="Wingdings" pitchFamily="2" charset="2"/>
              <a:buNone/>
            </a:pPr>
            <a:r>
              <a:rPr lang="en-US" sz="2400"/>
              <a:t>At $8 a box, Barbara sell 30 boxes.</a:t>
            </a:r>
          </a:p>
          <a:p>
            <a:pPr marL="114300" lvl="1">
              <a:spcBef>
                <a:spcPct val="25000"/>
              </a:spcBef>
              <a:spcAft>
                <a:spcPct val="25000"/>
              </a:spcAft>
              <a:buClr>
                <a:srgbClr val="FF0000"/>
              </a:buClr>
              <a:buFont typeface="Wingdings" pitchFamily="2" charset="2"/>
              <a:buNone/>
            </a:pPr>
            <a:r>
              <a:rPr lang="en-US" sz="2400"/>
              <a:t>So her producer surplus is the area of the blue area.</a:t>
            </a:r>
          </a:p>
        </p:txBody>
      </p:sp>
      <p:grpSp>
        <p:nvGrpSpPr>
          <p:cNvPr id="24583" name="Group 64"/>
          <p:cNvGrpSpPr>
            <a:grpSpLocks/>
          </p:cNvGrpSpPr>
          <p:nvPr/>
        </p:nvGrpSpPr>
        <p:grpSpPr bwMode="auto">
          <a:xfrm>
            <a:off x="482600" y="3859213"/>
            <a:ext cx="7924800" cy="2389187"/>
            <a:chOff x="228601" y="3111496"/>
            <a:chExt cx="7924798" cy="2389960"/>
          </a:xfrm>
        </p:grpSpPr>
        <p:grpSp>
          <p:nvGrpSpPr>
            <p:cNvPr id="24584" name="Group 177"/>
            <p:cNvGrpSpPr>
              <a:grpSpLocks/>
            </p:cNvGrpSpPr>
            <p:nvPr/>
          </p:nvGrpSpPr>
          <p:grpSpPr bwMode="auto">
            <a:xfrm>
              <a:off x="228601" y="3111496"/>
              <a:ext cx="7924798" cy="2389960"/>
              <a:chOff x="228601" y="3111496"/>
              <a:chExt cx="7924798" cy="2389960"/>
            </a:xfrm>
          </p:grpSpPr>
          <p:grpSp>
            <p:nvGrpSpPr>
              <p:cNvPr id="24598" name="Group 76"/>
              <p:cNvGrpSpPr>
                <a:grpSpLocks/>
              </p:cNvGrpSpPr>
              <p:nvPr/>
            </p:nvGrpSpPr>
            <p:grpSpPr bwMode="auto">
              <a:xfrm>
                <a:off x="228601" y="3111496"/>
                <a:ext cx="2743199" cy="2389960"/>
                <a:chOff x="228601" y="3111496"/>
                <a:chExt cx="2743199" cy="2389960"/>
              </a:xfrm>
            </p:grpSpPr>
            <p:grpSp>
              <p:nvGrpSpPr>
                <p:cNvPr id="24638" name="Group 53"/>
                <p:cNvGrpSpPr>
                  <a:grpSpLocks/>
                </p:cNvGrpSpPr>
                <p:nvPr/>
              </p:nvGrpSpPr>
              <p:grpSpPr bwMode="auto">
                <a:xfrm>
                  <a:off x="836614" y="3111496"/>
                  <a:ext cx="2135186" cy="2072358"/>
                  <a:chOff x="836614" y="3111496"/>
                  <a:chExt cx="2135186" cy="2072358"/>
                </a:xfrm>
              </p:grpSpPr>
              <p:cxnSp>
                <p:nvCxnSpPr>
                  <p:cNvPr id="159" name="Straight Connector 4"/>
                  <p:cNvCxnSpPr/>
                  <p:nvPr/>
                </p:nvCxnSpPr>
                <p:spPr>
                  <a:xfrm rot="5400000">
                    <a:off x="-197977" y="4146087"/>
                    <a:ext cx="2070769" cy="1587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0" name="Straight Connector 159"/>
                  <p:cNvCxnSpPr/>
                  <p:nvPr/>
                </p:nvCxnSpPr>
                <p:spPr>
                  <a:xfrm>
                    <a:off x="838201" y="5182265"/>
                    <a:ext cx="2133599" cy="1588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1" name="Straight Connector 160"/>
                  <p:cNvCxnSpPr/>
                  <p:nvPr/>
                </p:nvCxnSpPr>
                <p:spPr>
                  <a:xfrm rot="5400000">
                    <a:off x="972169" y="3919128"/>
                    <a:ext cx="1089377" cy="782637"/>
                  </a:xfrm>
                  <a:prstGeom prst="line">
                    <a:avLst/>
                  </a:prstGeom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4639" name="Rectangle 18"/>
                <p:cNvSpPr>
                  <a:spLocks noChangeArrowheads="1"/>
                </p:cNvSpPr>
                <p:nvPr/>
              </p:nvSpPr>
              <p:spPr bwMode="auto">
                <a:xfrm rot="-5400000">
                  <a:off x="-229859" y="4116059"/>
                  <a:ext cx="1160575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pPr algn="ctr"/>
                  <a:r>
                    <a:rPr lang="en-US" sz="1000" b="1"/>
                    <a:t>Price of cookies</a:t>
                  </a:r>
                </a:p>
              </p:txBody>
            </p:sp>
            <p:sp>
              <p:nvSpPr>
                <p:cNvPr id="24640" name="Rectangle 17"/>
                <p:cNvSpPr>
                  <a:spLocks noChangeArrowheads="1"/>
                </p:cNvSpPr>
                <p:nvPr/>
              </p:nvSpPr>
              <p:spPr bwMode="auto">
                <a:xfrm>
                  <a:off x="2286000" y="5257800"/>
                  <a:ext cx="679674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pPr algn="ctr"/>
                  <a:r>
                    <a:rPr lang="en-US" sz="1000" b="1"/>
                    <a:t>Cookies</a:t>
                  </a:r>
                </a:p>
              </p:txBody>
            </p:sp>
            <p:sp>
              <p:nvSpPr>
                <p:cNvPr id="24641" name="Rectangle 19"/>
                <p:cNvSpPr>
                  <a:spLocks noChangeArrowheads="1"/>
                </p:cNvSpPr>
                <p:nvPr/>
              </p:nvSpPr>
              <p:spPr bwMode="auto">
                <a:xfrm>
                  <a:off x="457200" y="4876800"/>
                  <a:ext cx="203325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lIns="90488" tIns="44450" rIns="90488" bIns="44450">
                  <a:spAutoFit/>
                </a:bodyPr>
                <a:lstStyle/>
                <a:p>
                  <a:r>
                    <a:rPr lang="en-US" sz="1000"/>
                    <a:t>2</a:t>
                  </a:r>
                </a:p>
              </p:txBody>
            </p:sp>
            <p:sp>
              <p:nvSpPr>
                <p:cNvPr id="24642" name="Rectangle 20"/>
                <p:cNvSpPr>
                  <a:spLocks noChangeArrowheads="1"/>
                </p:cNvSpPr>
                <p:nvPr/>
              </p:nvSpPr>
              <p:spPr bwMode="auto">
                <a:xfrm>
                  <a:off x="457200" y="4572000"/>
                  <a:ext cx="307975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lIns="90488" tIns="44450" rIns="90488" bIns="44450">
                  <a:spAutoFit/>
                </a:bodyPr>
                <a:lstStyle/>
                <a:p>
                  <a:r>
                    <a:rPr lang="en-US" sz="1000"/>
                    <a:t>4</a:t>
                  </a:r>
                </a:p>
              </p:txBody>
            </p:sp>
            <p:sp>
              <p:nvSpPr>
                <p:cNvPr id="24643" name="Rectangle 21"/>
                <p:cNvSpPr>
                  <a:spLocks noChangeArrowheads="1"/>
                </p:cNvSpPr>
                <p:nvPr/>
              </p:nvSpPr>
              <p:spPr bwMode="auto">
                <a:xfrm>
                  <a:off x="457200" y="4267200"/>
                  <a:ext cx="190406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lIns="90488" tIns="44450" rIns="90488" bIns="44450">
                  <a:spAutoFit/>
                </a:bodyPr>
                <a:lstStyle/>
                <a:p>
                  <a:r>
                    <a:rPr lang="en-US" sz="1000"/>
                    <a:t>6</a:t>
                  </a:r>
                </a:p>
              </p:txBody>
            </p:sp>
            <p:sp>
              <p:nvSpPr>
                <p:cNvPr id="24644" name="Rectangle 22"/>
                <p:cNvSpPr>
                  <a:spLocks noChangeArrowheads="1"/>
                </p:cNvSpPr>
                <p:nvPr/>
              </p:nvSpPr>
              <p:spPr bwMode="auto">
                <a:xfrm>
                  <a:off x="457200" y="3886200"/>
                  <a:ext cx="164008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lIns="90488" tIns="44450" rIns="90488" bIns="44450">
                  <a:spAutoFit/>
                </a:bodyPr>
                <a:lstStyle/>
                <a:p>
                  <a:r>
                    <a:rPr lang="en-US" sz="1000"/>
                    <a:t>8</a:t>
                  </a:r>
                </a:p>
              </p:txBody>
            </p:sp>
            <p:sp>
              <p:nvSpPr>
                <p:cNvPr id="24645" name="Rectangle 23"/>
                <p:cNvSpPr>
                  <a:spLocks noChangeArrowheads="1"/>
                </p:cNvSpPr>
                <p:nvPr/>
              </p:nvSpPr>
              <p:spPr bwMode="auto">
                <a:xfrm>
                  <a:off x="381000" y="3581400"/>
                  <a:ext cx="381000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lIns="90488" tIns="44450" rIns="90488" bIns="44450">
                  <a:spAutoFit/>
                </a:bodyPr>
                <a:lstStyle/>
                <a:p>
                  <a:r>
                    <a:rPr lang="en-US" sz="1000"/>
                    <a:t>10</a:t>
                  </a:r>
                </a:p>
              </p:txBody>
            </p:sp>
            <p:sp>
              <p:nvSpPr>
                <p:cNvPr id="24646" name="Rectangle 24"/>
                <p:cNvSpPr>
                  <a:spLocks noChangeArrowheads="1"/>
                </p:cNvSpPr>
                <p:nvPr/>
              </p:nvSpPr>
              <p:spPr bwMode="auto">
                <a:xfrm>
                  <a:off x="990600" y="5257800"/>
                  <a:ext cx="323808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sz="1000"/>
                    <a:t>10</a:t>
                  </a:r>
                </a:p>
              </p:txBody>
            </p:sp>
            <p:sp>
              <p:nvSpPr>
                <p:cNvPr id="24647" name="Rectangle 25"/>
                <p:cNvSpPr>
                  <a:spLocks noChangeArrowheads="1"/>
                </p:cNvSpPr>
                <p:nvPr/>
              </p:nvSpPr>
              <p:spPr bwMode="auto">
                <a:xfrm>
                  <a:off x="1295400" y="5257800"/>
                  <a:ext cx="323808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sz="1000"/>
                    <a:t>20</a:t>
                  </a:r>
                </a:p>
              </p:txBody>
            </p:sp>
            <p:sp>
              <p:nvSpPr>
                <p:cNvPr id="24648" name="Rectangle 26"/>
                <p:cNvSpPr>
                  <a:spLocks noChangeArrowheads="1"/>
                </p:cNvSpPr>
                <p:nvPr/>
              </p:nvSpPr>
              <p:spPr bwMode="auto">
                <a:xfrm>
                  <a:off x="1524000" y="5257800"/>
                  <a:ext cx="323808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sz="1000"/>
                    <a:t>30</a:t>
                  </a:r>
                </a:p>
              </p:txBody>
            </p:sp>
            <p:sp>
              <p:nvSpPr>
                <p:cNvPr id="24649" name="Rectangle 27"/>
                <p:cNvSpPr>
                  <a:spLocks noChangeArrowheads="1"/>
                </p:cNvSpPr>
                <p:nvPr/>
              </p:nvSpPr>
              <p:spPr bwMode="auto">
                <a:xfrm>
                  <a:off x="1828800" y="5257800"/>
                  <a:ext cx="323808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sz="1000"/>
                    <a:t>40</a:t>
                  </a:r>
                </a:p>
              </p:txBody>
            </p:sp>
            <p:sp>
              <p:nvSpPr>
                <p:cNvPr id="24650" name="Rectangle 28"/>
                <p:cNvSpPr>
                  <a:spLocks noChangeArrowheads="1"/>
                </p:cNvSpPr>
                <p:nvPr/>
              </p:nvSpPr>
              <p:spPr bwMode="auto">
                <a:xfrm>
                  <a:off x="2057400" y="5257800"/>
                  <a:ext cx="323808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sz="1000"/>
                    <a:t>50</a:t>
                  </a:r>
                </a:p>
              </p:txBody>
            </p:sp>
            <p:sp>
              <p:nvSpPr>
                <p:cNvPr id="24651" name="Rectangle 35"/>
                <p:cNvSpPr>
                  <a:spLocks noChangeArrowheads="1"/>
                </p:cNvSpPr>
                <p:nvPr/>
              </p:nvSpPr>
              <p:spPr bwMode="auto">
                <a:xfrm>
                  <a:off x="609600" y="5257800"/>
                  <a:ext cx="253275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sz="1000"/>
                    <a:t>0</a:t>
                  </a:r>
                </a:p>
              </p:txBody>
            </p:sp>
          </p:grpSp>
          <p:grpSp>
            <p:nvGrpSpPr>
              <p:cNvPr id="24599" name="Group 77"/>
              <p:cNvGrpSpPr>
                <a:grpSpLocks/>
              </p:cNvGrpSpPr>
              <p:nvPr/>
            </p:nvGrpSpPr>
            <p:grpSpPr bwMode="auto">
              <a:xfrm>
                <a:off x="2667000" y="3124200"/>
                <a:ext cx="2743199" cy="2376462"/>
                <a:chOff x="228601" y="3124994"/>
                <a:chExt cx="2743199" cy="2376462"/>
              </a:xfrm>
            </p:grpSpPr>
            <p:grpSp>
              <p:nvGrpSpPr>
                <p:cNvPr id="24622" name="Group 53"/>
                <p:cNvGrpSpPr>
                  <a:grpSpLocks/>
                </p:cNvGrpSpPr>
                <p:nvPr/>
              </p:nvGrpSpPr>
              <p:grpSpPr bwMode="auto">
                <a:xfrm>
                  <a:off x="836614" y="3124994"/>
                  <a:ext cx="2135186" cy="2072358"/>
                  <a:chOff x="836614" y="3124994"/>
                  <a:chExt cx="2135186" cy="2072358"/>
                </a:xfrm>
              </p:grpSpPr>
              <p:cxnSp>
                <p:nvCxnSpPr>
                  <p:cNvPr id="143" name="Straight Connector 142"/>
                  <p:cNvCxnSpPr/>
                  <p:nvPr/>
                </p:nvCxnSpPr>
                <p:spPr>
                  <a:xfrm rot="5400000">
                    <a:off x="-197977" y="4159585"/>
                    <a:ext cx="2070770" cy="1587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4" name="Straight Connector 143"/>
                  <p:cNvCxnSpPr/>
                  <p:nvPr/>
                </p:nvCxnSpPr>
                <p:spPr>
                  <a:xfrm>
                    <a:off x="838201" y="5195764"/>
                    <a:ext cx="2133599" cy="1588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4623" name="Rectangle 18"/>
                <p:cNvSpPr>
                  <a:spLocks noChangeArrowheads="1"/>
                </p:cNvSpPr>
                <p:nvPr/>
              </p:nvSpPr>
              <p:spPr bwMode="auto">
                <a:xfrm rot="-5400000">
                  <a:off x="-229859" y="4116059"/>
                  <a:ext cx="1160575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pPr algn="ctr"/>
                  <a:r>
                    <a:rPr lang="en-US" sz="1000" b="1"/>
                    <a:t>Price of cookies</a:t>
                  </a:r>
                </a:p>
              </p:txBody>
            </p:sp>
            <p:sp>
              <p:nvSpPr>
                <p:cNvPr id="24624" name="Rectangle 17"/>
                <p:cNvSpPr>
                  <a:spLocks noChangeArrowheads="1"/>
                </p:cNvSpPr>
                <p:nvPr/>
              </p:nvSpPr>
              <p:spPr bwMode="auto">
                <a:xfrm>
                  <a:off x="2286000" y="5257800"/>
                  <a:ext cx="679674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pPr algn="ctr"/>
                  <a:r>
                    <a:rPr lang="en-US" sz="1000" b="1"/>
                    <a:t>Cookies</a:t>
                  </a:r>
                </a:p>
              </p:txBody>
            </p:sp>
            <p:sp>
              <p:nvSpPr>
                <p:cNvPr id="24625" name="Rectangle 19"/>
                <p:cNvSpPr>
                  <a:spLocks noChangeArrowheads="1"/>
                </p:cNvSpPr>
                <p:nvPr/>
              </p:nvSpPr>
              <p:spPr bwMode="auto">
                <a:xfrm>
                  <a:off x="457200" y="4876800"/>
                  <a:ext cx="203325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lIns="90488" tIns="44450" rIns="90488" bIns="44450">
                  <a:spAutoFit/>
                </a:bodyPr>
                <a:lstStyle/>
                <a:p>
                  <a:r>
                    <a:rPr lang="en-US" sz="1000"/>
                    <a:t>2</a:t>
                  </a:r>
                </a:p>
              </p:txBody>
            </p:sp>
            <p:sp>
              <p:nvSpPr>
                <p:cNvPr id="24626" name="Rectangle 20"/>
                <p:cNvSpPr>
                  <a:spLocks noChangeArrowheads="1"/>
                </p:cNvSpPr>
                <p:nvPr/>
              </p:nvSpPr>
              <p:spPr bwMode="auto">
                <a:xfrm>
                  <a:off x="457200" y="4572000"/>
                  <a:ext cx="307975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lIns="90488" tIns="44450" rIns="90488" bIns="44450">
                  <a:spAutoFit/>
                </a:bodyPr>
                <a:lstStyle/>
                <a:p>
                  <a:r>
                    <a:rPr lang="en-US" sz="1000"/>
                    <a:t>4</a:t>
                  </a:r>
                </a:p>
              </p:txBody>
            </p:sp>
            <p:sp>
              <p:nvSpPr>
                <p:cNvPr id="24627" name="Rectangle 21"/>
                <p:cNvSpPr>
                  <a:spLocks noChangeArrowheads="1"/>
                </p:cNvSpPr>
                <p:nvPr/>
              </p:nvSpPr>
              <p:spPr bwMode="auto">
                <a:xfrm>
                  <a:off x="457200" y="4267200"/>
                  <a:ext cx="190406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lIns="90488" tIns="44450" rIns="90488" bIns="44450">
                  <a:spAutoFit/>
                </a:bodyPr>
                <a:lstStyle/>
                <a:p>
                  <a:r>
                    <a:rPr lang="en-US" sz="1000"/>
                    <a:t>6</a:t>
                  </a:r>
                </a:p>
              </p:txBody>
            </p:sp>
            <p:sp>
              <p:nvSpPr>
                <p:cNvPr id="24628" name="Rectangle 22"/>
                <p:cNvSpPr>
                  <a:spLocks noChangeArrowheads="1"/>
                </p:cNvSpPr>
                <p:nvPr/>
              </p:nvSpPr>
              <p:spPr bwMode="auto">
                <a:xfrm>
                  <a:off x="457200" y="3886200"/>
                  <a:ext cx="164008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lIns="90488" tIns="44450" rIns="90488" bIns="44450">
                  <a:spAutoFit/>
                </a:bodyPr>
                <a:lstStyle/>
                <a:p>
                  <a:r>
                    <a:rPr lang="en-US" sz="1000"/>
                    <a:t>8</a:t>
                  </a:r>
                </a:p>
              </p:txBody>
            </p:sp>
            <p:sp>
              <p:nvSpPr>
                <p:cNvPr id="24629" name="Rectangle 23"/>
                <p:cNvSpPr>
                  <a:spLocks noChangeArrowheads="1"/>
                </p:cNvSpPr>
                <p:nvPr/>
              </p:nvSpPr>
              <p:spPr bwMode="auto">
                <a:xfrm>
                  <a:off x="381000" y="3581400"/>
                  <a:ext cx="381000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lIns="90488" tIns="44450" rIns="90488" bIns="44450">
                  <a:spAutoFit/>
                </a:bodyPr>
                <a:lstStyle/>
                <a:p>
                  <a:r>
                    <a:rPr lang="en-US" sz="1000"/>
                    <a:t>10</a:t>
                  </a:r>
                </a:p>
              </p:txBody>
            </p:sp>
            <p:sp>
              <p:nvSpPr>
                <p:cNvPr id="24630" name="Rectangle 24"/>
                <p:cNvSpPr>
                  <a:spLocks noChangeArrowheads="1"/>
                </p:cNvSpPr>
                <p:nvPr/>
              </p:nvSpPr>
              <p:spPr bwMode="auto">
                <a:xfrm>
                  <a:off x="990600" y="5257800"/>
                  <a:ext cx="253275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sz="1000"/>
                    <a:t>5</a:t>
                  </a:r>
                </a:p>
              </p:txBody>
            </p:sp>
            <p:sp>
              <p:nvSpPr>
                <p:cNvPr id="24631" name="Rectangle 25"/>
                <p:cNvSpPr>
                  <a:spLocks noChangeArrowheads="1"/>
                </p:cNvSpPr>
                <p:nvPr/>
              </p:nvSpPr>
              <p:spPr bwMode="auto">
                <a:xfrm>
                  <a:off x="1295400" y="5257800"/>
                  <a:ext cx="323808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sz="1000"/>
                    <a:t>10</a:t>
                  </a:r>
                </a:p>
              </p:txBody>
            </p:sp>
            <p:sp>
              <p:nvSpPr>
                <p:cNvPr id="24632" name="Rectangle 26"/>
                <p:cNvSpPr>
                  <a:spLocks noChangeArrowheads="1"/>
                </p:cNvSpPr>
                <p:nvPr/>
              </p:nvSpPr>
              <p:spPr bwMode="auto">
                <a:xfrm>
                  <a:off x="1524000" y="5257800"/>
                  <a:ext cx="323808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sz="1000"/>
                    <a:t>15</a:t>
                  </a:r>
                </a:p>
              </p:txBody>
            </p:sp>
            <p:sp>
              <p:nvSpPr>
                <p:cNvPr id="24633" name="Rectangle 27"/>
                <p:cNvSpPr>
                  <a:spLocks noChangeArrowheads="1"/>
                </p:cNvSpPr>
                <p:nvPr/>
              </p:nvSpPr>
              <p:spPr bwMode="auto">
                <a:xfrm>
                  <a:off x="1828800" y="5257800"/>
                  <a:ext cx="323808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sz="1000"/>
                    <a:t>20</a:t>
                  </a:r>
                </a:p>
              </p:txBody>
            </p:sp>
            <p:sp>
              <p:nvSpPr>
                <p:cNvPr id="24634" name="Rectangle 28"/>
                <p:cNvSpPr>
                  <a:spLocks noChangeArrowheads="1"/>
                </p:cNvSpPr>
                <p:nvPr/>
              </p:nvSpPr>
              <p:spPr bwMode="auto">
                <a:xfrm>
                  <a:off x="2057400" y="5257800"/>
                  <a:ext cx="323808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sz="1000"/>
                    <a:t>25</a:t>
                  </a:r>
                </a:p>
              </p:txBody>
            </p:sp>
            <p:sp>
              <p:nvSpPr>
                <p:cNvPr id="24635" name="Rectangle 35"/>
                <p:cNvSpPr>
                  <a:spLocks noChangeArrowheads="1"/>
                </p:cNvSpPr>
                <p:nvPr/>
              </p:nvSpPr>
              <p:spPr bwMode="auto">
                <a:xfrm>
                  <a:off x="609600" y="5257800"/>
                  <a:ext cx="253275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sz="1000"/>
                    <a:t>0</a:t>
                  </a:r>
                </a:p>
              </p:txBody>
            </p:sp>
          </p:grpSp>
          <p:grpSp>
            <p:nvGrpSpPr>
              <p:cNvPr id="24600" name="Group 95"/>
              <p:cNvGrpSpPr>
                <a:grpSpLocks/>
              </p:cNvGrpSpPr>
              <p:nvPr/>
            </p:nvGrpSpPr>
            <p:grpSpPr bwMode="auto">
              <a:xfrm>
                <a:off x="5410200" y="3124200"/>
                <a:ext cx="2743199" cy="2376462"/>
                <a:chOff x="228601" y="3124994"/>
                <a:chExt cx="2743199" cy="2376462"/>
              </a:xfrm>
            </p:grpSpPr>
            <p:grpSp>
              <p:nvGrpSpPr>
                <p:cNvPr id="24606" name="Group 53"/>
                <p:cNvGrpSpPr>
                  <a:grpSpLocks/>
                </p:cNvGrpSpPr>
                <p:nvPr/>
              </p:nvGrpSpPr>
              <p:grpSpPr bwMode="auto">
                <a:xfrm>
                  <a:off x="836614" y="3124994"/>
                  <a:ext cx="2135186" cy="2072358"/>
                  <a:chOff x="836614" y="3124994"/>
                  <a:chExt cx="2135186" cy="2072358"/>
                </a:xfrm>
              </p:grpSpPr>
              <p:cxnSp>
                <p:nvCxnSpPr>
                  <p:cNvPr id="124" name="Straight Connector 123"/>
                  <p:cNvCxnSpPr/>
                  <p:nvPr/>
                </p:nvCxnSpPr>
                <p:spPr>
                  <a:xfrm rot="5400000">
                    <a:off x="-197977" y="4159585"/>
                    <a:ext cx="2070770" cy="1587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5" name="Straight Connector 124"/>
                  <p:cNvCxnSpPr/>
                  <p:nvPr/>
                </p:nvCxnSpPr>
                <p:spPr>
                  <a:xfrm>
                    <a:off x="838201" y="5195764"/>
                    <a:ext cx="2133599" cy="1588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4607" name="Rectangle 18"/>
                <p:cNvSpPr>
                  <a:spLocks noChangeArrowheads="1"/>
                </p:cNvSpPr>
                <p:nvPr/>
              </p:nvSpPr>
              <p:spPr bwMode="auto">
                <a:xfrm rot="-5400000">
                  <a:off x="-229859" y="4116059"/>
                  <a:ext cx="1160575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pPr algn="ctr"/>
                  <a:r>
                    <a:rPr lang="en-US" sz="1000" b="1"/>
                    <a:t>Price of cookies</a:t>
                  </a:r>
                </a:p>
              </p:txBody>
            </p:sp>
            <p:sp>
              <p:nvSpPr>
                <p:cNvPr id="24608" name="Rectangle 89"/>
                <p:cNvSpPr>
                  <a:spLocks noChangeArrowheads="1"/>
                </p:cNvSpPr>
                <p:nvPr/>
              </p:nvSpPr>
              <p:spPr bwMode="auto">
                <a:xfrm>
                  <a:off x="2286000" y="5257800"/>
                  <a:ext cx="679674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pPr algn="ctr"/>
                  <a:r>
                    <a:rPr lang="en-US" sz="1000" b="1"/>
                    <a:t>Cookies</a:t>
                  </a:r>
                </a:p>
              </p:txBody>
            </p:sp>
            <p:sp>
              <p:nvSpPr>
                <p:cNvPr id="24609" name="Rectangle 19"/>
                <p:cNvSpPr>
                  <a:spLocks noChangeArrowheads="1"/>
                </p:cNvSpPr>
                <p:nvPr/>
              </p:nvSpPr>
              <p:spPr bwMode="auto">
                <a:xfrm>
                  <a:off x="457200" y="4876800"/>
                  <a:ext cx="203325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lIns="90488" tIns="44450" rIns="90488" bIns="44450">
                  <a:spAutoFit/>
                </a:bodyPr>
                <a:lstStyle/>
                <a:p>
                  <a:r>
                    <a:rPr lang="en-US" sz="1000"/>
                    <a:t>2</a:t>
                  </a:r>
                </a:p>
              </p:txBody>
            </p:sp>
            <p:sp>
              <p:nvSpPr>
                <p:cNvPr id="24610" name="Rectangle 20"/>
                <p:cNvSpPr>
                  <a:spLocks noChangeArrowheads="1"/>
                </p:cNvSpPr>
                <p:nvPr/>
              </p:nvSpPr>
              <p:spPr bwMode="auto">
                <a:xfrm>
                  <a:off x="457200" y="4572000"/>
                  <a:ext cx="307975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lIns="90488" tIns="44450" rIns="90488" bIns="44450">
                  <a:spAutoFit/>
                </a:bodyPr>
                <a:lstStyle/>
                <a:p>
                  <a:r>
                    <a:rPr lang="en-US" sz="1000"/>
                    <a:t>4</a:t>
                  </a:r>
                </a:p>
              </p:txBody>
            </p:sp>
            <p:sp>
              <p:nvSpPr>
                <p:cNvPr id="24611" name="Rectangle 21"/>
                <p:cNvSpPr>
                  <a:spLocks noChangeArrowheads="1"/>
                </p:cNvSpPr>
                <p:nvPr/>
              </p:nvSpPr>
              <p:spPr bwMode="auto">
                <a:xfrm>
                  <a:off x="457200" y="4267200"/>
                  <a:ext cx="190406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lIns="90488" tIns="44450" rIns="90488" bIns="44450">
                  <a:spAutoFit/>
                </a:bodyPr>
                <a:lstStyle/>
                <a:p>
                  <a:r>
                    <a:rPr lang="en-US" sz="1000"/>
                    <a:t>6</a:t>
                  </a:r>
                </a:p>
              </p:txBody>
            </p:sp>
            <p:sp>
              <p:nvSpPr>
                <p:cNvPr id="24612" name="Rectangle 22"/>
                <p:cNvSpPr>
                  <a:spLocks noChangeArrowheads="1"/>
                </p:cNvSpPr>
                <p:nvPr/>
              </p:nvSpPr>
              <p:spPr bwMode="auto">
                <a:xfrm>
                  <a:off x="457200" y="3886200"/>
                  <a:ext cx="164008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lIns="90488" tIns="44450" rIns="90488" bIns="44450">
                  <a:spAutoFit/>
                </a:bodyPr>
                <a:lstStyle/>
                <a:p>
                  <a:r>
                    <a:rPr lang="en-US" sz="1000"/>
                    <a:t>8</a:t>
                  </a:r>
                </a:p>
              </p:txBody>
            </p:sp>
            <p:sp>
              <p:nvSpPr>
                <p:cNvPr id="24613" name="Rectangle 23"/>
                <p:cNvSpPr>
                  <a:spLocks noChangeArrowheads="1"/>
                </p:cNvSpPr>
                <p:nvPr/>
              </p:nvSpPr>
              <p:spPr bwMode="auto">
                <a:xfrm>
                  <a:off x="381000" y="3581400"/>
                  <a:ext cx="381000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lIns="90488" tIns="44450" rIns="90488" bIns="44450">
                  <a:spAutoFit/>
                </a:bodyPr>
                <a:lstStyle/>
                <a:p>
                  <a:r>
                    <a:rPr lang="en-US" sz="1000"/>
                    <a:t>10</a:t>
                  </a:r>
                </a:p>
              </p:txBody>
            </p:sp>
            <p:sp>
              <p:nvSpPr>
                <p:cNvPr id="24614" name="Rectangle 24"/>
                <p:cNvSpPr>
                  <a:spLocks noChangeArrowheads="1"/>
                </p:cNvSpPr>
                <p:nvPr/>
              </p:nvSpPr>
              <p:spPr bwMode="auto">
                <a:xfrm>
                  <a:off x="990600" y="5257800"/>
                  <a:ext cx="323808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sz="1000"/>
                    <a:t>15</a:t>
                  </a:r>
                </a:p>
              </p:txBody>
            </p:sp>
            <p:sp>
              <p:nvSpPr>
                <p:cNvPr id="24615" name="Rectangle 25"/>
                <p:cNvSpPr>
                  <a:spLocks noChangeArrowheads="1"/>
                </p:cNvSpPr>
                <p:nvPr/>
              </p:nvSpPr>
              <p:spPr bwMode="auto">
                <a:xfrm>
                  <a:off x="1295400" y="5257800"/>
                  <a:ext cx="323808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sz="1000"/>
                    <a:t>30</a:t>
                  </a:r>
                </a:p>
              </p:txBody>
            </p:sp>
            <p:sp>
              <p:nvSpPr>
                <p:cNvPr id="24616" name="Rectangle 26"/>
                <p:cNvSpPr>
                  <a:spLocks noChangeArrowheads="1"/>
                </p:cNvSpPr>
                <p:nvPr/>
              </p:nvSpPr>
              <p:spPr bwMode="auto">
                <a:xfrm>
                  <a:off x="1524000" y="5257800"/>
                  <a:ext cx="323808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sz="1000"/>
                    <a:t>45</a:t>
                  </a:r>
                </a:p>
              </p:txBody>
            </p:sp>
            <p:sp>
              <p:nvSpPr>
                <p:cNvPr id="24617" name="Rectangle 27"/>
                <p:cNvSpPr>
                  <a:spLocks noChangeArrowheads="1"/>
                </p:cNvSpPr>
                <p:nvPr/>
              </p:nvSpPr>
              <p:spPr bwMode="auto">
                <a:xfrm>
                  <a:off x="1828800" y="5257800"/>
                  <a:ext cx="323808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sz="1000"/>
                    <a:t>60</a:t>
                  </a:r>
                </a:p>
              </p:txBody>
            </p:sp>
            <p:sp>
              <p:nvSpPr>
                <p:cNvPr id="24618" name="Rectangle 28"/>
                <p:cNvSpPr>
                  <a:spLocks noChangeArrowheads="1"/>
                </p:cNvSpPr>
                <p:nvPr/>
              </p:nvSpPr>
              <p:spPr bwMode="auto">
                <a:xfrm>
                  <a:off x="2057400" y="5257800"/>
                  <a:ext cx="323808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sz="1000"/>
                    <a:t>75</a:t>
                  </a:r>
                </a:p>
              </p:txBody>
            </p:sp>
            <p:sp>
              <p:nvSpPr>
                <p:cNvPr id="24619" name="Rectangle 35"/>
                <p:cNvSpPr>
                  <a:spLocks noChangeArrowheads="1"/>
                </p:cNvSpPr>
                <p:nvPr/>
              </p:nvSpPr>
              <p:spPr bwMode="auto">
                <a:xfrm>
                  <a:off x="609600" y="5257800"/>
                  <a:ext cx="253275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sz="1000"/>
                    <a:t>0</a:t>
                  </a:r>
                </a:p>
              </p:txBody>
            </p:sp>
          </p:grpSp>
          <p:sp>
            <p:nvSpPr>
              <p:cNvPr id="24601" name="Rectangle 17"/>
              <p:cNvSpPr>
                <a:spLocks noChangeArrowheads="1"/>
              </p:cNvSpPr>
              <p:nvPr/>
            </p:nvSpPr>
            <p:spPr bwMode="auto">
              <a:xfrm>
                <a:off x="1524000" y="3200400"/>
                <a:ext cx="665248" cy="24365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algn="ctr"/>
                <a:r>
                  <a:rPr lang="en-US" sz="1000" b="1"/>
                  <a:t>Barbara</a:t>
                </a:r>
              </a:p>
            </p:txBody>
          </p:sp>
          <p:sp>
            <p:nvSpPr>
              <p:cNvPr id="24602" name="Rectangle 17"/>
              <p:cNvSpPr>
                <a:spLocks noChangeArrowheads="1"/>
              </p:cNvSpPr>
              <p:nvPr/>
            </p:nvSpPr>
            <p:spPr bwMode="auto">
              <a:xfrm>
                <a:off x="4114800" y="3276600"/>
                <a:ext cx="381516" cy="24365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algn="ctr"/>
                <a:r>
                  <a:rPr lang="en-US" sz="1000" b="1"/>
                  <a:t>Bill</a:t>
                </a:r>
              </a:p>
            </p:txBody>
          </p:sp>
          <p:sp>
            <p:nvSpPr>
              <p:cNvPr id="24603" name="Rectangle 17"/>
              <p:cNvSpPr>
                <a:spLocks noChangeArrowheads="1"/>
              </p:cNvSpPr>
              <p:nvPr/>
            </p:nvSpPr>
            <p:spPr bwMode="auto">
              <a:xfrm>
                <a:off x="6858000" y="3200400"/>
                <a:ext cx="594716" cy="24365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algn="ctr"/>
                <a:r>
                  <a:rPr lang="en-US" sz="1000" b="1"/>
                  <a:t>Market</a:t>
                </a:r>
              </a:p>
            </p:txBody>
          </p:sp>
          <p:cxnSp>
            <p:nvCxnSpPr>
              <p:cNvPr id="106" name="Straight Connector 105"/>
              <p:cNvCxnSpPr/>
              <p:nvPr/>
            </p:nvCxnSpPr>
            <p:spPr>
              <a:xfrm rot="5400000">
                <a:off x="3404216" y="3969935"/>
                <a:ext cx="1102081" cy="725487"/>
              </a:xfrm>
              <a:prstGeom prst="line">
                <a:avLst/>
              </a:prstGeom>
              <a:ln>
                <a:solidFill>
                  <a:srgbClr val="FFC000"/>
                </a:solidFill>
              </a:ln>
            </p:spPr>
            <p:style>
              <a:lnRef idx="1">
                <a:schemeClr val="accent5"/>
              </a:lnRef>
              <a:fillRef idx="0">
                <a:schemeClr val="accent5"/>
              </a:fillRef>
              <a:effectRef idx="0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/>
              <p:cNvCxnSpPr/>
              <p:nvPr/>
            </p:nvCxnSpPr>
            <p:spPr>
              <a:xfrm rot="5400000">
                <a:off x="6117253" y="3984232"/>
                <a:ext cx="1103669" cy="75565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</p:grpSp>
        <p:grpSp>
          <p:nvGrpSpPr>
            <p:cNvPr id="24585" name="Group 252"/>
            <p:cNvGrpSpPr>
              <a:grpSpLocks/>
            </p:cNvGrpSpPr>
            <p:nvPr/>
          </p:nvGrpSpPr>
          <p:grpSpPr bwMode="auto">
            <a:xfrm>
              <a:off x="838201" y="4038896"/>
              <a:ext cx="6065836" cy="1143370"/>
              <a:chOff x="838201" y="4038896"/>
              <a:chExt cx="6065836" cy="1143370"/>
            </a:xfrm>
          </p:grpSpPr>
          <p:grpSp>
            <p:nvGrpSpPr>
              <p:cNvPr id="24586" name="Group 243"/>
              <p:cNvGrpSpPr>
                <a:grpSpLocks/>
              </p:cNvGrpSpPr>
              <p:nvPr/>
            </p:nvGrpSpPr>
            <p:grpSpPr bwMode="auto">
              <a:xfrm>
                <a:off x="838201" y="4038896"/>
                <a:ext cx="884238" cy="1143370"/>
                <a:chOff x="838201" y="4038896"/>
                <a:chExt cx="884238" cy="1143370"/>
              </a:xfrm>
            </p:grpSpPr>
            <p:cxnSp>
              <p:nvCxnSpPr>
                <p:cNvPr id="95" name="Straight Connector 94"/>
                <p:cNvCxnSpPr/>
                <p:nvPr/>
              </p:nvCxnSpPr>
              <p:spPr>
                <a:xfrm>
                  <a:off x="838201" y="4038896"/>
                  <a:ext cx="838200" cy="1588"/>
                </a:xfrm>
                <a:prstGeom prst="line">
                  <a:avLst/>
                </a:prstGeom>
                <a:ln>
                  <a:solidFill>
                    <a:srgbClr val="002060"/>
                  </a:solidFill>
                  <a:prstDash val="sysDot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Straight Connector 95"/>
                <p:cNvCxnSpPr/>
                <p:nvPr/>
              </p:nvCxnSpPr>
              <p:spPr>
                <a:xfrm rot="5400000">
                  <a:off x="1105510" y="4609787"/>
                  <a:ext cx="1143370" cy="158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7" name="Flowchart: Connector 96"/>
                <p:cNvSpPr/>
                <p:nvPr/>
              </p:nvSpPr>
              <p:spPr>
                <a:xfrm>
                  <a:off x="1676401" y="4038896"/>
                  <a:ext cx="46038" cy="46052"/>
                </a:xfrm>
                <a:prstGeom prst="flowChartConnector">
                  <a:avLst/>
                </a:prstGeom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</p:grpSp>
          <p:grpSp>
            <p:nvGrpSpPr>
              <p:cNvPr id="24587" name="Group 244"/>
              <p:cNvGrpSpPr>
                <a:grpSpLocks/>
              </p:cNvGrpSpPr>
              <p:nvPr/>
            </p:nvGrpSpPr>
            <p:grpSpPr bwMode="auto">
              <a:xfrm>
                <a:off x="6019799" y="4038896"/>
                <a:ext cx="884238" cy="1143370"/>
                <a:chOff x="838199" y="4038896"/>
                <a:chExt cx="884238" cy="1143370"/>
              </a:xfrm>
            </p:grpSpPr>
            <p:cxnSp>
              <p:nvCxnSpPr>
                <p:cNvPr id="92" name="Straight Connector 91"/>
                <p:cNvCxnSpPr/>
                <p:nvPr/>
              </p:nvCxnSpPr>
              <p:spPr>
                <a:xfrm>
                  <a:off x="838199" y="4038896"/>
                  <a:ext cx="838200" cy="1588"/>
                </a:xfrm>
                <a:prstGeom prst="line">
                  <a:avLst/>
                </a:prstGeom>
                <a:ln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Straight Connector 92"/>
                <p:cNvCxnSpPr/>
                <p:nvPr/>
              </p:nvCxnSpPr>
              <p:spPr>
                <a:xfrm rot="5400000">
                  <a:off x="1105508" y="4609787"/>
                  <a:ext cx="1143370" cy="1588"/>
                </a:xfrm>
                <a:prstGeom prst="line">
                  <a:avLst/>
                </a:prstGeom>
                <a:ln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4" name="Flowchart: Connector 93"/>
                <p:cNvSpPr/>
                <p:nvPr/>
              </p:nvSpPr>
              <p:spPr>
                <a:xfrm>
                  <a:off x="1676399" y="4038896"/>
                  <a:ext cx="46038" cy="46052"/>
                </a:xfrm>
                <a:prstGeom prst="flowChartConnector">
                  <a:avLst/>
                </a:prstGeom>
                <a:ln>
                  <a:solidFill>
                    <a:schemeClr val="tx1"/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</p:grpSp>
          <p:grpSp>
            <p:nvGrpSpPr>
              <p:cNvPr id="24588" name="Group 248"/>
              <p:cNvGrpSpPr>
                <a:grpSpLocks/>
              </p:cNvGrpSpPr>
              <p:nvPr/>
            </p:nvGrpSpPr>
            <p:grpSpPr bwMode="auto">
              <a:xfrm>
                <a:off x="3276600" y="4038896"/>
                <a:ext cx="884238" cy="1143370"/>
                <a:chOff x="838200" y="4038896"/>
                <a:chExt cx="884238" cy="1143370"/>
              </a:xfrm>
            </p:grpSpPr>
            <p:cxnSp>
              <p:nvCxnSpPr>
                <p:cNvPr id="89" name="Straight Connector 88"/>
                <p:cNvCxnSpPr/>
                <p:nvPr/>
              </p:nvCxnSpPr>
              <p:spPr>
                <a:xfrm>
                  <a:off x="838200" y="4038896"/>
                  <a:ext cx="838200" cy="158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Straight Connector 89"/>
                <p:cNvCxnSpPr/>
                <p:nvPr/>
              </p:nvCxnSpPr>
              <p:spPr>
                <a:xfrm rot="5400000">
                  <a:off x="1105509" y="4609787"/>
                  <a:ext cx="1143370" cy="1588"/>
                </a:xfrm>
                <a:prstGeom prst="line">
                  <a:avLst/>
                </a:prstGeom>
                <a:ln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1" name="Flowchart: Connector 90"/>
                <p:cNvSpPr/>
                <p:nvPr/>
              </p:nvSpPr>
              <p:spPr>
                <a:xfrm>
                  <a:off x="1676400" y="4038896"/>
                  <a:ext cx="46038" cy="46052"/>
                </a:xfrm>
                <a:prstGeom prst="flowChartConnector">
                  <a:avLst/>
                </a:prstGeom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</p:grpSp>
        </p:grpSp>
      </p:grpSp>
      <p:sp>
        <p:nvSpPr>
          <p:cNvPr id="2" name="Right Triangle 1">
            <a:extLst>
              <a:ext uri="{FF2B5EF4-FFF2-40B4-BE49-F238E27FC236}">
                <a16:creationId xmlns:a16="http://schemas.microsoft.com/office/drawing/2014/main" id="{D0342DC7-D211-2935-F5F2-187E1A930312}"/>
              </a:ext>
            </a:extLst>
          </p:cNvPr>
          <p:cNvSpPr/>
          <p:nvPr/>
        </p:nvSpPr>
        <p:spPr bwMode="auto">
          <a:xfrm flipV="1">
            <a:off x="1176211" y="4827588"/>
            <a:ext cx="657308" cy="909415"/>
          </a:xfrm>
          <a:prstGeom prst="rtTriangl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Right Triangle 2">
            <a:extLst>
              <a:ext uri="{FF2B5EF4-FFF2-40B4-BE49-F238E27FC236}">
                <a16:creationId xmlns:a16="http://schemas.microsoft.com/office/drawing/2014/main" id="{25F759C6-3A9A-32F6-E61A-EF42E7EBF316}"/>
              </a:ext>
            </a:extLst>
          </p:cNvPr>
          <p:cNvSpPr/>
          <p:nvPr/>
        </p:nvSpPr>
        <p:spPr bwMode="auto">
          <a:xfrm rot="11057130" flipV="1">
            <a:off x="1327566" y="4937067"/>
            <a:ext cx="549564" cy="967638"/>
          </a:xfrm>
          <a:prstGeom prst="rtTriangle">
            <a:avLst/>
          </a:prstGeom>
          <a:solidFill>
            <a:srgbClr val="C0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604" name="Straight Connector 80"/>
          <p:cNvCxnSpPr>
            <a:cxnSpLocks noChangeShapeType="1"/>
          </p:cNvCxnSpPr>
          <p:nvPr/>
        </p:nvCxnSpPr>
        <p:spPr bwMode="auto">
          <a:xfrm>
            <a:off x="1074738" y="4789488"/>
            <a:ext cx="7329487" cy="28575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56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Supply, Marginal Cost  &amp; Producer Surplus</a:t>
            </a:r>
          </a:p>
        </p:txBody>
      </p:sp>
      <p:sp>
        <p:nvSpPr>
          <p:cNvPr id="25606" name="Rectangle 17"/>
          <p:cNvSpPr>
            <a:spLocks noChangeArrowheads="1"/>
          </p:cNvSpPr>
          <p:nvPr/>
        </p:nvSpPr>
        <p:spPr bwMode="auto">
          <a:xfrm>
            <a:off x="7656513" y="4506913"/>
            <a:ext cx="941387" cy="2428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sz="1000" b="1"/>
              <a:t>Market Price</a:t>
            </a:r>
          </a:p>
        </p:txBody>
      </p:sp>
      <p:sp>
        <p:nvSpPr>
          <p:cNvPr id="88" name="Rectangle 3"/>
          <p:cNvSpPr>
            <a:spLocks noChangeArrowheads="1"/>
          </p:cNvSpPr>
          <p:nvPr/>
        </p:nvSpPr>
        <p:spPr bwMode="auto">
          <a:xfrm>
            <a:off x="381000" y="1447800"/>
            <a:ext cx="85344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114300" lvl="1">
              <a:spcBef>
                <a:spcPct val="25000"/>
              </a:spcBef>
              <a:spcAft>
                <a:spcPct val="25000"/>
              </a:spcAft>
              <a:buClr>
                <a:srgbClr val="FF0000"/>
              </a:buClr>
              <a:buFont typeface="Wingdings" pitchFamily="2" charset="2"/>
              <a:buNone/>
            </a:pPr>
            <a:r>
              <a:rPr lang="en-US" sz="2400" dirty="0"/>
              <a:t>The red areas show the cost of producing the boxes sold.</a:t>
            </a:r>
          </a:p>
          <a:p>
            <a:pPr marL="114300" lvl="1">
              <a:spcBef>
                <a:spcPct val="25000"/>
              </a:spcBef>
              <a:spcAft>
                <a:spcPct val="25000"/>
              </a:spcAft>
              <a:buClr>
                <a:srgbClr val="FF0000"/>
              </a:buClr>
              <a:buFont typeface="Wingdings" pitchFamily="2" charset="2"/>
              <a:buNone/>
            </a:pPr>
            <a:endParaRPr lang="en-US" sz="2400" dirty="0"/>
          </a:p>
        </p:txBody>
      </p:sp>
      <p:sp>
        <p:nvSpPr>
          <p:cNvPr id="120" name="Rectangle 11"/>
          <p:cNvSpPr>
            <a:spLocks noChangeArrowheads="1"/>
          </p:cNvSpPr>
          <p:nvPr/>
        </p:nvSpPr>
        <p:spPr bwMode="auto">
          <a:xfrm>
            <a:off x="381000" y="2057400"/>
            <a:ext cx="83058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114300" lvl="1">
              <a:spcBef>
                <a:spcPct val="25000"/>
              </a:spcBef>
              <a:spcAft>
                <a:spcPct val="25000"/>
              </a:spcAft>
              <a:buClr>
                <a:srgbClr val="FF0000"/>
              </a:buClr>
              <a:buFont typeface="Wingdings" pitchFamily="2" charset="2"/>
              <a:buNone/>
            </a:pPr>
            <a:r>
              <a:rPr lang="en-US" sz="2400" dirty="0"/>
              <a:t>The producer surplus is the net value of the boxes sold in excess of the cost of producing it (blue).</a:t>
            </a:r>
          </a:p>
        </p:txBody>
      </p:sp>
      <p:grpSp>
        <p:nvGrpSpPr>
          <p:cNvPr id="25609" name="Group 64"/>
          <p:cNvGrpSpPr>
            <a:grpSpLocks/>
          </p:cNvGrpSpPr>
          <p:nvPr/>
        </p:nvGrpSpPr>
        <p:grpSpPr bwMode="auto">
          <a:xfrm>
            <a:off x="482600" y="3859213"/>
            <a:ext cx="7924800" cy="2389187"/>
            <a:chOff x="228601" y="3111496"/>
            <a:chExt cx="7924798" cy="2389960"/>
          </a:xfrm>
        </p:grpSpPr>
        <p:grpSp>
          <p:nvGrpSpPr>
            <p:cNvPr id="25614" name="Group 177"/>
            <p:cNvGrpSpPr>
              <a:grpSpLocks/>
            </p:cNvGrpSpPr>
            <p:nvPr/>
          </p:nvGrpSpPr>
          <p:grpSpPr bwMode="auto">
            <a:xfrm>
              <a:off x="228601" y="3111496"/>
              <a:ext cx="7924798" cy="2389960"/>
              <a:chOff x="228601" y="3111496"/>
              <a:chExt cx="7924798" cy="2389960"/>
            </a:xfrm>
          </p:grpSpPr>
          <p:grpSp>
            <p:nvGrpSpPr>
              <p:cNvPr id="25628" name="Group 76"/>
              <p:cNvGrpSpPr>
                <a:grpSpLocks/>
              </p:cNvGrpSpPr>
              <p:nvPr/>
            </p:nvGrpSpPr>
            <p:grpSpPr bwMode="auto">
              <a:xfrm>
                <a:off x="228601" y="3111496"/>
                <a:ext cx="2743199" cy="2389960"/>
                <a:chOff x="228601" y="3111496"/>
                <a:chExt cx="2743199" cy="2389960"/>
              </a:xfrm>
            </p:grpSpPr>
            <p:grpSp>
              <p:nvGrpSpPr>
                <p:cNvPr id="25668" name="Group 53"/>
                <p:cNvGrpSpPr>
                  <a:grpSpLocks/>
                </p:cNvGrpSpPr>
                <p:nvPr/>
              </p:nvGrpSpPr>
              <p:grpSpPr bwMode="auto">
                <a:xfrm>
                  <a:off x="836614" y="3111496"/>
                  <a:ext cx="2135186" cy="2072358"/>
                  <a:chOff x="836614" y="3111496"/>
                  <a:chExt cx="2135186" cy="2072358"/>
                </a:xfrm>
              </p:grpSpPr>
              <p:cxnSp>
                <p:nvCxnSpPr>
                  <p:cNvPr id="165" name="Straight Connector 4"/>
                  <p:cNvCxnSpPr/>
                  <p:nvPr/>
                </p:nvCxnSpPr>
                <p:spPr>
                  <a:xfrm rot="5400000">
                    <a:off x="-197977" y="4146087"/>
                    <a:ext cx="2070769" cy="1587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6" name="Straight Connector 165"/>
                  <p:cNvCxnSpPr/>
                  <p:nvPr/>
                </p:nvCxnSpPr>
                <p:spPr>
                  <a:xfrm>
                    <a:off x="838201" y="5182265"/>
                    <a:ext cx="2133599" cy="1588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7" name="Straight Connector 166"/>
                  <p:cNvCxnSpPr/>
                  <p:nvPr/>
                </p:nvCxnSpPr>
                <p:spPr>
                  <a:xfrm rot="5400000">
                    <a:off x="972169" y="3919128"/>
                    <a:ext cx="1089377" cy="782637"/>
                  </a:xfrm>
                  <a:prstGeom prst="line">
                    <a:avLst/>
                  </a:prstGeom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5669" name="Rectangle 18"/>
                <p:cNvSpPr>
                  <a:spLocks noChangeArrowheads="1"/>
                </p:cNvSpPr>
                <p:nvPr/>
              </p:nvSpPr>
              <p:spPr bwMode="auto">
                <a:xfrm rot="-5400000">
                  <a:off x="-229859" y="4116059"/>
                  <a:ext cx="1160575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pPr algn="ctr"/>
                  <a:r>
                    <a:rPr lang="en-US" sz="1000" b="1"/>
                    <a:t>Price of cookies</a:t>
                  </a:r>
                </a:p>
              </p:txBody>
            </p:sp>
            <p:sp>
              <p:nvSpPr>
                <p:cNvPr id="25670" name="Rectangle 17"/>
                <p:cNvSpPr>
                  <a:spLocks noChangeArrowheads="1"/>
                </p:cNvSpPr>
                <p:nvPr/>
              </p:nvSpPr>
              <p:spPr bwMode="auto">
                <a:xfrm>
                  <a:off x="2286000" y="5257800"/>
                  <a:ext cx="679674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pPr algn="ctr"/>
                  <a:r>
                    <a:rPr lang="en-US" sz="1000" b="1"/>
                    <a:t>Cookies</a:t>
                  </a:r>
                </a:p>
              </p:txBody>
            </p:sp>
            <p:sp>
              <p:nvSpPr>
                <p:cNvPr id="25671" name="Rectangle 19"/>
                <p:cNvSpPr>
                  <a:spLocks noChangeArrowheads="1"/>
                </p:cNvSpPr>
                <p:nvPr/>
              </p:nvSpPr>
              <p:spPr bwMode="auto">
                <a:xfrm>
                  <a:off x="457200" y="4876800"/>
                  <a:ext cx="203325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lIns="90488" tIns="44450" rIns="90488" bIns="44450">
                  <a:spAutoFit/>
                </a:bodyPr>
                <a:lstStyle/>
                <a:p>
                  <a:r>
                    <a:rPr lang="en-US" sz="1000"/>
                    <a:t>2</a:t>
                  </a:r>
                </a:p>
              </p:txBody>
            </p:sp>
            <p:sp>
              <p:nvSpPr>
                <p:cNvPr id="25672" name="Rectangle 20"/>
                <p:cNvSpPr>
                  <a:spLocks noChangeArrowheads="1"/>
                </p:cNvSpPr>
                <p:nvPr/>
              </p:nvSpPr>
              <p:spPr bwMode="auto">
                <a:xfrm>
                  <a:off x="457200" y="4572000"/>
                  <a:ext cx="307975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lIns="90488" tIns="44450" rIns="90488" bIns="44450">
                  <a:spAutoFit/>
                </a:bodyPr>
                <a:lstStyle/>
                <a:p>
                  <a:r>
                    <a:rPr lang="en-US" sz="1000"/>
                    <a:t>4</a:t>
                  </a:r>
                </a:p>
              </p:txBody>
            </p:sp>
            <p:sp>
              <p:nvSpPr>
                <p:cNvPr id="25673" name="Rectangle 21"/>
                <p:cNvSpPr>
                  <a:spLocks noChangeArrowheads="1"/>
                </p:cNvSpPr>
                <p:nvPr/>
              </p:nvSpPr>
              <p:spPr bwMode="auto">
                <a:xfrm>
                  <a:off x="457200" y="4267200"/>
                  <a:ext cx="190406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lIns="90488" tIns="44450" rIns="90488" bIns="44450">
                  <a:spAutoFit/>
                </a:bodyPr>
                <a:lstStyle/>
                <a:p>
                  <a:r>
                    <a:rPr lang="en-US" sz="1000"/>
                    <a:t>6</a:t>
                  </a:r>
                </a:p>
              </p:txBody>
            </p:sp>
            <p:sp>
              <p:nvSpPr>
                <p:cNvPr id="25674" name="Rectangle 22"/>
                <p:cNvSpPr>
                  <a:spLocks noChangeArrowheads="1"/>
                </p:cNvSpPr>
                <p:nvPr/>
              </p:nvSpPr>
              <p:spPr bwMode="auto">
                <a:xfrm>
                  <a:off x="457200" y="3886200"/>
                  <a:ext cx="164008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lIns="90488" tIns="44450" rIns="90488" bIns="44450">
                  <a:spAutoFit/>
                </a:bodyPr>
                <a:lstStyle/>
                <a:p>
                  <a:r>
                    <a:rPr lang="en-US" sz="1000"/>
                    <a:t>8</a:t>
                  </a:r>
                </a:p>
              </p:txBody>
            </p:sp>
            <p:sp>
              <p:nvSpPr>
                <p:cNvPr id="25675" name="Rectangle 23"/>
                <p:cNvSpPr>
                  <a:spLocks noChangeArrowheads="1"/>
                </p:cNvSpPr>
                <p:nvPr/>
              </p:nvSpPr>
              <p:spPr bwMode="auto">
                <a:xfrm>
                  <a:off x="381000" y="3581400"/>
                  <a:ext cx="381000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lIns="90488" tIns="44450" rIns="90488" bIns="44450">
                  <a:spAutoFit/>
                </a:bodyPr>
                <a:lstStyle/>
                <a:p>
                  <a:r>
                    <a:rPr lang="en-US" sz="1000"/>
                    <a:t>10</a:t>
                  </a:r>
                </a:p>
              </p:txBody>
            </p:sp>
            <p:sp>
              <p:nvSpPr>
                <p:cNvPr id="25676" name="Rectangle 24"/>
                <p:cNvSpPr>
                  <a:spLocks noChangeArrowheads="1"/>
                </p:cNvSpPr>
                <p:nvPr/>
              </p:nvSpPr>
              <p:spPr bwMode="auto">
                <a:xfrm>
                  <a:off x="990600" y="5257800"/>
                  <a:ext cx="323808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sz="1000"/>
                    <a:t>10</a:t>
                  </a:r>
                </a:p>
              </p:txBody>
            </p:sp>
            <p:sp>
              <p:nvSpPr>
                <p:cNvPr id="25677" name="Rectangle 25"/>
                <p:cNvSpPr>
                  <a:spLocks noChangeArrowheads="1"/>
                </p:cNvSpPr>
                <p:nvPr/>
              </p:nvSpPr>
              <p:spPr bwMode="auto">
                <a:xfrm>
                  <a:off x="1295400" y="5257800"/>
                  <a:ext cx="323808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sz="1000"/>
                    <a:t>20</a:t>
                  </a:r>
                </a:p>
              </p:txBody>
            </p:sp>
            <p:sp>
              <p:nvSpPr>
                <p:cNvPr id="25678" name="Rectangle 26"/>
                <p:cNvSpPr>
                  <a:spLocks noChangeArrowheads="1"/>
                </p:cNvSpPr>
                <p:nvPr/>
              </p:nvSpPr>
              <p:spPr bwMode="auto">
                <a:xfrm>
                  <a:off x="1524000" y="5257800"/>
                  <a:ext cx="323808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sz="1000"/>
                    <a:t>30</a:t>
                  </a:r>
                </a:p>
              </p:txBody>
            </p:sp>
            <p:sp>
              <p:nvSpPr>
                <p:cNvPr id="25679" name="Rectangle 27"/>
                <p:cNvSpPr>
                  <a:spLocks noChangeArrowheads="1"/>
                </p:cNvSpPr>
                <p:nvPr/>
              </p:nvSpPr>
              <p:spPr bwMode="auto">
                <a:xfrm>
                  <a:off x="1828800" y="5257800"/>
                  <a:ext cx="323808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sz="1000"/>
                    <a:t>40</a:t>
                  </a:r>
                </a:p>
              </p:txBody>
            </p:sp>
            <p:sp>
              <p:nvSpPr>
                <p:cNvPr id="25680" name="Rectangle 28"/>
                <p:cNvSpPr>
                  <a:spLocks noChangeArrowheads="1"/>
                </p:cNvSpPr>
                <p:nvPr/>
              </p:nvSpPr>
              <p:spPr bwMode="auto">
                <a:xfrm>
                  <a:off x="2057400" y="5257800"/>
                  <a:ext cx="323808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sz="1000"/>
                    <a:t>50</a:t>
                  </a:r>
                </a:p>
              </p:txBody>
            </p:sp>
            <p:sp>
              <p:nvSpPr>
                <p:cNvPr id="25681" name="Rectangle 35"/>
                <p:cNvSpPr>
                  <a:spLocks noChangeArrowheads="1"/>
                </p:cNvSpPr>
                <p:nvPr/>
              </p:nvSpPr>
              <p:spPr bwMode="auto">
                <a:xfrm>
                  <a:off x="609600" y="5257800"/>
                  <a:ext cx="253275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sz="1000"/>
                    <a:t>0</a:t>
                  </a:r>
                </a:p>
              </p:txBody>
            </p:sp>
          </p:grpSp>
          <p:grpSp>
            <p:nvGrpSpPr>
              <p:cNvPr id="25629" name="Group 77"/>
              <p:cNvGrpSpPr>
                <a:grpSpLocks/>
              </p:cNvGrpSpPr>
              <p:nvPr/>
            </p:nvGrpSpPr>
            <p:grpSpPr bwMode="auto">
              <a:xfrm>
                <a:off x="2667000" y="3124200"/>
                <a:ext cx="2743199" cy="2376462"/>
                <a:chOff x="228601" y="3124994"/>
                <a:chExt cx="2743199" cy="2376462"/>
              </a:xfrm>
            </p:grpSpPr>
            <p:grpSp>
              <p:nvGrpSpPr>
                <p:cNvPr id="25652" name="Group 53"/>
                <p:cNvGrpSpPr>
                  <a:grpSpLocks/>
                </p:cNvGrpSpPr>
                <p:nvPr/>
              </p:nvGrpSpPr>
              <p:grpSpPr bwMode="auto">
                <a:xfrm>
                  <a:off x="836614" y="3124994"/>
                  <a:ext cx="2135186" cy="2072358"/>
                  <a:chOff x="836614" y="3124994"/>
                  <a:chExt cx="2135186" cy="2072358"/>
                </a:xfrm>
              </p:grpSpPr>
              <p:cxnSp>
                <p:nvCxnSpPr>
                  <p:cNvPr id="149" name="Straight Connector 148"/>
                  <p:cNvCxnSpPr/>
                  <p:nvPr/>
                </p:nvCxnSpPr>
                <p:spPr>
                  <a:xfrm rot="5400000">
                    <a:off x="-197977" y="4159585"/>
                    <a:ext cx="2070770" cy="1587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0" name="Straight Connector 149"/>
                  <p:cNvCxnSpPr/>
                  <p:nvPr/>
                </p:nvCxnSpPr>
                <p:spPr>
                  <a:xfrm>
                    <a:off x="838201" y="5195764"/>
                    <a:ext cx="2133599" cy="1588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5653" name="Rectangle 18"/>
                <p:cNvSpPr>
                  <a:spLocks noChangeArrowheads="1"/>
                </p:cNvSpPr>
                <p:nvPr/>
              </p:nvSpPr>
              <p:spPr bwMode="auto">
                <a:xfrm rot="-5400000">
                  <a:off x="-229859" y="4116059"/>
                  <a:ext cx="1160575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pPr algn="ctr"/>
                  <a:r>
                    <a:rPr lang="en-US" sz="1000" b="1"/>
                    <a:t>Price of cookies</a:t>
                  </a:r>
                </a:p>
              </p:txBody>
            </p:sp>
            <p:sp>
              <p:nvSpPr>
                <p:cNvPr id="25654" name="Rectangle 17"/>
                <p:cNvSpPr>
                  <a:spLocks noChangeArrowheads="1"/>
                </p:cNvSpPr>
                <p:nvPr/>
              </p:nvSpPr>
              <p:spPr bwMode="auto">
                <a:xfrm>
                  <a:off x="2286000" y="5257800"/>
                  <a:ext cx="679674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pPr algn="ctr"/>
                  <a:r>
                    <a:rPr lang="en-US" sz="1000" b="1"/>
                    <a:t>Cookies</a:t>
                  </a:r>
                </a:p>
              </p:txBody>
            </p:sp>
            <p:sp>
              <p:nvSpPr>
                <p:cNvPr id="25655" name="Rectangle 19"/>
                <p:cNvSpPr>
                  <a:spLocks noChangeArrowheads="1"/>
                </p:cNvSpPr>
                <p:nvPr/>
              </p:nvSpPr>
              <p:spPr bwMode="auto">
                <a:xfrm>
                  <a:off x="457200" y="4876800"/>
                  <a:ext cx="203325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lIns="90488" tIns="44450" rIns="90488" bIns="44450">
                  <a:spAutoFit/>
                </a:bodyPr>
                <a:lstStyle/>
                <a:p>
                  <a:r>
                    <a:rPr lang="en-US" sz="1000"/>
                    <a:t>2</a:t>
                  </a:r>
                </a:p>
              </p:txBody>
            </p:sp>
            <p:sp>
              <p:nvSpPr>
                <p:cNvPr id="25656" name="Rectangle 20"/>
                <p:cNvSpPr>
                  <a:spLocks noChangeArrowheads="1"/>
                </p:cNvSpPr>
                <p:nvPr/>
              </p:nvSpPr>
              <p:spPr bwMode="auto">
                <a:xfrm>
                  <a:off x="457200" y="4572000"/>
                  <a:ext cx="307975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lIns="90488" tIns="44450" rIns="90488" bIns="44450">
                  <a:spAutoFit/>
                </a:bodyPr>
                <a:lstStyle/>
                <a:p>
                  <a:r>
                    <a:rPr lang="en-US" sz="1000"/>
                    <a:t>4</a:t>
                  </a:r>
                </a:p>
              </p:txBody>
            </p:sp>
            <p:sp>
              <p:nvSpPr>
                <p:cNvPr id="25657" name="Rectangle 21"/>
                <p:cNvSpPr>
                  <a:spLocks noChangeArrowheads="1"/>
                </p:cNvSpPr>
                <p:nvPr/>
              </p:nvSpPr>
              <p:spPr bwMode="auto">
                <a:xfrm>
                  <a:off x="457200" y="4267200"/>
                  <a:ext cx="190406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lIns="90488" tIns="44450" rIns="90488" bIns="44450">
                  <a:spAutoFit/>
                </a:bodyPr>
                <a:lstStyle/>
                <a:p>
                  <a:r>
                    <a:rPr lang="en-US" sz="1000"/>
                    <a:t>6</a:t>
                  </a:r>
                </a:p>
              </p:txBody>
            </p:sp>
            <p:sp>
              <p:nvSpPr>
                <p:cNvPr id="25658" name="Rectangle 22"/>
                <p:cNvSpPr>
                  <a:spLocks noChangeArrowheads="1"/>
                </p:cNvSpPr>
                <p:nvPr/>
              </p:nvSpPr>
              <p:spPr bwMode="auto">
                <a:xfrm>
                  <a:off x="457200" y="3886200"/>
                  <a:ext cx="164008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lIns="90488" tIns="44450" rIns="90488" bIns="44450">
                  <a:spAutoFit/>
                </a:bodyPr>
                <a:lstStyle/>
                <a:p>
                  <a:r>
                    <a:rPr lang="en-US" sz="1000"/>
                    <a:t>8</a:t>
                  </a:r>
                </a:p>
              </p:txBody>
            </p:sp>
            <p:sp>
              <p:nvSpPr>
                <p:cNvPr id="25659" name="Rectangle 23"/>
                <p:cNvSpPr>
                  <a:spLocks noChangeArrowheads="1"/>
                </p:cNvSpPr>
                <p:nvPr/>
              </p:nvSpPr>
              <p:spPr bwMode="auto">
                <a:xfrm>
                  <a:off x="381000" y="3581400"/>
                  <a:ext cx="381000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lIns="90488" tIns="44450" rIns="90488" bIns="44450">
                  <a:spAutoFit/>
                </a:bodyPr>
                <a:lstStyle/>
                <a:p>
                  <a:r>
                    <a:rPr lang="en-US" sz="1000"/>
                    <a:t>10</a:t>
                  </a:r>
                </a:p>
              </p:txBody>
            </p:sp>
            <p:sp>
              <p:nvSpPr>
                <p:cNvPr id="25660" name="Rectangle 24"/>
                <p:cNvSpPr>
                  <a:spLocks noChangeArrowheads="1"/>
                </p:cNvSpPr>
                <p:nvPr/>
              </p:nvSpPr>
              <p:spPr bwMode="auto">
                <a:xfrm>
                  <a:off x="990600" y="5257800"/>
                  <a:ext cx="253275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sz="1000"/>
                    <a:t>5</a:t>
                  </a:r>
                </a:p>
              </p:txBody>
            </p:sp>
            <p:sp>
              <p:nvSpPr>
                <p:cNvPr id="25661" name="Rectangle 25"/>
                <p:cNvSpPr>
                  <a:spLocks noChangeArrowheads="1"/>
                </p:cNvSpPr>
                <p:nvPr/>
              </p:nvSpPr>
              <p:spPr bwMode="auto">
                <a:xfrm>
                  <a:off x="1295400" y="5257800"/>
                  <a:ext cx="323808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sz="1000"/>
                    <a:t>10</a:t>
                  </a:r>
                </a:p>
              </p:txBody>
            </p:sp>
            <p:sp>
              <p:nvSpPr>
                <p:cNvPr id="25662" name="Rectangle 26"/>
                <p:cNvSpPr>
                  <a:spLocks noChangeArrowheads="1"/>
                </p:cNvSpPr>
                <p:nvPr/>
              </p:nvSpPr>
              <p:spPr bwMode="auto">
                <a:xfrm>
                  <a:off x="1524000" y="5257800"/>
                  <a:ext cx="323808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sz="1000"/>
                    <a:t>15</a:t>
                  </a:r>
                </a:p>
              </p:txBody>
            </p:sp>
            <p:sp>
              <p:nvSpPr>
                <p:cNvPr id="25663" name="Rectangle 27"/>
                <p:cNvSpPr>
                  <a:spLocks noChangeArrowheads="1"/>
                </p:cNvSpPr>
                <p:nvPr/>
              </p:nvSpPr>
              <p:spPr bwMode="auto">
                <a:xfrm>
                  <a:off x="1828800" y="5257800"/>
                  <a:ext cx="323808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sz="1000"/>
                    <a:t>20</a:t>
                  </a:r>
                </a:p>
              </p:txBody>
            </p:sp>
            <p:sp>
              <p:nvSpPr>
                <p:cNvPr id="25664" name="Rectangle 28"/>
                <p:cNvSpPr>
                  <a:spLocks noChangeArrowheads="1"/>
                </p:cNvSpPr>
                <p:nvPr/>
              </p:nvSpPr>
              <p:spPr bwMode="auto">
                <a:xfrm>
                  <a:off x="2057400" y="5257800"/>
                  <a:ext cx="323808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sz="1000"/>
                    <a:t>25</a:t>
                  </a:r>
                </a:p>
              </p:txBody>
            </p:sp>
            <p:sp>
              <p:nvSpPr>
                <p:cNvPr id="25665" name="Rectangle 35"/>
                <p:cNvSpPr>
                  <a:spLocks noChangeArrowheads="1"/>
                </p:cNvSpPr>
                <p:nvPr/>
              </p:nvSpPr>
              <p:spPr bwMode="auto">
                <a:xfrm>
                  <a:off x="609600" y="5257800"/>
                  <a:ext cx="253275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sz="1000"/>
                    <a:t>0</a:t>
                  </a:r>
                </a:p>
              </p:txBody>
            </p:sp>
          </p:grpSp>
          <p:grpSp>
            <p:nvGrpSpPr>
              <p:cNvPr id="25630" name="Group 95"/>
              <p:cNvGrpSpPr>
                <a:grpSpLocks/>
              </p:cNvGrpSpPr>
              <p:nvPr/>
            </p:nvGrpSpPr>
            <p:grpSpPr bwMode="auto">
              <a:xfrm>
                <a:off x="5410200" y="3124200"/>
                <a:ext cx="2743199" cy="2376462"/>
                <a:chOff x="228601" y="3124994"/>
                <a:chExt cx="2743199" cy="2376462"/>
              </a:xfrm>
            </p:grpSpPr>
            <p:grpSp>
              <p:nvGrpSpPr>
                <p:cNvPr id="25636" name="Group 53"/>
                <p:cNvGrpSpPr>
                  <a:grpSpLocks/>
                </p:cNvGrpSpPr>
                <p:nvPr/>
              </p:nvGrpSpPr>
              <p:grpSpPr bwMode="auto">
                <a:xfrm>
                  <a:off x="836614" y="3124994"/>
                  <a:ext cx="2135186" cy="2072358"/>
                  <a:chOff x="836614" y="3124994"/>
                  <a:chExt cx="2135186" cy="2072358"/>
                </a:xfrm>
              </p:grpSpPr>
              <p:cxnSp>
                <p:nvCxnSpPr>
                  <p:cNvPr id="130" name="Straight Connector 129"/>
                  <p:cNvCxnSpPr/>
                  <p:nvPr/>
                </p:nvCxnSpPr>
                <p:spPr>
                  <a:xfrm rot="5400000">
                    <a:off x="-197977" y="4159585"/>
                    <a:ext cx="2070770" cy="1587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1" name="Straight Connector 130"/>
                  <p:cNvCxnSpPr/>
                  <p:nvPr/>
                </p:nvCxnSpPr>
                <p:spPr>
                  <a:xfrm>
                    <a:off x="838201" y="5195764"/>
                    <a:ext cx="2133599" cy="1588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5637" name="Rectangle 18"/>
                <p:cNvSpPr>
                  <a:spLocks noChangeArrowheads="1"/>
                </p:cNvSpPr>
                <p:nvPr/>
              </p:nvSpPr>
              <p:spPr bwMode="auto">
                <a:xfrm rot="-5400000">
                  <a:off x="-229859" y="4116059"/>
                  <a:ext cx="1160575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pPr algn="ctr"/>
                  <a:r>
                    <a:rPr lang="en-US" sz="1000" b="1"/>
                    <a:t>Price of cookies</a:t>
                  </a:r>
                </a:p>
              </p:txBody>
            </p:sp>
            <p:sp>
              <p:nvSpPr>
                <p:cNvPr id="25638" name="Rectangle 89"/>
                <p:cNvSpPr>
                  <a:spLocks noChangeArrowheads="1"/>
                </p:cNvSpPr>
                <p:nvPr/>
              </p:nvSpPr>
              <p:spPr bwMode="auto">
                <a:xfrm>
                  <a:off x="2286000" y="5257800"/>
                  <a:ext cx="679674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pPr algn="ctr"/>
                  <a:r>
                    <a:rPr lang="en-US" sz="1000" b="1"/>
                    <a:t>Cookies</a:t>
                  </a:r>
                </a:p>
              </p:txBody>
            </p:sp>
            <p:sp>
              <p:nvSpPr>
                <p:cNvPr id="25639" name="Rectangle 19"/>
                <p:cNvSpPr>
                  <a:spLocks noChangeArrowheads="1"/>
                </p:cNvSpPr>
                <p:nvPr/>
              </p:nvSpPr>
              <p:spPr bwMode="auto">
                <a:xfrm>
                  <a:off x="457200" y="4876800"/>
                  <a:ext cx="203325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lIns="90488" tIns="44450" rIns="90488" bIns="44450">
                  <a:spAutoFit/>
                </a:bodyPr>
                <a:lstStyle/>
                <a:p>
                  <a:r>
                    <a:rPr lang="en-US" sz="1000"/>
                    <a:t>2</a:t>
                  </a:r>
                </a:p>
              </p:txBody>
            </p:sp>
            <p:sp>
              <p:nvSpPr>
                <p:cNvPr id="25640" name="Rectangle 20"/>
                <p:cNvSpPr>
                  <a:spLocks noChangeArrowheads="1"/>
                </p:cNvSpPr>
                <p:nvPr/>
              </p:nvSpPr>
              <p:spPr bwMode="auto">
                <a:xfrm>
                  <a:off x="457200" y="4572000"/>
                  <a:ext cx="307975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lIns="90488" tIns="44450" rIns="90488" bIns="44450">
                  <a:spAutoFit/>
                </a:bodyPr>
                <a:lstStyle/>
                <a:p>
                  <a:r>
                    <a:rPr lang="en-US" sz="1000"/>
                    <a:t>4</a:t>
                  </a:r>
                </a:p>
              </p:txBody>
            </p:sp>
            <p:sp>
              <p:nvSpPr>
                <p:cNvPr id="25641" name="Rectangle 21"/>
                <p:cNvSpPr>
                  <a:spLocks noChangeArrowheads="1"/>
                </p:cNvSpPr>
                <p:nvPr/>
              </p:nvSpPr>
              <p:spPr bwMode="auto">
                <a:xfrm>
                  <a:off x="457200" y="4267200"/>
                  <a:ext cx="190406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lIns="90488" tIns="44450" rIns="90488" bIns="44450">
                  <a:spAutoFit/>
                </a:bodyPr>
                <a:lstStyle/>
                <a:p>
                  <a:r>
                    <a:rPr lang="en-US" sz="1000"/>
                    <a:t>6</a:t>
                  </a:r>
                </a:p>
              </p:txBody>
            </p:sp>
            <p:sp>
              <p:nvSpPr>
                <p:cNvPr id="25642" name="Rectangle 22"/>
                <p:cNvSpPr>
                  <a:spLocks noChangeArrowheads="1"/>
                </p:cNvSpPr>
                <p:nvPr/>
              </p:nvSpPr>
              <p:spPr bwMode="auto">
                <a:xfrm>
                  <a:off x="457200" y="3886200"/>
                  <a:ext cx="164008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lIns="90488" tIns="44450" rIns="90488" bIns="44450">
                  <a:spAutoFit/>
                </a:bodyPr>
                <a:lstStyle/>
                <a:p>
                  <a:r>
                    <a:rPr lang="en-US" sz="1000"/>
                    <a:t>8</a:t>
                  </a:r>
                </a:p>
              </p:txBody>
            </p:sp>
            <p:sp>
              <p:nvSpPr>
                <p:cNvPr id="25643" name="Rectangle 23"/>
                <p:cNvSpPr>
                  <a:spLocks noChangeArrowheads="1"/>
                </p:cNvSpPr>
                <p:nvPr/>
              </p:nvSpPr>
              <p:spPr bwMode="auto">
                <a:xfrm>
                  <a:off x="381000" y="3581400"/>
                  <a:ext cx="381000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lIns="90488" tIns="44450" rIns="90488" bIns="44450">
                  <a:spAutoFit/>
                </a:bodyPr>
                <a:lstStyle/>
                <a:p>
                  <a:r>
                    <a:rPr lang="en-US" sz="1000"/>
                    <a:t>10</a:t>
                  </a:r>
                </a:p>
              </p:txBody>
            </p:sp>
            <p:sp>
              <p:nvSpPr>
                <p:cNvPr id="25644" name="Rectangle 24"/>
                <p:cNvSpPr>
                  <a:spLocks noChangeArrowheads="1"/>
                </p:cNvSpPr>
                <p:nvPr/>
              </p:nvSpPr>
              <p:spPr bwMode="auto">
                <a:xfrm>
                  <a:off x="990600" y="5257800"/>
                  <a:ext cx="323808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sz="1000"/>
                    <a:t>15</a:t>
                  </a:r>
                </a:p>
              </p:txBody>
            </p:sp>
            <p:sp>
              <p:nvSpPr>
                <p:cNvPr id="25645" name="Rectangle 25"/>
                <p:cNvSpPr>
                  <a:spLocks noChangeArrowheads="1"/>
                </p:cNvSpPr>
                <p:nvPr/>
              </p:nvSpPr>
              <p:spPr bwMode="auto">
                <a:xfrm>
                  <a:off x="1295400" y="5257800"/>
                  <a:ext cx="323808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sz="1000"/>
                    <a:t>30</a:t>
                  </a:r>
                </a:p>
              </p:txBody>
            </p:sp>
            <p:sp>
              <p:nvSpPr>
                <p:cNvPr id="25646" name="Rectangle 26"/>
                <p:cNvSpPr>
                  <a:spLocks noChangeArrowheads="1"/>
                </p:cNvSpPr>
                <p:nvPr/>
              </p:nvSpPr>
              <p:spPr bwMode="auto">
                <a:xfrm>
                  <a:off x="1524000" y="5257800"/>
                  <a:ext cx="323808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sz="1000"/>
                    <a:t>45</a:t>
                  </a:r>
                </a:p>
              </p:txBody>
            </p:sp>
            <p:sp>
              <p:nvSpPr>
                <p:cNvPr id="25647" name="Rectangle 27"/>
                <p:cNvSpPr>
                  <a:spLocks noChangeArrowheads="1"/>
                </p:cNvSpPr>
                <p:nvPr/>
              </p:nvSpPr>
              <p:spPr bwMode="auto">
                <a:xfrm>
                  <a:off x="1828800" y="5257800"/>
                  <a:ext cx="323808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sz="1000"/>
                    <a:t>60</a:t>
                  </a:r>
                </a:p>
              </p:txBody>
            </p:sp>
            <p:sp>
              <p:nvSpPr>
                <p:cNvPr id="25648" name="Rectangle 28"/>
                <p:cNvSpPr>
                  <a:spLocks noChangeArrowheads="1"/>
                </p:cNvSpPr>
                <p:nvPr/>
              </p:nvSpPr>
              <p:spPr bwMode="auto">
                <a:xfrm>
                  <a:off x="2057400" y="5257800"/>
                  <a:ext cx="323808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sz="1000"/>
                    <a:t>75</a:t>
                  </a:r>
                </a:p>
              </p:txBody>
            </p:sp>
            <p:sp>
              <p:nvSpPr>
                <p:cNvPr id="25649" name="Rectangle 35"/>
                <p:cNvSpPr>
                  <a:spLocks noChangeArrowheads="1"/>
                </p:cNvSpPr>
                <p:nvPr/>
              </p:nvSpPr>
              <p:spPr bwMode="auto">
                <a:xfrm>
                  <a:off x="609600" y="5257800"/>
                  <a:ext cx="253275" cy="24365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sz="1000"/>
                    <a:t>0</a:t>
                  </a:r>
                </a:p>
              </p:txBody>
            </p:sp>
          </p:grpSp>
          <p:sp>
            <p:nvSpPr>
              <p:cNvPr id="25631" name="Rectangle 17"/>
              <p:cNvSpPr>
                <a:spLocks noChangeArrowheads="1"/>
              </p:cNvSpPr>
              <p:nvPr/>
            </p:nvSpPr>
            <p:spPr bwMode="auto">
              <a:xfrm>
                <a:off x="1524000" y="3200400"/>
                <a:ext cx="665248" cy="24365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algn="ctr"/>
                <a:r>
                  <a:rPr lang="en-US" sz="1000" b="1"/>
                  <a:t>Barbara</a:t>
                </a:r>
              </a:p>
            </p:txBody>
          </p:sp>
          <p:sp>
            <p:nvSpPr>
              <p:cNvPr id="25632" name="Rectangle 17"/>
              <p:cNvSpPr>
                <a:spLocks noChangeArrowheads="1"/>
              </p:cNvSpPr>
              <p:nvPr/>
            </p:nvSpPr>
            <p:spPr bwMode="auto">
              <a:xfrm>
                <a:off x="4114800" y="3276600"/>
                <a:ext cx="381516" cy="24365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algn="ctr"/>
                <a:r>
                  <a:rPr lang="en-US" sz="1000" b="1"/>
                  <a:t>Bill</a:t>
                </a:r>
              </a:p>
            </p:txBody>
          </p:sp>
          <p:sp>
            <p:nvSpPr>
              <p:cNvPr id="25633" name="Rectangle 17"/>
              <p:cNvSpPr>
                <a:spLocks noChangeArrowheads="1"/>
              </p:cNvSpPr>
              <p:nvPr/>
            </p:nvSpPr>
            <p:spPr bwMode="auto">
              <a:xfrm>
                <a:off x="6858000" y="3200400"/>
                <a:ext cx="594716" cy="24365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algn="ctr"/>
                <a:r>
                  <a:rPr lang="en-US" sz="1000" b="1"/>
                  <a:t>Market</a:t>
                </a:r>
              </a:p>
            </p:txBody>
          </p:sp>
          <p:cxnSp>
            <p:nvCxnSpPr>
              <p:cNvPr id="111" name="Straight Connector 110"/>
              <p:cNvCxnSpPr/>
              <p:nvPr/>
            </p:nvCxnSpPr>
            <p:spPr>
              <a:xfrm rot="5400000">
                <a:off x="3359763" y="3941363"/>
                <a:ext cx="1117962" cy="798512"/>
              </a:xfrm>
              <a:prstGeom prst="line">
                <a:avLst/>
              </a:prstGeom>
              <a:ln>
                <a:solidFill>
                  <a:srgbClr val="FFC000"/>
                </a:solidFill>
              </a:ln>
            </p:spPr>
            <p:style>
              <a:lnRef idx="1">
                <a:schemeClr val="accent5"/>
              </a:lnRef>
              <a:fillRef idx="0">
                <a:schemeClr val="accent5"/>
              </a:fillRef>
              <a:effectRef idx="0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/>
              <p:cNvCxnSpPr/>
              <p:nvPr/>
            </p:nvCxnSpPr>
            <p:spPr>
              <a:xfrm rot="5400000">
                <a:off x="6052950" y="3977097"/>
                <a:ext cx="1160837" cy="827088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</p:grpSp>
        <p:grpSp>
          <p:nvGrpSpPr>
            <p:cNvPr id="25615" name="Group 252"/>
            <p:cNvGrpSpPr>
              <a:grpSpLocks/>
            </p:cNvGrpSpPr>
            <p:nvPr/>
          </p:nvGrpSpPr>
          <p:grpSpPr bwMode="auto">
            <a:xfrm>
              <a:off x="838201" y="4038896"/>
              <a:ext cx="6065836" cy="1143370"/>
              <a:chOff x="838201" y="4038896"/>
              <a:chExt cx="6065836" cy="1143370"/>
            </a:xfrm>
          </p:grpSpPr>
          <p:grpSp>
            <p:nvGrpSpPr>
              <p:cNvPr id="25616" name="Group 243"/>
              <p:cNvGrpSpPr>
                <a:grpSpLocks/>
              </p:cNvGrpSpPr>
              <p:nvPr/>
            </p:nvGrpSpPr>
            <p:grpSpPr bwMode="auto">
              <a:xfrm>
                <a:off x="838201" y="4038896"/>
                <a:ext cx="884238" cy="1143370"/>
                <a:chOff x="838201" y="4038896"/>
                <a:chExt cx="884238" cy="1143370"/>
              </a:xfrm>
            </p:grpSpPr>
            <p:cxnSp>
              <p:nvCxnSpPr>
                <p:cNvPr id="100" name="Straight Connector 99"/>
                <p:cNvCxnSpPr/>
                <p:nvPr/>
              </p:nvCxnSpPr>
              <p:spPr>
                <a:xfrm>
                  <a:off x="838201" y="4038896"/>
                  <a:ext cx="838200" cy="1588"/>
                </a:xfrm>
                <a:prstGeom prst="line">
                  <a:avLst/>
                </a:prstGeom>
                <a:ln>
                  <a:solidFill>
                    <a:srgbClr val="002060"/>
                  </a:solidFill>
                  <a:prstDash val="sysDot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1" name="Straight Connector 100"/>
                <p:cNvCxnSpPr/>
                <p:nvPr/>
              </p:nvCxnSpPr>
              <p:spPr>
                <a:xfrm rot="5400000">
                  <a:off x="1105510" y="4609787"/>
                  <a:ext cx="1143370" cy="158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4" name="Flowchart: Connector 103"/>
                <p:cNvSpPr/>
                <p:nvPr/>
              </p:nvSpPr>
              <p:spPr>
                <a:xfrm>
                  <a:off x="1676401" y="4038896"/>
                  <a:ext cx="46038" cy="46052"/>
                </a:xfrm>
                <a:prstGeom prst="flowChartConnector">
                  <a:avLst/>
                </a:prstGeom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</p:grpSp>
          <p:grpSp>
            <p:nvGrpSpPr>
              <p:cNvPr id="25617" name="Group 244"/>
              <p:cNvGrpSpPr>
                <a:grpSpLocks/>
              </p:cNvGrpSpPr>
              <p:nvPr/>
            </p:nvGrpSpPr>
            <p:grpSpPr bwMode="auto">
              <a:xfrm>
                <a:off x="6019799" y="4038896"/>
                <a:ext cx="884238" cy="1143370"/>
                <a:chOff x="838199" y="4038896"/>
                <a:chExt cx="884238" cy="1143370"/>
              </a:xfrm>
            </p:grpSpPr>
            <p:cxnSp>
              <p:nvCxnSpPr>
                <p:cNvPr id="97" name="Straight Connector 96"/>
                <p:cNvCxnSpPr/>
                <p:nvPr/>
              </p:nvCxnSpPr>
              <p:spPr>
                <a:xfrm>
                  <a:off x="838199" y="4038896"/>
                  <a:ext cx="838200" cy="1588"/>
                </a:xfrm>
                <a:prstGeom prst="line">
                  <a:avLst/>
                </a:prstGeom>
                <a:ln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Straight Connector 97"/>
                <p:cNvCxnSpPr/>
                <p:nvPr/>
              </p:nvCxnSpPr>
              <p:spPr>
                <a:xfrm rot="5400000">
                  <a:off x="1105508" y="4609787"/>
                  <a:ext cx="1143370" cy="1588"/>
                </a:xfrm>
                <a:prstGeom prst="line">
                  <a:avLst/>
                </a:prstGeom>
                <a:ln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9" name="Flowchart: Connector 98"/>
                <p:cNvSpPr/>
                <p:nvPr/>
              </p:nvSpPr>
              <p:spPr>
                <a:xfrm>
                  <a:off x="1676399" y="4038896"/>
                  <a:ext cx="46038" cy="46052"/>
                </a:xfrm>
                <a:prstGeom prst="flowChartConnector">
                  <a:avLst/>
                </a:prstGeom>
                <a:ln>
                  <a:solidFill>
                    <a:schemeClr val="tx1"/>
                  </a:solidFill>
                  <a:prstDash val="sysDot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</p:grpSp>
          <p:grpSp>
            <p:nvGrpSpPr>
              <p:cNvPr id="25618" name="Group 248"/>
              <p:cNvGrpSpPr>
                <a:grpSpLocks/>
              </p:cNvGrpSpPr>
              <p:nvPr/>
            </p:nvGrpSpPr>
            <p:grpSpPr bwMode="auto">
              <a:xfrm>
                <a:off x="3276600" y="4038896"/>
                <a:ext cx="884238" cy="1143370"/>
                <a:chOff x="838200" y="4038896"/>
                <a:chExt cx="884238" cy="1143370"/>
              </a:xfrm>
            </p:grpSpPr>
            <p:cxnSp>
              <p:nvCxnSpPr>
                <p:cNvPr id="94" name="Straight Connector 93"/>
                <p:cNvCxnSpPr/>
                <p:nvPr/>
              </p:nvCxnSpPr>
              <p:spPr>
                <a:xfrm>
                  <a:off x="838200" y="4038896"/>
                  <a:ext cx="838200" cy="158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5" name="Straight Connector 94"/>
                <p:cNvCxnSpPr/>
                <p:nvPr/>
              </p:nvCxnSpPr>
              <p:spPr>
                <a:xfrm rot="5400000">
                  <a:off x="1105509" y="4609787"/>
                  <a:ext cx="1143370" cy="1588"/>
                </a:xfrm>
                <a:prstGeom prst="line">
                  <a:avLst/>
                </a:prstGeom>
                <a:ln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6" name="Flowchart: Connector 95"/>
                <p:cNvSpPr/>
                <p:nvPr/>
              </p:nvSpPr>
              <p:spPr>
                <a:xfrm>
                  <a:off x="1676400" y="4038896"/>
                  <a:ext cx="46038" cy="46052"/>
                </a:xfrm>
                <a:prstGeom prst="flowChartConnector">
                  <a:avLst/>
                </a:prstGeom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</p:grpSp>
        </p:grpSp>
      </p:grpSp>
      <p:sp>
        <p:nvSpPr>
          <p:cNvPr id="2" name="Right Triangle 1">
            <a:extLst>
              <a:ext uri="{FF2B5EF4-FFF2-40B4-BE49-F238E27FC236}">
                <a16:creationId xmlns:a16="http://schemas.microsoft.com/office/drawing/2014/main" id="{13E418CC-DE69-4DD4-F823-1230568AD7BC}"/>
              </a:ext>
            </a:extLst>
          </p:cNvPr>
          <p:cNvSpPr/>
          <p:nvPr/>
        </p:nvSpPr>
        <p:spPr bwMode="auto">
          <a:xfrm flipV="1">
            <a:off x="1176180" y="4881022"/>
            <a:ext cx="657308" cy="909415"/>
          </a:xfrm>
          <a:prstGeom prst="rtTriangle">
            <a:avLst/>
          </a:prstGeom>
          <a:solidFill>
            <a:schemeClr val="accent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Right Triangle 2">
            <a:extLst>
              <a:ext uri="{FF2B5EF4-FFF2-40B4-BE49-F238E27FC236}">
                <a16:creationId xmlns:a16="http://schemas.microsoft.com/office/drawing/2014/main" id="{B9608BF9-3DCB-B42D-BD44-A41C8547A950}"/>
              </a:ext>
            </a:extLst>
          </p:cNvPr>
          <p:cNvSpPr/>
          <p:nvPr/>
        </p:nvSpPr>
        <p:spPr bwMode="auto">
          <a:xfrm rot="11057130" flipV="1">
            <a:off x="1327566" y="4937067"/>
            <a:ext cx="549564" cy="967638"/>
          </a:xfrm>
          <a:prstGeom prst="rtTriangle">
            <a:avLst/>
          </a:prstGeom>
          <a:solidFill>
            <a:srgbClr val="C0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/>
      <p:bldP spid="120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SESECONDARYMONITOR" val="True"/>
  <p:tag name="ANSWERNOWSTYLE" val="-1"/>
  <p:tag name="RESPCOUNTERFORMAT" val="0"/>
  <p:tag name="NUMRESPONSES" val="1"/>
  <p:tag name="CHARTVALUEFORMAT" val="0%"/>
  <p:tag name="AUTOUPDATEALIASES" val="True"/>
  <p:tag name="RACEANIMATIONSPEED" val="3"/>
  <p:tag name="MAXRESPONDERS" val="5"/>
  <p:tag name="BUBBLEGROUPING" val="3"/>
  <p:tag name="CUSTOMCELLBACKCOLOR1" val="-657956"/>
  <p:tag name="USESCHEMECOLORS" val="True"/>
  <p:tag name="GRIDOPACITY" val="90"/>
  <p:tag name="GRIDPOSITION" val="1"/>
  <p:tag name="CHARTLABELS" val="1"/>
  <p:tag name="INCLUDEPPT" val="True"/>
  <p:tag name="REALTIMEBACKUP" val="False"/>
  <p:tag name="CHARTSCALE" val="True"/>
  <p:tag name="FIBINCLUDEOTHER" val="True"/>
  <p:tag name="PRRESPONSE3" val="8"/>
  <p:tag name="PRRESPONSE7" val="4"/>
  <p:tag name="SHOWFLASHWARNING" val="True"/>
  <p:tag name="SAVECSVWITHSESSION" val="False"/>
  <p:tag name="COUNTDOWNSTYLE" val="-1"/>
  <p:tag name="INPUTSOURCE" val="1"/>
  <p:tag name="AUTOADVANCE" val="False"/>
  <p:tag name="RACEENDPOINTS" val="100"/>
  <p:tag name="TEAMSINLEADERBOARD" val="5"/>
  <p:tag name="DEFAULTNUMTEAMS" val="5"/>
  <p:tag name="CUSTOMCELLBACKCOLOR3" val="-268652"/>
  <p:tag name="DISPLAYDEVICEID" val="True"/>
  <p:tag name="GRIDFONTSIZE" val="12"/>
  <p:tag name="INCLUDENONRESPONDERS" val="False"/>
  <p:tag name="INCORRECTPOINTVALUE" val="0"/>
  <p:tag name="ADVANCEDSETTINGSVIEW" val="False"/>
  <p:tag name="PRRESPONSE1" val="10"/>
  <p:tag name="PRRESPONSE6" val="5"/>
  <p:tag name="ALWAYSOPENPOLL" val="False"/>
  <p:tag name="SHOWBARVISIBLE" val="True"/>
  <p:tag name="ANSWERNOWTEXT" val="Answer Now"/>
  <p:tag name="ALLOWDUPLICATES" val="False"/>
  <p:tag name="ROTATIONINTERVAL" val="2"/>
  <p:tag name="PARTICIPANTSINLEADERBOARD" val="5"/>
  <p:tag name="CUSTOMGRIDBACKCOLOR" val="-722948"/>
  <p:tag name="DISPLAYNAME" val="True"/>
  <p:tag name="GRIDSIZE" val="{Width=800, Height=600}"/>
  <p:tag name="MULTIRESPDIVISOR" val="1"/>
  <p:tag name="ZEROBASED" val="False"/>
  <p:tag name="FIBDISPLAYKEYWORDS" val="True"/>
  <p:tag name="PRRESPONSE8" val="3"/>
  <p:tag name="BULLETTYPE" val="3"/>
  <p:tag name="BACKUPSESSIONS" val="True"/>
  <p:tag name="RACERSMAXDISPLAYED" val="5"/>
  <p:tag name="BUBBLEVALUEFORMAT" val="0.0"/>
  <p:tag name="DISPLAYDEVICENUMBER" val="True"/>
  <p:tag name="CHARTCOLORS" val="0"/>
  <p:tag name="REALTIMEBACKUPPATH" val="(None)"/>
  <p:tag name="PRRESPONSE2" val="9"/>
  <p:tag name="PRRESPONSE10" val="1"/>
  <p:tag name="CSVFORMAT" val="0"/>
  <p:tag name="BACKUPMAINTENANCE" val="7"/>
  <p:tag name="BUBBLENAMEVISIBLE" val="True"/>
  <p:tag name="CUSTOMCELLBACKCOLOR4" val="-8355712"/>
  <p:tag name="RESETCHARTS" val="True"/>
  <p:tag name="FIBDISPLAYRESULTS" val="True"/>
  <p:tag name="PRRESPONSE9" val="2"/>
  <p:tag name="RESPCOUNTERSTYLE" val="-1"/>
  <p:tag name="STDCHART" val="1"/>
  <p:tag name="CUSTOMCELLBACKCOLOR2" val="-13395457"/>
  <p:tag name="ALLOWUSERFEEDBACK" val="True"/>
  <p:tag name="PRRESPONSE4" val="7"/>
  <p:tag name="EXPANDSHOWBAR" val="True"/>
  <p:tag name="SKIPREMAININGRACESLIDES" val="True"/>
  <p:tag name="AUTOSIZEGRID" val="True"/>
  <p:tag name="FIBNUMRESULTS" val="5"/>
  <p:tag name="RESPTABLESTYLE" val="-1"/>
  <p:tag name="CUSTOMCELLFORECOLOR" val="-16777216"/>
  <p:tag name="AUTOADJUSTPARTRANGE" val="True"/>
  <p:tag name="COUNTDOWNSECONDS" val="10"/>
  <p:tag name="POLLINGCYCLE" val="2"/>
  <p:tag name="CORRECTPOINTVALUE" val="1"/>
  <p:tag name="BUBBLESIZEVISIBLE" val="True"/>
  <p:tag name="REVIEWONLY" val="False"/>
  <p:tag name="GRIDROTATIONINTERVAL" val="2"/>
  <p:tag name="MMPROD_NEXTUNIQUEID" val="10009"/>
  <p:tag name="PRRESPONSE5" val="6"/>
  <p:tag name="DELIMITERS" val="3.1"/>
  <p:tag name="TASKPANEKEY" val="2422e870-c3bf-4561-ae4c-1f3ac8d50158"/>
  <p:tag name="POWERPOINTVERSION" val="12.0"/>
  <p:tag name="MMPROD_UIDATA" val="&lt;database version=&quot;8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&quot;/&gt;&lt;property id=&quot;20307&quot; value=&quot;425&quot;/&gt;&lt;/object&gt;&lt;object type=&quot;3&quot; unique_id=&quot;10005&quot;&gt;&lt;property id=&quot;20148&quot; value=&quot;5&quot;/&gt;&lt;property id=&quot;20300&quot; value=&quot;Slide 2 - &amp;quot;Module Outline&amp;quot;&quot;/&gt;&lt;property id=&quot;20307&quot; value=&quot;258&quot;/&gt;&lt;/object&gt;&lt;object type=&quot;3&quot; unique_id=&quot;10006&quot;&gt;&lt;property id=&quot;20148&quot; value=&quot;5&quot;/&gt;&lt;property id=&quot;20300&quot; value=&quot;Slide 7 - &amp;quot;A Function of Prices: Rationing&amp;quot;&quot;/&gt;&lt;property id=&quot;20307&quot; value=&quot;504&quot;/&gt;&lt;/object&gt;&lt;object type=&quot;3&quot; unique_id=&quot;10007&quot;&gt;&lt;property id=&quot;20148&quot; value=&quot;5&quot;/&gt;&lt;property id=&quot;20300&quot; value=&quot;Slide 9 - &amp;quot;Resource Allocation Methods&amp;quot;&quot;/&gt;&lt;property id=&quot;20307&quot; value=&quot;436&quot;/&gt;&lt;/object&gt;&lt;object type=&quot;3&quot; unique_id=&quot;10008&quot;&gt;&lt;property id=&quot;20148&quot; value=&quot;5&quot;/&gt;&lt;property id=&quot;20300&quot; value=&quot;Slide 12 - &amp;quot;Demand, Marginal Benefit &amp;amp; Consumer Surplus&amp;quot;&quot;/&gt;&lt;property id=&quot;20307&quot; value=&quot;446&quot;/&gt;&lt;/object&gt;&lt;object type=&quot;3&quot; unique_id=&quot;10009&quot;&gt;&lt;property id=&quot;20148&quot; value=&quot;5&quot;/&gt;&lt;property id=&quot;20300&quot; value=&quot;Slide 13 - &amp;quot;Demand, Marginal Benefit &amp;amp; Consumer Surplus&amp;quot;&quot;/&gt;&lt;property id=&quot;20307&quot; value=&quot;447&quot;/&gt;&lt;/object&gt;&lt;object type=&quot;3&quot; unique_id=&quot;10010&quot;&gt;&lt;property id=&quot;20148&quot; value=&quot;5&quot;/&gt;&lt;property id=&quot;20300&quot; value=&quot;Slide 14 - &amp;quot;Demand, Marginal Benefit &amp;amp; Consumer Surplus&amp;quot;&quot;/&gt;&lt;property id=&quot;20307&quot; value=&quot;448&quot;/&gt;&lt;/object&gt;&lt;object type=&quot;3&quot; unique_id=&quot;10011&quot;&gt;&lt;property id=&quot;20148&quot; value=&quot;5&quot;/&gt;&lt;property id=&quot;20300&quot; value=&quot;Slide 15 - &amp;quot;Demand, Marginal Benefit &amp;amp; Consumer Surplus&amp;quot;&quot;/&gt;&lt;property id=&quot;20307&quot; value=&quot;506&quot;/&gt;&lt;/object&gt;&lt;object type=&quot;3&quot; unique_id=&quot;10012&quot;&gt;&lt;property id=&quot;20148&quot; value=&quot;5&quot;/&gt;&lt;property id=&quot;20300&quot; value=&quot;Slide 16 - &amp;quot;Demand, Marginal Benefit &amp;amp; Consumer Surplus&amp;quot;&quot;/&gt;&lt;property id=&quot;20307&quot; value=&quot;507&quot;/&gt;&lt;/object&gt;&lt;object type=&quot;3&quot; unique_id=&quot;10013&quot;&gt;&lt;property id=&quot;20148&quot; value=&quot;5&quot;/&gt;&lt;property id=&quot;20300&quot; value=&quot;Slide 20 - &amp;quot;Demand, Marginal Benefit &amp;amp; Consumer Surplus&amp;quot;&quot;/&gt;&lt;property id=&quot;20307&quot; value=&quot;453&quot;/&gt;&lt;/object&gt;&lt;object type=&quot;3&quot; unique_id=&quot;10015&quot;&gt;&lt;property id=&quot;20148&quot; value=&quot;5&quot;/&gt;&lt;property id=&quot;20300&quot; value=&quot;Slide 22 - &amp;quot;Demand, Marginal Benefit &amp;amp; Consumer Surplus&amp;quot;&quot;/&gt;&lt;property id=&quot;20307&quot; value=&quot;511&quot;/&gt;&lt;/object&gt;&lt;object type=&quot;3&quot; unique_id=&quot;10016&quot;&gt;&lt;property id=&quot;20148&quot; value=&quot;5&quot;/&gt;&lt;property id=&quot;20300&quot; value=&quot;Slide 23 - &amp;quot;Demand, Marginal Benefit &amp;amp; Consumer Surplus&amp;quot;&quot;/&gt;&lt;property id=&quot;20307&quot; value=&quot;512&quot;/&gt;&lt;/object&gt;&lt;object type=&quot;3&quot; unique_id=&quot;10017&quot;&gt;&lt;property id=&quot;20148&quot; value=&quot;5&quot;/&gt;&lt;property id=&quot;20300&quot; value=&quot;Slide 24 - &amp;quot;Demand, Marginal Benefit &amp;amp; Consumer Surplus&amp;quot;&quot;/&gt;&lt;property id=&quot;20307&quot; value=&quot;513&quot;/&gt;&lt;/object&gt;&lt;object type=&quot;3&quot; unique_id=&quot;10018&quot;&gt;&lt;property id=&quot;20148&quot; value=&quot;5&quot;/&gt;&lt;property id=&quot;20300&quot; value=&quot;Slide 25 - &amp;quot;Demand, Marginal Benefit &amp;amp; Consumer Surplus&amp;quot;&quot;/&gt;&lt;property id=&quot;20307&quot; value=&quot;514&quot;/&gt;&lt;/object&gt;&lt;object type=&quot;3&quot; unique_id=&quot;10019&quot;&gt;&lt;property id=&quot;20148&quot; value=&quot;5&quot;/&gt;&lt;property id=&quot;20300&quot; value=&quot;Slide 26 - &amp;quot;Demand, Marginal Benefit &amp;amp; Consumer Surplus&amp;quot;&quot;/&gt;&lt;property id=&quot;20307&quot; value=&quot;515&quot;/&gt;&lt;/object&gt;&lt;object type=&quot;3&quot; unique_id=&quot;10020&quot;&gt;&lt;property id=&quot;20148&quot; value=&quot;5&quot;/&gt;&lt;property id=&quot;20300&quot; value=&quot;Slide 29 - &amp;quot;Supply, Marginal Cost  &amp;amp; Producer Surplus&amp;quot;&quot;/&gt;&lt;property id=&quot;20307&quot; value=&quot;460&quot;/&gt;&lt;/object&gt;&lt;object type=&quot;3&quot; unique_id=&quot;10021&quot;&gt;&lt;property id=&quot;20148&quot; value=&quot;5&quot;/&gt;&lt;property id=&quot;20300&quot; value=&quot;Slide 30 - &amp;quot;Supply, Marginal Cost  &amp;amp; Producer Surplus&amp;quot;&quot;/&gt;&lt;property id=&quot;20307&quot; value=&quot;461&quot;/&gt;&lt;/object&gt;&lt;object type=&quot;3&quot; unique_id=&quot;10022&quot;&gt;&lt;property id=&quot;20148&quot; value=&quot;5&quot;/&gt;&lt;property id=&quot;20300&quot; value=&quot;Slide 31 - &amp;quot;Supply, Marginal Cost  &amp;amp; Producer Surplus&amp;quot;&quot;/&gt;&lt;property id=&quot;20307&quot; value=&quot;462&quot;/&gt;&lt;/object&gt;&lt;object type=&quot;3&quot; unique_id=&quot;10023&quot;&gt;&lt;property id=&quot;20148&quot; value=&quot;5&quot;/&gt;&lt;property id=&quot;20300&quot; value=&quot;Slide 32 - &amp;quot;Supply, Marginal Cost  &amp;amp; Producer Surplus&amp;quot;&quot;/&gt;&lt;property id=&quot;20307&quot; value=&quot;516&quot;/&gt;&lt;/object&gt;&lt;object type=&quot;3&quot; unique_id=&quot;10024&quot;&gt;&lt;property id=&quot;20148&quot; value=&quot;5&quot;/&gt;&lt;property id=&quot;20300&quot; value=&quot;Slide 34 - &amp;quot;Supply, Marginal Cost  &amp;amp; Producer Surplus&amp;quot;&quot;/&gt;&lt;property id=&quot;20307&quot; value=&quot;467&quot;/&gt;&lt;/object&gt;&lt;object type=&quot;3&quot; unique_id=&quot;10025&quot;&gt;&lt;property id=&quot;20148&quot; value=&quot;5&quot;/&gt;&lt;property id=&quot;20300&quot; value=&quot;Slide 36 - &amp;quot;Supply, Marginal Cost  &amp;amp; Producer Surplus&amp;quot;&quot;/&gt;&lt;property id=&quot;20307&quot; value=&quot;517&quot;/&gt;&lt;/object&gt;&lt;object type=&quot;3&quot; unique_id=&quot;10026&quot;&gt;&lt;property id=&quot;20148&quot; value=&quot;5&quot;/&gt;&lt;property id=&quot;20300&quot; value=&quot;Slide 37 - &amp;quot;Supply, Marginal Cost  &amp;amp; Producer Surplus&amp;quot;&quot;/&gt;&lt;property id=&quot;20307&quot; value=&quot;518&quot;/&gt;&lt;/object&gt;&lt;object type=&quot;3&quot; unique_id=&quot;10028&quot;&gt;&lt;property id=&quot;20148&quot; value=&quot;5&quot;/&gt;&lt;property id=&quot;20300&quot; value=&quot;Slide 38 - &amp;quot;Supply, Marginal Cost  &amp;amp; Producer Surplus&amp;quot;&quot;/&gt;&lt;property id=&quot;20307&quot; value=&quot;520&quot;/&gt;&lt;/object&gt;&lt;object type=&quot;3&quot; unique_id=&quot;10030&quot;&gt;&lt;property id=&quot;20148&quot; value=&quot;5&quot;/&gt;&lt;property id=&quot;20300&quot; value=&quot;Slide 40 - &amp;quot;Market Efficiency vs. Inefficiency&amp;quot;&quot;/&gt;&lt;property id=&quot;20307&quot; value=&quot;474&quot;/&gt;&lt;/object&gt;&lt;object type=&quot;3&quot; unique_id=&quot;10031&quot;&gt;&lt;property id=&quot;20148&quot; value=&quot;5&quot;/&gt;&lt;property id=&quot;20300&quot; value=&quot;Slide 42 - &amp;quot;Market Efficiency vs. Inefficiency&amp;quot;&quot;/&gt;&lt;property id=&quot;20307&quot; value=&quot;476&quot;/&gt;&lt;/object&gt;&lt;object type=&quot;3&quot; unique_id=&quot;10032&quot;&gt;&lt;property id=&quot;20148&quot; value=&quot;5&quot;/&gt;&lt;property id=&quot;20300&quot; value=&quot;Slide 43 - &amp;quot;Market Efficiency vs. Inefficiency&amp;quot;&quot;/&gt;&lt;property id=&quot;20307&quot; value=&quot;477&quot;/&gt;&lt;/object&gt;&lt;object type=&quot;3&quot; unique_id=&quot;10034&quot;&gt;&lt;property id=&quot;20148&quot; value=&quot;5&quot;/&gt;&lt;property id=&quot;20300&quot; value=&quot;Slide 45 - &amp;quot;Market Efficiency vs. Inefficiency&amp;quot;&quot;/&gt;&lt;property id=&quot;20307&quot; value=&quot;479&quot;/&gt;&lt;/object&gt;&lt;object type=&quot;3&quot; unique_id=&quot;10035&quot;&gt;&lt;property id=&quot;20148&quot; value=&quot;5&quot;/&gt;&lt;property id=&quot;20300&quot; value=&quot;Slide 46 - &amp;quot;Market Efficiency vs. Inefficiency&amp;quot;&quot;/&gt;&lt;property id=&quot;20307&quot; value=&quot;522&quot;/&gt;&lt;/object&gt;&lt;object type=&quot;3&quot; unique_id=&quot;10036&quot;&gt;&lt;property id=&quot;20148&quot; value=&quot;5&quot;/&gt;&lt;property id=&quot;20300&quot; value=&quot;Slide 47 - &amp;quot;Market Efficiency vs. Inefficiency&amp;quot;&quot;/&gt;&lt;property id=&quot;20307&quot; value=&quot;523&quot;/&gt;&lt;/object&gt;&lt;object type=&quot;3&quot; unique_id=&quot;10037&quot;&gt;&lt;property id=&quot;20148&quot; value=&quot;5&quot;/&gt;&lt;property id=&quot;20300&quot; value=&quot;Slide 48 - &amp;quot;Market Efficiency vs. Inefficiency&amp;quot;&quot;/&gt;&lt;property id=&quot;20307&quot; value=&quot;484&quot;/&gt;&lt;/object&gt;&lt;object type=&quot;3&quot; unique_id=&quot;10038&quot;&gt;&lt;property id=&quot;20148&quot; value=&quot;5&quot;/&gt;&lt;property id=&quot;20300&quot; value=&quot;Slide 50 - &amp;quot;Market Efficiency vs. Inefficiency&amp;quot;&quot;/&gt;&lt;property id=&quot;20307&quot; value=&quot;493&quot;/&gt;&lt;/object&gt;&lt;object type=&quot;3&quot; unique_id=&quot;10039&quot;&gt;&lt;property id=&quot;20148&quot; value=&quot;5&quot;/&gt;&lt;property id=&quot;20300&quot; value=&quot;Slide 51 - &amp;quot;Market Efficiency vs. Inefficiency&amp;quot;&quot;/&gt;&lt;property id=&quot;20307&quot; value=&quot;494&quot;/&gt;&lt;/object&gt;&lt;object type=&quot;3&quot; unique_id=&quot;10040&quot;&gt;&lt;property id=&quot;20148&quot; value=&quot;5&quot;/&gt;&lt;property id=&quot;20300&quot; value=&quot;Slide 53 - &amp;quot;Market Fairness&amp;quot;&quot;/&gt;&lt;property id=&quot;20307&quot; value=&quot;495&quot;/&gt;&lt;/object&gt;&lt;object type=&quot;3&quot; unique_id=&quot;10041&quot;&gt;&lt;property id=&quot;20148&quot; value=&quot;5&quot;/&gt;&lt;property id=&quot;20300&quot; value=&quot;Slide 55 - &amp;quot;Market Fairness&amp;quot;&quot;/&gt;&lt;property id=&quot;20307&quot; value=&quot;496&quot;/&gt;&lt;/object&gt;&lt;object type=&quot;3&quot; unique_id=&quot;10042&quot;&gt;&lt;property id=&quot;20148&quot; value=&quot;5&quot;/&gt;&lt;property id=&quot;20300&quot; value=&quot;Slide 56 - &amp;quot;Market Fairness&amp;quot;&quot;/&gt;&lt;property id=&quot;20307&quot; value=&quot;499&quot;/&gt;&lt;/object&gt;&lt;object type=&quot;3&quot; unique_id=&quot;10043&quot;&gt;&lt;property id=&quot;20148&quot; value=&quot;5&quot;/&gt;&lt;property id=&quot;20300&quot; value=&quot;Slide 58 - &amp;quot;Market Fairness&amp;quot;&quot;/&gt;&lt;property id=&quot;20307&quot; value=&quot;500&quot;/&gt;&lt;/object&gt;&lt;object type=&quot;3&quot; unique_id=&quot;10044&quot;&gt;&lt;property id=&quot;20148&quot; value=&quot;5&quot;/&gt;&lt;property id=&quot;20300&quot; value=&quot;Slide 60 - &amp;quot;Market Fairness&amp;quot;&quot;/&gt;&lt;property id=&quot;20307&quot; value=&quot;501&quot;/&gt;&lt;/object&gt;&lt;object type=&quot;3&quot; unique_id=&quot;10045&quot;&gt;&lt;property id=&quot;20148&quot; value=&quot;5&quot;/&gt;&lt;property id=&quot;20300&quot; value=&quot;Slide 65&quot;/&gt;&lt;property id=&quot;20307&quot; value=&quot;434&quot;/&gt;&lt;/object&gt;&lt;object type=&quot;3&quot; unique_id=&quot;10086&quot;&gt;&lt;property id=&quot;20148&quot; value=&quot;5&quot;/&gt;&lt;property id=&quot;20300&quot; value=&quot;Slide 3 - &amp;quot;Learning Objectives&amp;quot;&quot;/&gt;&lt;property id=&quot;20307&quot; value=&quot;524&quot;/&gt;&lt;/object&gt;&lt;object type=&quot;3&quot; unique_id=&quot;10415&quot;&gt;&lt;property id=&quot;20148&quot; value=&quot;5&quot;/&gt;&lt;property id=&quot;20300&quot; value=&quot;Slide 5 - &amp;quot;Waiting in line to buy Justin Bieber concert tickets is an example of ?&amp;quot;&quot;/&gt;&lt;property id=&quot;20307&quot; value=&quot;525&quot;/&gt;&lt;/object&gt;&lt;object type=&quot;3&quot; unique_id=&quot;10416&quot;&gt;&lt;property id=&quot;20148&quot; value=&quot;5&quot;/&gt;&lt;property id=&quot;20300&quot; value=&quot;Slide 8 - &amp;quot;Adopting a free puppy from the animal shelter is an example of?&amp;quot;&quot;/&gt;&lt;property id=&quot;20307&quot; value=&quot;526&quot;/&gt;&lt;/object&gt;&lt;object type=&quot;3&quot; unique_id=&quot;10589&quot;&gt;&lt;property id=&quot;20148&quot; value=&quot;5&quot;/&gt;&lt;property id=&quot;20300&quot; value=&quot;Slide 11 - &amp;quot;If the price of pizza is $10 and I’m willing and able to pay $15, what does the $15 represent?&amp;quot;&quot;/&gt;&lt;property id=&quot;20307&quot; value=&quot;527&quot;/&gt;&lt;/object&gt;&lt;object type=&quot;3&quot; unique_id=&quot;10590&quot;&gt;&lt;property id=&quot;20148&quot; value=&quot;5&quot;/&gt;&lt;property id=&quot;20300&quot; value=&quot;Slide 18 - &amp;quot;Would it bother you to know other people paid less for the same product?&amp;quot;&quot;/&gt;&lt;property id=&quot;20307&quot; value=&quot;528&quot;/&gt;&lt;/object&gt;&lt;object type=&quot;3&quot; unique_id=&quot;10771&quot;&gt;&lt;property id=&quot;20148&quot; value=&quot;5&quot;/&gt;&lt;property id=&quot;20300&quot; value=&quot;Slide 17 - &amp;quot;What is behavioral targeting?&amp;quot;&quot;/&gt;&lt;property id=&quot;20307&quot; value=&quot;530&quot;/&gt;&lt;/object&gt;&lt;object type=&quot;3&quot; unique_id=&quot;10772&quot;&gt;&lt;property id=&quot;20148&quot; value=&quot;5&quot;/&gt;&lt;property id=&quot;20300&quot; value=&quot;Slide 19 - &amp;quot;Is it ok if a store you shop at frequently charges you lower prices than it charges other people because it wants &quot;/&gt;&lt;property id=&quot;20307&quot; value=&quot;529&quot;/&gt;&lt;/object&gt;&lt;object type=&quot;3&quot; unique_id=&quot;11008&quot;&gt;&lt;property id=&quot;20148&quot; value=&quot;5&quot;/&gt;&lt;property id=&quot;20300&quot; value=&quot;Slide 21 - &amp;quot;Why can Starbucks charge a higher price for coffee than McDonald’s?&amp;quot;&quot;/&gt;&lt;property id=&quot;20307&quot; value=&quot;531&quot;/&gt;&lt;/object&gt;&lt;object type=&quot;3&quot; unique_id=&quot;11009&quot;&gt;&lt;property id=&quot;20148&quot; value=&quot;5&quot;/&gt;&lt;property id=&quot;20300&quot; value=&quot;Slide 33 - &amp;quot;Why can TJ Maxx (discount store)  charge a lower price for clothes &amp;amp; household goods than Macy’s?&amp;quot;&quot;/&gt;&lt;property id=&quot;20307&quot; value=&quot;532&quot;/&gt;&lt;/object&gt;&lt;object type=&quot;3&quot; unique_id=&quot;11157&quot;&gt;&lt;property id=&quot;20148&quot; value=&quot;5&quot;/&gt;&lt;property id=&quot;20300&quot; value=&quot;Slide 28 - &amp;quot;If the price of pizza is $10 and the minimum price I’m willing to accept to make the pizza is $8, what does the $8&quot;/&gt;&lt;property id=&quot;20307&quot; value=&quot;533&quot;/&gt;&lt;/object&gt;&lt;object type=&quot;3&quot; unique_id=&quot;11408&quot;&gt;&lt;property id=&quot;20148&quot; value=&quot;5&quot;/&gt;&lt;property id=&quot;20300&quot; value=&quot;Slide 35 - &amp;quot;Why do some animal shelters charge to adopt an animal?&amp;quot;&quot;/&gt;&lt;property id=&quot;20307&quot; value=&quot;534&quot;/&gt;&lt;/object&gt;&lt;object type=&quot;3&quot; unique_id=&quot;11562&quot;&gt;&lt;property id=&quot;20148&quot; value=&quot;5&quot;/&gt;&lt;property id=&quot;20300&quot; value=&quot;Slide 41 - &amp;quot;Why are (perfectly) competitive markets efficient?&amp;quot;&quot;/&gt;&lt;property id=&quot;20307&quot; value=&quot;535&quot;/&gt;&lt;/object&gt;&lt;object type=&quot;3&quot; unique_id=&quot;11719&quot;&gt;&lt;property id=&quot;20148&quot; value=&quot;5&quot;/&gt;&lt;property id=&quot;20300&quot; value=&quot;Slide 44 - &amp;quot;What do economists mean when they say markets are not fair?&amp;quot;&quot;/&gt;&lt;property id=&quot;20307&quot; value=&quot;536&quot;/&gt;&lt;/object&gt;&lt;object type=&quot;3&quot; unique_id=&quot;18081&quot;&gt;&lt;property id=&quot;20148&quot; value=&quot;5&quot;/&gt;&lt;property id=&quot;20300&quot; value=&quot;Slide 49 - &amp;quot;So if we minimize the price rationing mechanism of markets, what non-price rationing mechanism, do you prefer? Why&quot;/&gt;&lt;property id=&quot;20307&quot; value=&quot;540&quot;/&gt;&lt;/object&gt;&lt;object type=&quot;3&quot; unique_id=&quot;18082&quot;&gt;&lt;property id=&quot;20148&quot; value=&quot;5&quot;/&gt;&lt;property id=&quot;20300&quot; value=&quot;Slide 54 - &amp;quot;Does the law of diminishing returns pertain to income as well?&amp;quot;&quot;/&gt;&lt;property id=&quot;20307&quot; value=&quot;538&quot;/&gt;&lt;/object&gt;&lt;object type=&quot;3&quot; unique_id=&quot;18083&quot;&gt;&lt;property id=&quot;20148&quot; value=&quot;5&quot;/&gt;&lt;property id=&quot;20300&quot; value=&quot;Slide 57 - &amp;quot;Do you agree with the goal of utilitarianism for society?&amp;quot;&quot;/&gt;&lt;property id=&quot;20307&quot; value=&quot;539&quot;/&gt;&lt;/object&gt;&lt;object type=&quot;3&quot; unique_id=&quot;18084&quot;&gt;&lt;property id=&quot;20148&quot; value=&quot;5&quot;/&gt;&lt;property id=&quot;20300&quot; value=&quot;Slide 59 - &amp;quot;So which type of fairness do you prefer?&amp;quot;&quot;/&gt;&lt;property id=&quot;20307&quot; value=&quot;537&quot;/&gt;&lt;/object&gt;&lt;object type=&quot;3&quot; unique_id=&quot;31019&quot;&gt;&lt;property id=&quot;20148&quot; value=&quot;5&quot;/&gt;&lt;property id=&quot;20300&quot; value=&quot;Slide 62 - &amp;quot;Group Assignment 4: What is you CL section?&amp;quot;&quot;/&gt;&lt;property id=&quot;20307&quot; value=&quot;541&quot;/&gt;&lt;/object&gt;&lt;object type=&quot;3&quot; unique_id=&quot;31020&quot;&gt;&lt;property id=&quot;20148&quot; value=&quot;5&quot;/&gt;&lt;property id=&quot;20300&quot; value=&quot;Slide 63 - &amp;quot;Group Assignment 4&amp;quot;&quot;/&gt;&lt;property id=&quot;20307&quot; value=&quot;542&quot;/&gt;&lt;/object&gt;&lt;object type=&quot;3&quot; unique_id=&quot;31021&quot;&gt;&lt;property id=&quot;20148&quot; value=&quot;5&quot;/&gt;&lt;property id=&quot;20300&quot; value=&quot;Slide 64 - &amp;quot;Group Assignment 4: According to your data, what type of inefficiency does your market have? &amp;quot;&quot;/&gt;&lt;property id=&quot;20307&quot; value=&quot;543&quot;/&gt;&lt;/object&gt;&lt;object type=&quot;3&quot; unique_id=&quot;31082&quot;&gt;&lt;property id=&quot;20148&quot; value=&quot;5&quot;/&gt;&lt;property id=&quot;20300&quot; value=&quot;Slide 6 - &amp;quot;In a crisis (Hurricane Sandy), how should gasoline be distributed? Why?&amp;quot;&quot;/&gt;&lt;property id=&quot;20307&quot; value=&quot;544&quot;/&gt;&lt;/object&gt;&lt;object type=&quot;3&quot; unique_id=&quot;31388&quot;&gt;&lt;property id=&quot;20148&quot; value=&quot;5&quot;/&gt;&lt;property id=&quot;20300&quot; value=&quot;Slide 4 - &amp;quot;Learning Objective #1&amp;quot;&quot;/&gt;&lt;property id=&quot;20307&quot; value=&quot;545&quot;/&gt;&lt;/object&gt;&lt;object type=&quot;3&quot; unique_id=&quot;31389&quot;&gt;&lt;property id=&quot;20148&quot; value=&quot;5&quot;/&gt;&lt;property id=&quot;20300&quot; value=&quot;Slide 10 - &amp;quot;Learning Objective #2&amp;quot;&quot;/&gt;&lt;property id=&quot;20307&quot; value=&quot;546&quot;/&gt;&lt;/object&gt;&lt;object type=&quot;3&quot; unique_id=&quot;31390&quot;&gt;&lt;property id=&quot;20148&quot; value=&quot;5&quot;/&gt;&lt;property id=&quot;20300&quot; value=&quot;Slide 27 - &amp;quot;Learning Objective #3&amp;quot;&quot;/&gt;&lt;property id=&quot;20307&quot; value=&quot;547&quot;/&gt;&lt;/object&gt;&lt;object type=&quot;3&quot; unique_id=&quot;31391&quot;&gt;&lt;property id=&quot;20148&quot; value=&quot;5&quot;/&gt;&lt;property id=&quot;20300&quot; value=&quot;Slide 39 - &amp;quot;Learning Objective #4&amp;quot;&quot;/&gt;&lt;property id=&quot;20307&quot; value=&quot;548&quot;/&gt;&lt;/object&gt;&lt;object type=&quot;3&quot; unique_id=&quot;31392&quot;&gt;&lt;property id=&quot;20148&quot; value=&quot;5&quot;/&gt;&lt;property id=&quot;20300&quot; value=&quot;Slide 52 - &amp;quot;Learning Objective #5&amp;quot;&quot;/&gt;&lt;property id=&quot;20307&quot; value=&quot;549&quot;/&gt;&lt;/object&gt;&lt;object type=&quot;3&quot; unique_id=&quot;31459&quot;&gt;&lt;property id=&quot;20148&quot; value=&quot;5&quot;/&gt;&lt;property id=&quot;20300&quot; value=&quot;Slide 61 - &amp;quot;Quiz #5&amp;quot;&quot;/&gt;&lt;property id=&quot;20307&quot; value=&quot;550&quot;/&gt;&lt;/object&gt;&lt;/object&gt;&lt;/object&gt;&lt;/database&gt;"/>
  <p:tag name="SECTOMILLISECCONVERTED" val="1"/>
  <p:tag name="WASPOLLED" val="22DEED7BD47445DCA4F311ABB7DCE60E"/>
  <p:tag name="TPVERSION" val="5"/>
  <p:tag name="TPFULLVERSION" val="5.3.1.3337"/>
  <p:tag name="PPTVERSION" val="15"/>
  <p:tag name="TPOS" val="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heme/theme1.xml><?xml version="1.0" encoding="utf-8"?>
<a:theme xmlns:a="http://schemas.openxmlformats.org/drawingml/2006/main" name="miller_13e_ppt_template2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993300"/>
      </a:hlink>
      <a:folHlink>
        <a:srgbClr val="FF9900"/>
      </a:folHlink>
    </a:clrScheme>
    <a:fontScheme name="miller_13e_ppt_template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miller_13e_ppt_template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iller_13e_ppt_template2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iller_13e_ppt_template2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iller_13e_ppt_template2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iller_13e_ppt_template2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iller_13e_ppt_template2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iller_13e_ppt_template2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Macintosh HD:Users:marktemelko:dayjob:Oh_Type_Documents:Miller_PPT:mt_miller:Miller_ppt_template:miller_13e_ppt_template2.pot</Template>
  <TotalTime>7234</TotalTime>
  <Words>1590</Words>
  <Application>Microsoft Office PowerPoint</Application>
  <PresentationFormat>On-screen Show (4:3)</PresentationFormat>
  <Paragraphs>462</Paragraphs>
  <Slides>22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Times New Roman</vt:lpstr>
      <vt:lpstr>Wingdings</vt:lpstr>
      <vt:lpstr>miller_13e_ppt_template2</vt:lpstr>
      <vt:lpstr>PowerPoint Presentation</vt:lpstr>
      <vt:lpstr>Module Outline</vt:lpstr>
      <vt:lpstr>Learning Objectives</vt:lpstr>
      <vt:lpstr>Learning Objective #1</vt:lpstr>
      <vt:lpstr>A Function of Prices: Rationing</vt:lpstr>
      <vt:lpstr>Resource Allocation Methods</vt:lpstr>
      <vt:lpstr>Learning Objective #2</vt:lpstr>
      <vt:lpstr>Demand, Marginal Benefit &amp; Consumer Surplus</vt:lpstr>
      <vt:lpstr>Demand, Marginal Benefit &amp; Consumer Surplus</vt:lpstr>
      <vt:lpstr>Demand, Marginal Benefit &amp; Consumer Surplus</vt:lpstr>
      <vt:lpstr>Demand, Marginal Benefit &amp; Consumer Surplus</vt:lpstr>
      <vt:lpstr>Demand, Marginal Benefit &amp; Consumer Surplus</vt:lpstr>
      <vt:lpstr>Demand, Marginal Benefit &amp; Consumer Surplus</vt:lpstr>
      <vt:lpstr>Demand, Marginal Benefit &amp; Consumer Surplus</vt:lpstr>
      <vt:lpstr>Learning Objective #3</vt:lpstr>
      <vt:lpstr>Supply, Marginal Cost  &amp; Producer Surplus</vt:lpstr>
      <vt:lpstr>Supply, Marginal Cost  &amp; Producer Surplus</vt:lpstr>
      <vt:lpstr>Supply, Marginal Cost  &amp; Producer Surplus</vt:lpstr>
      <vt:lpstr>Supply, Marginal Cost  &amp; Producer Surplus</vt:lpstr>
      <vt:lpstr>Supply, Marginal Cost  &amp; Producer Surplus</vt:lpstr>
      <vt:lpstr>Supply, Marginal Cost  &amp; Producer Surplus</vt:lpstr>
      <vt:lpstr>Supply, Marginal Cost  &amp; Producer Surplus</vt:lpstr>
    </vt:vector>
  </TitlesOfParts>
  <Company>RoseStateCollege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pgraf</dc:creator>
  <cp:lastModifiedBy>Tsikandylakis, Antonis</cp:lastModifiedBy>
  <cp:revision>491</cp:revision>
  <dcterms:created xsi:type="dcterms:W3CDTF">1998-01-19T16:21:38Z</dcterms:created>
  <dcterms:modified xsi:type="dcterms:W3CDTF">2026-02-28T04:42:40Z</dcterms:modified>
</cp:coreProperties>
</file>