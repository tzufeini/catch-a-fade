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18"/>
  </p:notesMasterIdLst>
  <p:sldIdLst>
    <p:sldId id="661" r:id="rId2"/>
    <p:sldId id="550" r:id="rId3"/>
    <p:sldId id="551" r:id="rId4"/>
    <p:sldId id="612" r:id="rId5"/>
    <p:sldId id="613" r:id="rId6"/>
    <p:sldId id="559" r:id="rId7"/>
    <p:sldId id="560" r:id="rId8"/>
    <p:sldId id="565" r:id="rId9"/>
    <p:sldId id="570" r:id="rId10"/>
    <p:sldId id="571" r:id="rId11"/>
    <p:sldId id="616" r:id="rId12"/>
    <p:sldId id="662" r:id="rId13"/>
    <p:sldId id="581" r:id="rId14"/>
    <p:sldId id="619" r:id="rId15"/>
    <p:sldId id="618" r:id="rId16"/>
    <p:sldId id="514" r:id="rId17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94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3366"/>
    <a:srgbClr val="FFCC99"/>
    <a:srgbClr val="01406A"/>
    <a:srgbClr val="000099"/>
    <a:srgbClr val="FEFDCA"/>
    <a:srgbClr val="FFFFD1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0C7D7-7B37-4B12-9435-752338F7DB3F}" v="1095" dt="2026-03-07T02:23:57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4" autoAdjust="0"/>
    <p:restoredTop sz="76667" autoAdjust="0"/>
  </p:normalViewPr>
  <p:slideViewPr>
    <p:cSldViewPr snapToGrid="0">
      <p:cViewPr varScale="1">
        <p:scale>
          <a:sx n="67" d="100"/>
          <a:sy n="67" d="100"/>
        </p:scale>
        <p:origin x="1665" y="45"/>
      </p:cViewPr>
      <p:guideLst>
        <p:guide orient="horz" pos="4194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ikandylakis, Antonis" userId="ca19e47a-7a59-48ee-85eb-52dccb2011bc" providerId="ADAL" clId="{1568DF2F-4DA1-42DF-904E-6C18A6A2C565}"/>
    <pc:docChg chg="undo custSel modSld">
      <pc:chgData name="Tsikandylakis, Antonis" userId="ca19e47a-7a59-48ee-85eb-52dccb2011bc" providerId="ADAL" clId="{1568DF2F-4DA1-42DF-904E-6C18A6A2C565}" dt="2026-03-07T02:23:57.296" v="1446" actId="20577"/>
      <pc:docMkLst>
        <pc:docMk/>
      </pc:docMkLst>
      <pc:sldChg chg="modSp">
        <pc:chgData name="Tsikandylakis, Antonis" userId="ca19e47a-7a59-48ee-85eb-52dccb2011bc" providerId="ADAL" clId="{1568DF2F-4DA1-42DF-904E-6C18A6A2C565}" dt="2026-03-05T21:01:37.904" v="203" actId="20577"/>
        <pc:sldMkLst>
          <pc:docMk/>
          <pc:sldMk cId="0" sldId="551"/>
        </pc:sldMkLst>
        <pc:spChg chg="mod">
          <ac:chgData name="Tsikandylakis, Antonis" userId="ca19e47a-7a59-48ee-85eb-52dccb2011bc" providerId="ADAL" clId="{1568DF2F-4DA1-42DF-904E-6C18A6A2C565}" dt="2026-03-05T21:01:37.904" v="203" actId="20577"/>
          <ac:spMkLst>
            <pc:docMk/>
            <pc:sldMk cId="0" sldId="551"/>
            <ac:spMk id="610307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3-05T21:13:59.143" v="568" actId="20577"/>
        <pc:sldMkLst>
          <pc:docMk/>
          <pc:sldMk cId="0" sldId="559"/>
        </pc:sldMkLst>
        <pc:spChg chg="mod">
          <ac:chgData name="Tsikandylakis, Antonis" userId="ca19e47a-7a59-48ee-85eb-52dccb2011bc" providerId="ADAL" clId="{1568DF2F-4DA1-42DF-904E-6C18A6A2C565}" dt="2026-03-05T21:13:59.143" v="568" actId="20577"/>
          <ac:spMkLst>
            <pc:docMk/>
            <pc:sldMk cId="0" sldId="559"/>
            <ac:spMk id="697347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3-07T02:23:57.296" v="1446" actId="20577"/>
        <pc:sldMkLst>
          <pc:docMk/>
          <pc:sldMk cId="0" sldId="560"/>
        </pc:sldMkLst>
        <pc:spChg chg="mod">
          <ac:chgData name="Tsikandylakis, Antonis" userId="ca19e47a-7a59-48ee-85eb-52dccb2011bc" providerId="ADAL" clId="{1568DF2F-4DA1-42DF-904E-6C18A6A2C565}" dt="2026-03-07T02:23:57.296" v="1446" actId="20577"/>
          <ac:spMkLst>
            <pc:docMk/>
            <pc:sldMk cId="0" sldId="560"/>
            <ac:spMk id="417795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3-05T21:20:14.872" v="775" actId="20577"/>
        <pc:sldMkLst>
          <pc:docMk/>
          <pc:sldMk cId="0" sldId="565"/>
        </pc:sldMkLst>
        <pc:spChg chg="mod">
          <ac:chgData name="Tsikandylakis, Antonis" userId="ca19e47a-7a59-48ee-85eb-52dccb2011bc" providerId="ADAL" clId="{1568DF2F-4DA1-42DF-904E-6C18A6A2C565}" dt="2026-03-05T21:20:14.872" v="775" actId="20577"/>
          <ac:spMkLst>
            <pc:docMk/>
            <pc:sldMk cId="0" sldId="565"/>
            <ac:spMk id="459779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3-05T21:24:59.413" v="903" actId="20577"/>
        <pc:sldMkLst>
          <pc:docMk/>
          <pc:sldMk cId="0" sldId="570"/>
        </pc:sldMkLst>
        <pc:spChg chg="mod">
          <ac:chgData name="Tsikandylakis, Antonis" userId="ca19e47a-7a59-48ee-85eb-52dccb2011bc" providerId="ADAL" clId="{1568DF2F-4DA1-42DF-904E-6C18A6A2C565}" dt="2026-03-05T21:24:59.413" v="903" actId="20577"/>
          <ac:spMkLst>
            <pc:docMk/>
            <pc:sldMk cId="0" sldId="570"/>
            <ac:spMk id="418819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3-05T21:28:17.581" v="918" actId="20577"/>
        <pc:sldMkLst>
          <pc:docMk/>
          <pc:sldMk cId="0" sldId="571"/>
        </pc:sldMkLst>
        <pc:spChg chg="mod">
          <ac:chgData name="Tsikandylakis, Antonis" userId="ca19e47a-7a59-48ee-85eb-52dccb2011bc" providerId="ADAL" clId="{1568DF2F-4DA1-42DF-904E-6C18A6A2C565}" dt="2026-03-05T21:28:17.581" v="918" actId="20577"/>
          <ac:spMkLst>
            <pc:docMk/>
            <pc:sldMk cId="0" sldId="571"/>
            <ac:spMk id="419843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3-05T21:37:05.096" v="1114" actId="20577"/>
        <pc:sldMkLst>
          <pc:docMk/>
          <pc:sldMk cId="0" sldId="581"/>
        </pc:sldMkLst>
        <pc:spChg chg="mod">
          <ac:chgData name="Tsikandylakis, Antonis" userId="ca19e47a-7a59-48ee-85eb-52dccb2011bc" providerId="ADAL" clId="{1568DF2F-4DA1-42DF-904E-6C18A6A2C565}" dt="2026-03-05T21:37:05.096" v="1114" actId="20577"/>
          <ac:spMkLst>
            <pc:docMk/>
            <pc:sldMk cId="0" sldId="581"/>
            <ac:spMk id="488451" creationId="{00000000-0000-0000-0000-000000000000}"/>
          </ac:spMkLst>
        </pc:spChg>
      </pc:sldChg>
      <pc:sldChg chg="addSp delSp modSp mod">
        <pc:chgData name="Tsikandylakis, Antonis" userId="ca19e47a-7a59-48ee-85eb-52dccb2011bc" providerId="ADAL" clId="{1568DF2F-4DA1-42DF-904E-6C18A6A2C565}" dt="2026-03-05T21:07:08.354" v="352" actId="14100"/>
        <pc:sldMkLst>
          <pc:docMk/>
          <pc:sldMk cId="0" sldId="612"/>
        </pc:sldMkLst>
        <pc:spChg chg="add mod">
          <ac:chgData name="Tsikandylakis, Antonis" userId="ca19e47a-7a59-48ee-85eb-52dccb2011bc" providerId="ADAL" clId="{1568DF2F-4DA1-42DF-904E-6C18A6A2C565}" dt="2026-03-05T21:02:58.069" v="206" actId="1076"/>
          <ac:spMkLst>
            <pc:docMk/>
            <pc:sldMk cId="0" sldId="612"/>
            <ac:spMk id="4" creationId="{DC704731-4F56-D40D-121E-B3699DFF1548}"/>
          </ac:spMkLst>
        </pc:spChg>
        <pc:spChg chg="mod">
          <ac:chgData name="Tsikandylakis, Antonis" userId="ca19e47a-7a59-48ee-85eb-52dccb2011bc" providerId="ADAL" clId="{1568DF2F-4DA1-42DF-904E-6C18A6A2C565}" dt="2026-03-05T21:03:02.242" v="207"/>
          <ac:spMkLst>
            <pc:docMk/>
            <pc:sldMk cId="0" sldId="612"/>
            <ac:spMk id="6" creationId="{3B6DF42C-8BFD-C27C-160B-AAC1ED615860}"/>
          </ac:spMkLst>
        </pc:spChg>
        <pc:spChg chg="mod">
          <ac:chgData name="Tsikandylakis, Antonis" userId="ca19e47a-7a59-48ee-85eb-52dccb2011bc" providerId="ADAL" clId="{1568DF2F-4DA1-42DF-904E-6C18A6A2C565}" dt="2026-03-05T21:03:19.654" v="215" actId="20577"/>
          <ac:spMkLst>
            <pc:docMk/>
            <pc:sldMk cId="0" sldId="612"/>
            <ac:spMk id="7" creationId="{4CDF509E-5823-6F33-3AF3-EB0A8B78A0D6}"/>
          </ac:spMkLst>
        </pc:spChg>
        <pc:spChg chg="mod">
          <ac:chgData name="Tsikandylakis, Antonis" userId="ca19e47a-7a59-48ee-85eb-52dccb2011bc" providerId="ADAL" clId="{1568DF2F-4DA1-42DF-904E-6C18A6A2C565}" dt="2026-03-05T21:03:25.297" v="216"/>
          <ac:spMkLst>
            <pc:docMk/>
            <pc:sldMk cId="0" sldId="612"/>
            <ac:spMk id="9" creationId="{60209424-8B31-6412-76AE-2161419A0444}"/>
          </ac:spMkLst>
        </pc:spChg>
        <pc:spChg chg="mod">
          <ac:chgData name="Tsikandylakis, Antonis" userId="ca19e47a-7a59-48ee-85eb-52dccb2011bc" providerId="ADAL" clId="{1568DF2F-4DA1-42DF-904E-6C18A6A2C565}" dt="2026-03-05T21:03:31.951" v="220" actId="20577"/>
          <ac:spMkLst>
            <pc:docMk/>
            <pc:sldMk cId="0" sldId="612"/>
            <ac:spMk id="10" creationId="{6343A511-FF22-87A4-5D71-41AB2CB853C0}"/>
          </ac:spMkLst>
        </pc:spChg>
        <pc:spChg chg="add mod">
          <ac:chgData name="Tsikandylakis, Antonis" userId="ca19e47a-7a59-48ee-85eb-52dccb2011bc" providerId="ADAL" clId="{1568DF2F-4DA1-42DF-904E-6C18A6A2C565}" dt="2026-03-05T21:06:26.585" v="344" actId="14100"/>
          <ac:spMkLst>
            <pc:docMk/>
            <pc:sldMk cId="0" sldId="612"/>
            <ac:spMk id="15" creationId="{F494E026-AB57-BAAB-9FCD-CC2E45E22E34}"/>
          </ac:spMkLst>
        </pc:spChg>
        <pc:spChg chg="mod">
          <ac:chgData name="Tsikandylakis, Antonis" userId="ca19e47a-7a59-48ee-85eb-52dccb2011bc" providerId="ADAL" clId="{1568DF2F-4DA1-42DF-904E-6C18A6A2C565}" dt="2026-03-05T21:06:47.339" v="345"/>
          <ac:spMkLst>
            <pc:docMk/>
            <pc:sldMk cId="0" sldId="612"/>
            <ac:spMk id="17" creationId="{1774E0DA-7267-2734-C08A-098A356A0DF2}"/>
          </ac:spMkLst>
        </pc:spChg>
        <pc:spChg chg="mod">
          <ac:chgData name="Tsikandylakis, Antonis" userId="ca19e47a-7a59-48ee-85eb-52dccb2011bc" providerId="ADAL" clId="{1568DF2F-4DA1-42DF-904E-6C18A6A2C565}" dt="2026-03-05T21:06:53.397" v="349" actId="20577"/>
          <ac:spMkLst>
            <pc:docMk/>
            <pc:sldMk cId="0" sldId="612"/>
            <ac:spMk id="18" creationId="{3B832520-C01C-9BCF-42C5-31015B279C29}"/>
          </ac:spMkLst>
        </pc:spChg>
        <pc:spChg chg="mod">
          <ac:chgData name="Tsikandylakis, Antonis" userId="ca19e47a-7a59-48ee-85eb-52dccb2011bc" providerId="ADAL" clId="{1568DF2F-4DA1-42DF-904E-6C18A6A2C565}" dt="2026-03-05T21:04:02.722" v="230" actId="20577"/>
          <ac:spMkLst>
            <pc:docMk/>
            <pc:sldMk cId="0" sldId="612"/>
            <ac:spMk id="41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05:19.929" v="322" actId="20577"/>
          <ac:spMkLst>
            <pc:docMk/>
            <pc:sldMk cId="0" sldId="612"/>
            <ac:spMk id="42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05:27.399" v="323" actId="1076"/>
          <ac:spMkLst>
            <pc:docMk/>
            <pc:sldMk cId="0" sldId="612"/>
            <ac:spMk id="34818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04:26.551" v="244" actId="20577"/>
          <ac:spMkLst>
            <pc:docMk/>
            <pc:sldMk cId="0" sldId="612"/>
            <ac:spMk id="38932" creationId="{00000000-0000-0000-0000-000000000000}"/>
          </ac:spMkLst>
        </pc:spChg>
        <pc:grpChg chg="add del mod">
          <ac:chgData name="Tsikandylakis, Antonis" userId="ca19e47a-7a59-48ee-85eb-52dccb2011bc" providerId="ADAL" clId="{1568DF2F-4DA1-42DF-904E-6C18A6A2C565}" dt="2026-03-05T21:03:12.251" v="211" actId="478"/>
          <ac:grpSpMkLst>
            <pc:docMk/>
            <pc:sldMk cId="0" sldId="612"/>
            <ac:grpSpMk id="5" creationId="{E06A4E98-C0A8-4519-C5D1-0BBE069AC42C}"/>
          </ac:grpSpMkLst>
        </pc:grpChg>
        <pc:grpChg chg="add mod">
          <ac:chgData name="Tsikandylakis, Antonis" userId="ca19e47a-7a59-48ee-85eb-52dccb2011bc" providerId="ADAL" clId="{1568DF2F-4DA1-42DF-904E-6C18A6A2C565}" dt="2026-03-05T21:03:40.051" v="222" actId="14100"/>
          <ac:grpSpMkLst>
            <pc:docMk/>
            <pc:sldMk cId="0" sldId="612"/>
            <ac:grpSpMk id="8" creationId="{2D03366E-5C88-D190-D1B9-F73D4BF72E7A}"/>
          </ac:grpSpMkLst>
        </pc:grpChg>
        <pc:grpChg chg="add mod">
          <ac:chgData name="Tsikandylakis, Antonis" userId="ca19e47a-7a59-48ee-85eb-52dccb2011bc" providerId="ADAL" clId="{1568DF2F-4DA1-42DF-904E-6C18A6A2C565}" dt="2026-03-05T21:07:08.354" v="352" actId="14100"/>
          <ac:grpSpMkLst>
            <pc:docMk/>
            <pc:sldMk cId="0" sldId="612"/>
            <ac:grpSpMk id="16" creationId="{C86D5617-0AAA-8AE9-D25A-D51222AD538C}"/>
          </ac:grpSpMkLst>
        </pc:grpChg>
        <pc:cxnChg chg="add mod">
          <ac:chgData name="Tsikandylakis, Antonis" userId="ca19e47a-7a59-48ee-85eb-52dccb2011bc" providerId="ADAL" clId="{1568DF2F-4DA1-42DF-904E-6C18A6A2C565}" dt="2026-03-05T21:06:06.107" v="324" actId="208"/>
          <ac:cxnSpMkLst>
            <pc:docMk/>
            <pc:sldMk cId="0" sldId="612"/>
            <ac:cxnSpMk id="3" creationId="{5BA6D341-E7B2-6E4A-5596-F564BD32DDA3}"/>
          </ac:cxnSpMkLst>
        </pc:cxnChg>
        <pc:cxnChg chg="add">
          <ac:chgData name="Tsikandylakis, Antonis" userId="ca19e47a-7a59-48ee-85eb-52dccb2011bc" providerId="ADAL" clId="{1568DF2F-4DA1-42DF-904E-6C18A6A2C565}" dt="2026-03-05T21:03:46.919" v="223" actId="11529"/>
          <ac:cxnSpMkLst>
            <pc:docMk/>
            <pc:sldMk cId="0" sldId="612"/>
            <ac:cxnSpMk id="12" creationId="{63E022C7-A5D4-3372-9BDF-6B9BF912BB58}"/>
          </ac:cxnSpMkLst>
        </pc:cxnChg>
        <pc:cxnChg chg="add">
          <ac:chgData name="Tsikandylakis, Antonis" userId="ca19e47a-7a59-48ee-85eb-52dccb2011bc" providerId="ADAL" clId="{1568DF2F-4DA1-42DF-904E-6C18A6A2C565}" dt="2026-03-05T21:03:58.724" v="224" actId="11529"/>
          <ac:cxnSpMkLst>
            <pc:docMk/>
            <pc:sldMk cId="0" sldId="612"/>
            <ac:cxnSpMk id="14" creationId="{A9729884-7CBF-62B3-7303-A01830E832C3}"/>
          </ac:cxnSpMkLst>
        </pc:cxnChg>
      </pc:sldChg>
      <pc:sldChg chg="addSp delSp modSp mod">
        <pc:chgData name="Tsikandylakis, Antonis" userId="ca19e47a-7a59-48ee-85eb-52dccb2011bc" providerId="ADAL" clId="{1568DF2F-4DA1-42DF-904E-6C18A6A2C565}" dt="2026-03-05T21:12:51.135" v="427" actId="20577"/>
        <pc:sldMkLst>
          <pc:docMk/>
          <pc:sldMk cId="0" sldId="613"/>
        </pc:sldMkLst>
        <pc:spChg chg="add mod">
          <ac:chgData name="Tsikandylakis, Antonis" userId="ca19e47a-7a59-48ee-85eb-52dccb2011bc" providerId="ADAL" clId="{1568DF2F-4DA1-42DF-904E-6C18A6A2C565}" dt="2026-03-05T21:08:56.903" v="355" actId="208"/>
          <ac:spMkLst>
            <pc:docMk/>
            <pc:sldMk cId="0" sldId="613"/>
            <ac:spMk id="3" creationId="{E57A4B29-87EC-3260-A089-18B188EC71C4}"/>
          </ac:spMkLst>
        </pc:spChg>
        <pc:spChg chg="mod">
          <ac:chgData name="Tsikandylakis, Antonis" userId="ca19e47a-7a59-48ee-85eb-52dccb2011bc" providerId="ADAL" clId="{1568DF2F-4DA1-42DF-904E-6C18A6A2C565}" dt="2026-03-05T21:09:26.222" v="367" actId="1076"/>
          <ac:spMkLst>
            <pc:docMk/>
            <pc:sldMk cId="0" sldId="613"/>
            <ac:spMk id="9" creationId="{7869B848-D8B3-8C85-8389-DA834E228C07}"/>
          </ac:spMkLst>
        </pc:spChg>
        <pc:spChg chg="mod">
          <ac:chgData name="Tsikandylakis, Antonis" userId="ca19e47a-7a59-48ee-85eb-52dccb2011bc" providerId="ADAL" clId="{1568DF2F-4DA1-42DF-904E-6C18A6A2C565}" dt="2026-03-05T21:09:22.552" v="366" actId="20577"/>
          <ac:spMkLst>
            <pc:docMk/>
            <pc:sldMk cId="0" sldId="613"/>
            <ac:spMk id="10" creationId="{12B70290-1D62-3DED-F5F6-5F02F5B5E743}"/>
          </ac:spMkLst>
        </pc:spChg>
        <pc:spChg chg="mod">
          <ac:chgData name="Tsikandylakis, Antonis" userId="ca19e47a-7a59-48ee-85eb-52dccb2011bc" providerId="ADAL" clId="{1568DF2F-4DA1-42DF-904E-6C18A6A2C565}" dt="2026-03-05T21:09:31.598" v="369"/>
          <ac:spMkLst>
            <pc:docMk/>
            <pc:sldMk cId="0" sldId="613"/>
            <ac:spMk id="12" creationId="{3D496039-DA27-FCB1-5D7E-AD84DACD530A}"/>
          </ac:spMkLst>
        </pc:spChg>
        <pc:spChg chg="mod">
          <ac:chgData name="Tsikandylakis, Antonis" userId="ca19e47a-7a59-48ee-85eb-52dccb2011bc" providerId="ADAL" clId="{1568DF2F-4DA1-42DF-904E-6C18A6A2C565}" dt="2026-03-05T21:09:37.206" v="372" actId="20577"/>
          <ac:spMkLst>
            <pc:docMk/>
            <pc:sldMk cId="0" sldId="613"/>
            <ac:spMk id="13" creationId="{D67CE370-74F8-D861-2236-94F3C5D3C88E}"/>
          </ac:spMkLst>
        </pc:spChg>
        <pc:spChg chg="mod">
          <ac:chgData name="Tsikandylakis, Antonis" userId="ca19e47a-7a59-48ee-85eb-52dccb2011bc" providerId="ADAL" clId="{1568DF2F-4DA1-42DF-904E-6C18A6A2C565}" dt="2026-03-05T21:10:00.616" v="378"/>
          <ac:spMkLst>
            <pc:docMk/>
            <pc:sldMk cId="0" sldId="613"/>
            <ac:spMk id="18" creationId="{2885DAB5-E074-9570-BF1B-F0F9EF3A6B7A}"/>
          </ac:spMkLst>
        </pc:spChg>
        <pc:spChg chg="mod">
          <ac:chgData name="Tsikandylakis, Antonis" userId="ca19e47a-7a59-48ee-85eb-52dccb2011bc" providerId="ADAL" clId="{1568DF2F-4DA1-42DF-904E-6C18A6A2C565}" dt="2026-03-05T21:10:05.398" v="380" actId="20577"/>
          <ac:spMkLst>
            <pc:docMk/>
            <pc:sldMk cId="0" sldId="613"/>
            <ac:spMk id="19" creationId="{75121BCD-D1F9-79F8-9D80-86BCA4915B19}"/>
          </ac:spMkLst>
        </pc:spChg>
        <pc:spChg chg="mod">
          <ac:chgData name="Tsikandylakis, Antonis" userId="ca19e47a-7a59-48ee-85eb-52dccb2011bc" providerId="ADAL" clId="{1568DF2F-4DA1-42DF-904E-6C18A6A2C565}" dt="2026-03-05T21:12:09.842" v="397" actId="20577"/>
          <ac:spMkLst>
            <pc:docMk/>
            <pc:sldMk cId="0" sldId="613"/>
            <ac:spMk id="41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12:51.135" v="427" actId="20577"/>
          <ac:spMkLst>
            <pc:docMk/>
            <pc:sldMk cId="0" sldId="613"/>
            <ac:spMk id="42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10:35.959" v="389" actId="20577"/>
          <ac:spMkLst>
            <pc:docMk/>
            <pc:sldMk cId="0" sldId="613"/>
            <ac:spMk id="38932" creationId="{00000000-0000-0000-0000-000000000000}"/>
          </ac:spMkLst>
        </pc:spChg>
        <pc:grpChg chg="add mod">
          <ac:chgData name="Tsikandylakis, Antonis" userId="ca19e47a-7a59-48ee-85eb-52dccb2011bc" providerId="ADAL" clId="{1568DF2F-4DA1-42DF-904E-6C18A6A2C565}" dt="2026-03-05T21:09:29.349" v="368" actId="14100"/>
          <ac:grpSpMkLst>
            <pc:docMk/>
            <pc:sldMk cId="0" sldId="613"/>
            <ac:grpSpMk id="8" creationId="{F00339BC-AE36-D120-FCBF-BE80996ADA00}"/>
          </ac:grpSpMkLst>
        </pc:grpChg>
        <pc:grpChg chg="add mod">
          <ac:chgData name="Tsikandylakis, Antonis" userId="ca19e47a-7a59-48ee-85eb-52dccb2011bc" providerId="ADAL" clId="{1568DF2F-4DA1-42DF-904E-6C18A6A2C565}" dt="2026-03-05T21:09:46.452" v="374" actId="14100"/>
          <ac:grpSpMkLst>
            <pc:docMk/>
            <pc:sldMk cId="0" sldId="613"/>
            <ac:grpSpMk id="11" creationId="{4D2A1643-8D23-A0BF-E918-812B951DE1B2}"/>
          </ac:grpSpMkLst>
        </pc:grpChg>
        <pc:grpChg chg="add mod">
          <ac:chgData name="Tsikandylakis, Antonis" userId="ca19e47a-7a59-48ee-85eb-52dccb2011bc" providerId="ADAL" clId="{1568DF2F-4DA1-42DF-904E-6C18A6A2C565}" dt="2026-03-05T21:10:14.124" v="383" actId="14100"/>
          <ac:grpSpMkLst>
            <pc:docMk/>
            <pc:sldMk cId="0" sldId="613"/>
            <ac:grpSpMk id="17" creationId="{D24E76DA-592E-DF94-F21F-1EFD9D419A2C}"/>
          </ac:grpSpMkLst>
        </pc:grpChg>
        <pc:grpChg chg="mod">
          <ac:chgData name="Tsikandylakis, Antonis" userId="ca19e47a-7a59-48ee-85eb-52dccb2011bc" providerId="ADAL" clId="{1568DF2F-4DA1-42DF-904E-6C18A6A2C565}" dt="2026-03-05T21:09:53.379" v="377" actId="1076"/>
          <ac:grpSpMkLst>
            <pc:docMk/>
            <pc:sldMk cId="0" sldId="613"/>
            <ac:grpSpMk id="35854" creationId="{00000000-0000-0000-0000-000000000000}"/>
          </ac:grpSpMkLst>
        </pc:grpChg>
        <pc:grpChg chg="mod">
          <ac:chgData name="Tsikandylakis, Antonis" userId="ca19e47a-7a59-48ee-85eb-52dccb2011bc" providerId="ADAL" clId="{1568DF2F-4DA1-42DF-904E-6C18A6A2C565}" dt="2026-03-05T21:09:15.281" v="362" actId="1076"/>
          <ac:grpSpMkLst>
            <pc:docMk/>
            <pc:sldMk cId="0" sldId="613"/>
            <ac:grpSpMk id="35855" creationId="{00000000-0000-0000-0000-000000000000}"/>
          </ac:grpSpMkLst>
        </pc:grpChg>
        <pc:cxnChg chg="add">
          <ac:chgData name="Tsikandylakis, Antonis" userId="ca19e47a-7a59-48ee-85eb-52dccb2011bc" providerId="ADAL" clId="{1568DF2F-4DA1-42DF-904E-6C18A6A2C565}" dt="2026-03-05T21:11:02.566" v="390" actId="11529"/>
          <ac:cxnSpMkLst>
            <pc:docMk/>
            <pc:sldMk cId="0" sldId="613"/>
            <ac:cxnSpMk id="21" creationId="{6BDA9A39-4DEB-547C-2FA7-74B7A944AB7E}"/>
          </ac:cxnSpMkLst>
        </pc:cxnChg>
        <pc:cxnChg chg="add">
          <ac:chgData name="Tsikandylakis, Antonis" userId="ca19e47a-7a59-48ee-85eb-52dccb2011bc" providerId="ADAL" clId="{1568DF2F-4DA1-42DF-904E-6C18A6A2C565}" dt="2026-03-05T21:11:10.322" v="391" actId="11529"/>
          <ac:cxnSpMkLst>
            <pc:docMk/>
            <pc:sldMk cId="0" sldId="613"/>
            <ac:cxnSpMk id="23" creationId="{0D65CE03-FA59-F5FB-60DC-9971170FBEB0}"/>
          </ac:cxnSpMkLst>
        </pc:cxnChg>
      </pc:sldChg>
      <pc:sldChg chg="addSp modSp mod">
        <pc:chgData name="Tsikandylakis, Antonis" userId="ca19e47a-7a59-48ee-85eb-52dccb2011bc" providerId="ADAL" clId="{1568DF2F-4DA1-42DF-904E-6C18A6A2C565}" dt="2026-03-05T21:33:57.485" v="1100" actId="1076"/>
        <pc:sldMkLst>
          <pc:docMk/>
          <pc:sldMk cId="0" sldId="616"/>
        </pc:sldMkLst>
        <pc:spChg chg="add">
          <ac:chgData name="Tsikandylakis, Antonis" userId="ca19e47a-7a59-48ee-85eb-52dccb2011bc" providerId="ADAL" clId="{1568DF2F-4DA1-42DF-904E-6C18A6A2C565}" dt="2026-03-05T21:29:42.925" v="920" actId="11529"/>
          <ac:spMkLst>
            <pc:docMk/>
            <pc:sldMk cId="0" sldId="616"/>
            <ac:spMk id="2" creationId="{C9A70B34-1332-416D-AF0C-F4B2F503C85D}"/>
          </ac:spMkLst>
        </pc:spChg>
        <pc:spChg chg="add mod">
          <ac:chgData name="Tsikandylakis, Antonis" userId="ca19e47a-7a59-48ee-85eb-52dccb2011bc" providerId="ADAL" clId="{1568DF2F-4DA1-42DF-904E-6C18A6A2C565}" dt="2026-03-05T21:30:09.150" v="928" actId="14100"/>
          <ac:spMkLst>
            <pc:docMk/>
            <pc:sldMk cId="0" sldId="616"/>
            <ac:spMk id="7" creationId="{A3BE655B-17C7-FE8B-A76C-D5EF63665820}"/>
          </ac:spMkLst>
        </pc:spChg>
        <pc:spChg chg="add mod">
          <ac:chgData name="Tsikandylakis, Antonis" userId="ca19e47a-7a59-48ee-85eb-52dccb2011bc" providerId="ADAL" clId="{1568DF2F-4DA1-42DF-904E-6C18A6A2C565}" dt="2026-03-05T21:30:31.410" v="948" actId="14100"/>
          <ac:spMkLst>
            <pc:docMk/>
            <pc:sldMk cId="0" sldId="616"/>
            <ac:spMk id="8" creationId="{E1E84926-F135-A415-DC57-DFAED3B68070}"/>
          </ac:spMkLst>
        </pc:spChg>
        <pc:spChg chg="add mod">
          <ac:chgData name="Tsikandylakis, Antonis" userId="ca19e47a-7a59-48ee-85eb-52dccb2011bc" providerId="ADAL" clId="{1568DF2F-4DA1-42DF-904E-6C18A6A2C565}" dt="2026-03-05T21:30:59.333" v="973" actId="20577"/>
          <ac:spMkLst>
            <pc:docMk/>
            <pc:sldMk cId="0" sldId="616"/>
            <ac:spMk id="13" creationId="{A81A1780-86B6-81F5-092C-CB68230781C8}"/>
          </ac:spMkLst>
        </pc:spChg>
        <pc:spChg chg="add mod">
          <ac:chgData name="Tsikandylakis, Antonis" userId="ca19e47a-7a59-48ee-85eb-52dccb2011bc" providerId="ADAL" clId="{1568DF2F-4DA1-42DF-904E-6C18A6A2C565}" dt="2026-03-05T21:31:56.648" v="976" actId="207"/>
          <ac:spMkLst>
            <pc:docMk/>
            <pc:sldMk cId="0" sldId="616"/>
            <ac:spMk id="16" creationId="{63A9D707-9C53-0077-8367-16103AF1EC70}"/>
          </ac:spMkLst>
        </pc:spChg>
        <pc:spChg chg="add mod">
          <ac:chgData name="Tsikandylakis, Antonis" userId="ca19e47a-7a59-48ee-85eb-52dccb2011bc" providerId="ADAL" clId="{1568DF2F-4DA1-42DF-904E-6C18A6A2C565}" dt="2026-03-05T21:32:11.887" v="992" actId="20577"/>
          <ac:spMkLst>
            <pc:docMk/>
            <pc:sldMk cId="0" sldId="616"/>
            <ac:spMk id="17" creationId="{3728C0D8-8DE6-A4D5-B348-982387F6B8CA}"/>
          </ac:spMkLst>
        </pc:spChg>
        <pc:spChg chg="add mod">
          <ac:chgData name="Tsikandylakis, Antonis" userId="ca19e47a-7a59-48ee-85eb-52dccb2011bc" providerId="ADAL" clId="{1568DF2F-4DA1-42DF-904E-6C18A6A2C565}" dt="2026-03-05T21:33:13.962" v="1069" actId="207"/>
          <ac:spMkLst>
            <pc:docMk/>
            <pc:sldMk cId="0" sldId="616"/>
            <ac:spMk id="18" creationId="{C4B4B5EA-ED84-A11A-EF7B-69E4E6B7D1F4}"/>
          </ac:spMkLst>
        </pc:spChg>
        <pc:spChg chg="add mod">
          <ac:chgData name="Tsikandylakis, Antonis" userId="ca19e47a-7a59-48ee-85eb-52dccb2011bc" providerId="ADAL" clId="{1568DF2F-4DA1-42DF-904E-6C18A6A2C565}" dt="2026-03-05T21:33:57.485" v="1100" actId="1076"/>
          <ac:spMkLst>
            <pc:docMk/>
            <pc:sldMk cId="0" sldId="616"/>
            <ac:spMk id="20" creationId="{199A3891-318D-163B-AB92-A413FD97C522}"/>
          </ac:spMkLst>
        </pc:spChg>
        <pc:spChg chg="mod">
          <ac:chgData name="Tsikandylakis, Antonis" userId="ca19e47a-7a59-48ee-85eb-52dccb2011bc" providerId="ADAL" clId="{1568DF2F-4DA1-42DF-904E-6C18A6A2C565}" dt="2026-03-05T21:32:51.072" v="1040" actId="20577"/>
          <ac:spMkLst>
            <pc:docMk/>
            <pc:sldMk cId="0" sldId="616"/>
            <ac:spMk id="44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32:58.182" v="1065" actId="20577"/>
          <ac:spMkLst>
            <pc:docMk/>
            <pc:sldMk cId="0" sldId="616"/>
            <ac:spMk id="45" creationId="{00000000-0000-0000-0000-000000000000}"/>
          </ac:spMkLst>
        </pc:spChg>
        <pc:cxnChg chg="add mod">
          <ac:chgData name="Tsikandylakis, Antonis" userId="ca19e47a-7a59-48ee-85eb-52dccb2011bc" providerId="ADAL" clId="{1568DF2F-4DA1-42DF-904E-6C18A6A2C565}" dt="2026-03-05T21:30:47.110" v="952" actId="14100"/>
          <ac:cxnSpMkLst>
            <pc:docMk/>
            <pc:sldMk cId="0" sldId="616"/>
            <ac:cxnSpMk id="10" creationId="{3904B9DA-5653-B431-5782-6C0EB592175D}"/>
          </ac:cxnSpMkLst>
        </pc:cxnChg>
        <pc:cxnChg chg="add">
          <ac:chgData name="Tsikandylakis, Antonis" userId="ca19e47a-7a59-48ee-85eb-52dccb2011bc" providerId="ADAL" clId="{1568DF2F-4DA1-42DF-904E-6C18A6A2C565}" dt="2026-03-05T21:31:05.961" v="974" actId="11529"/>
          <ac:cxnSpMkLst>
            <pc:docMk/>
            <pc:sldMk cId="0" sldId="616"/>
            <ac:cxnSpMk id="15" creationId="{AEB2636E-E86E-6AF2-380B-45824F41AAD0}"/>
          </ac:cxnSpMkLst>
        </pc:cxnChg>
        <pc:cxnChg chg="mod">
          <ac:chgData name="Tsikandylakis, Antonis" userId="ca19e47a-7a59-48ee-85eb-52dccb2011bc" providerId="ADAL" clId="{1568DF2F-4DA1-42DF-904E-6C18A6A2C565}" dt="2026-03-05T21:33:24.386" v="1071" actId="14100"/>
          <ac:cxnSpMkLst>
            <pc:docMk/>
            <pc:sldMk cId="0" sldId="616"/>
            <ac:cxnSpMk id="52" creationId="{00000000-0000-0000-0000-000000000000}"/>
          </ac:cxnSpMkLst>
        </pc:cxnChg>
      </pc:sldChg>
      <pc:sldChg chg="addSp modSp mod">
        <pc:chgData name="Tsikandylakis, Antonis" userId="ca19e47a-7a59-48ee-85eb-52dccb2011bc" providerId="ADAL" clId="{1568DF2F-4DA1-42DF-904E-6C18A6A2C565}" dt="2026-03-05T21:50:11.934" v="1445" actId="20577"/>
        <pc:sldMkLst>
          <pc:docMk/>
          <pc:sldMk cId="0" sldId="618"/>
        </pc:sldMkLst>
        <pc:spChg chg="add">
          <ac:chgData name="Tsikandylakis, Antonis" userId="ca19e47a-7a59-48ee-85eb-52dccb2011bc" providerId="ADAL" clId="{1568DF2F-4DA1-42DF-904E-6C18A6A2C565}" dt="2026-03-05T21:47:58.941" v="1334" actId="11529"/>
          <ac:spMkLst>
            <pc:docMk/>
            <pc:sldMk cId="0" sldId="618"/>
            <ac:spMk id="2" creationId="{394ABDC5-5D61-0B5B-06E8-2B59C157B209}"/>
          </ac:spMkLst>
        </pc:spChg>
        <pc:spChg chg="add mod">
          <ac:chgData name="Tsikandylakis, Antonis" userId="ca19e47a-7a59-48ee-85eb-52dccb2011bc" providerId="ADAL" clId="{1568DF2F-4DA1-42DF-904E-6C18A6A2C565}" dt="2026-03-05T21:48:33.950" v="1340" actId="207"/>
          <ac:spMkLst>
            <pc:docMk/>
            <pc:sldMk cId="0" sldId="618"/>
            <ac:spMk id="3" creationId="{0005E703-DD03-2EE2-76C8-07E173EB5F49}"/>
          </ac:spMkLst>
        </pc:spChg>
        <pc:spChg chg="add mod">
          <ac:chgData name="Tsikandylakis, Antonis" userId="ca19e47a-7a59-48ee-85eb-52dccb2011bc" providerId="ADAL" clId="{1568DF2F-4DA1-42DF-904E-6C18A6A2C565}" dt="2026-03-05T21:48:29.284" v="1339" actId="207"/>
          <ac:spMkLst>
            <pc:docMk/>
            <pc:sldMk cId="0" sldId="618"/>
            <ac:spMk id="4" creationId="{9B31C2EA-CD54-1877-9631-8219F050636F}"/>
          </ac:spMkLst>
        </pc:spChg>
        <pc:spChg chg="add mod">
          <ac:chgData name="Tsikandylakis, Antonis" userId="ca19e47a-7a59-48ee-85eb-52dccb2011bc" providerId="ADAL" clId="{1568DF2F-4DA1-42DF-904E-6C18A6A2C565}" dt="2026-03-05T21:48:52.020" v="1364" actId="1076"/>
          <ac:spMkLst>
            <pc:docMk/>
            <pc:sldMk cId="0" sldId="618"/>
            <ac:spMk id="5" creationId="{AF817403-DC15-62CB-1891-A1297911E482}"/>
          </ac:spMkLst>
        </pc:spChg>
        <pc:spChg chg="add mod">
          <ac:chgData name="Tsikandylakis, Antonis" userId="ca19e47a-7a59-48ee-85eb-52dccb2011bc" providerId="ADAL" clId="{1568DF2F-4DA1-42DF-904E-6C18A6A2C565}" dt="2026-03-05T21:49:16.875" v="1391" actId="1076"/>
          <ac:spMkLst>
            <pc:docMk/>
            <pc:sldMk cId="0" sldId="618"/>
            <ac:spMk id="6" creationId="{CFACEE08-C13D-78D9-595D-6BA0904B0A6A}"/>
          </ac:spMkLst>
        </pc:spChg>
        <pc:spChg chg="add mod">
          <ac:chgData name="Tsikandylakis, Antonis" userId="ca19e47a-7a59-48ee-85eb-52dccb2011bc" providerId="ADAL" clId="{1568DF2F-4DA1-42DF-904E-6C18A6A2C565}" dt="2026-03-05T21:49:28.185" v="1414" actId="404"/>
          <ac:spMkLst>
            <pc:docMk/>
            <pc:sldMk cId="0" sldId="618"/>
            <ac:spMk id="7" creationId="{C4A9F040-D530-CABF-29AA-75796F020208}"/>
          </ac:spMkLst>
        </pc:spChg>
        <pc:spChg chg="add mod">
          <ac:chgData name="Tsikandylakis, Antonis" userId="ca19e47a-7a59-48ee-85eb-52dccb2011bc" providerId="ADAL" clId="{1568DF2F-4DA1-42DF-904E-6C18A6A2C565}" dt="2026-03-05T21:50:03.623" v="1419" actId="207"/>
          <ac:spMkLst>
            <pc:docMk/>
            <pc:sldMk cId="0" sldId="618"/>
            <ac:spMk id="8" creationId="{329A6614-3C52-FCD8-B2B9-8869FAD972A0}"/>
          </ac:spMkLst>
        </pc:spChg>
        <pc:spChg chg="mod">
          <ac:chgData name="Tsikandylakis, Antonis" userId="ca19e47a-7a59-48ee-85eb-52dccb2011bc" providerId="ADAL" clId="{1568DF2F-4DA1-42DF-904E-6C18A6A2C565}" dt="2026-03-05T21:45:29.379" v="1333" actId="20577"/>
          <ac:spMkLst>
            <pc:docMk/>
            <pc:sldMk cId="0" sldId="618"/>
            <ac:spMk id="64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50:11.934" v="1445" actId="20577"/>
          <ac:spMkLst>
            <pc:docMk/>
            <pc:sldMk cId="0" sldId="618"/>
            <ac:spMk id="65" creationId="{00000000-0000-0000-0000-000000000000}"/>
          </ac:spMkLst>
        </pc:spChg>
      </pc:sldChg>
      <pc:sldChg chg="addSp delSp modSp mod">
        <pc:chgData name="Tsikandylakis, Antonis" userId="ca19e47a-7a59-48ee-85eb-52dccb2011bc" providerId="ADAL" clId="{1568DF2F-4DA1-42DF-904E-6C18A6A2C565}" dt="2026-03-05T21:43:03.366" v="1283" actId="20577"/>
        <pc:sldMkLst>
          <pc:docMk/>
          <pc:sldMk cId="0" sldId="619"/>
        </pc:sldMkLst>
        <pc:spChg chg="add">
          <ac:chgData name="Tsikandylakis, Antonis" userId="ca19e47a-7a59-48ee-85eb-52dccb2011bc" providerId="ADAL" clId="{1568DF2F-4DA1-42DF-904E-6C18A6A2C565}" dt="2026-03-05T21:38:10.386" v="1115" actId="11529"/>
          <ac:spMkLst>
            <pc:docMk/>
            <pc:sldMk cId="0" sldId="619"/>
            <ac:spMk id="2" creationId="{4EB2481A-F50B-E479-14CC-84E502DE4974}"/>
          </ac:spMkLst>
        </pc:spChg>
        <pc:spChg chg="add mod">
          <ac:chgData name="Tsikandylakis, Antonis" userId="ca19e47a-7a59-48ee-85eb-52dccb2011bc" providerId="ADAL" clId="{1568DF2F-4DA1-42DF-904E-6C18A6A2C565}" dt="2026-03-05T21:38:31.636" v="1119" actId="207"/>
          <ac:spMkLst>
            <pc:docMk/>
            <pc:sldMk cId="0" sldId="619"/>
            <ac:spMk id="4" creationId="{35F9C4DE-669F-0B0B-E07C-F10D7604A3D4}"/>
          </ac:spMkLst>
        </pc:spChg>
        <pc:spChg chg="add mod">
          <ac:chgData name="Tsikandylakis, Antonis" userId="ca19e47a-7a59-48ee-85eb-52dccb2011bc" providerId="ADAL" clId="{1568DF2F-4DA1-42DF-904E-6C18A6A2C565}" dt="2026-03-05T21:39:01.899" v="1152" actId="14100"/>
          <ac:spMkLst>
            <pc:docMk/>
            <pc:sldMk cId="0" sldId="619"/>
            <ac:spMk id="6" creationId="{C084D3CB-9114-4FED-8B00-CA2E37C5A7CA}"/>
          </ac:spMkLst>
        </pc:spChg>
        <pc:spChg chg="add mod">
          <ac:chgData name="Tsikandylakis, Antonis" userId="ca19e47a-7a59-48ee-85eb-52dccb2011bc" providerId="ADAL" clId="{1568DF2F-4DA1-42DF-904E-6C18A6A2C565}" dt="2026-03-05T21:39:27.634" v="1181" actId="313"/>
          <ac:spMkLst>
            <pc:docMk/>
            <pc:sldMk cId="0" sldId="619"/>
            <ac:spMk id="7" creationId="{AA5A58EF-9678-8164-3345-7824FD532F17}"/>
          </ac:spMkLst>
        </pc:spChg>
        <pc:spChg chg="add mod">
          <ac:chgData name="Tsikandylakis, Antonis" userId="ca19e47a-7a59-48ee-85eb-52dccb2011bc" providerId="ADAL" clId="{1568DF2F-4DA1-42DF-904E-6C18A6A2C565}" dt="2026-03-05T21:41:22.903" v="1226" actId="1076"/>
          <ac:spMkLst>
            <pc:docMk/>
            <pc:sldMk cId="0" sldId="619"/>
            <ac:spMk id="9" creationId="{8257DDEF-F378-91DF-3AD4-459213D4C779}"/>
          </ac:spMkLst>
        </pc:spChg>
        <pc:spChg chg="add mod">
          <ac:chgData name="Tsikandylakis, Antonis" userId="ca19e47a-7a59-48ee-85eb-52dccb2011bc" providerId="ADAL" clId="{1568DF2F-4DA1-42DF-904E-6C18A6A2C565}" dt="2026-03-05T21:41:51.814" v="1252" actId="14100"/>
          <ac:spMkLst>
            <pc:docMk/>
            <pc:sldMk cId="0" sldId="619"/>
            <ac:spMk id="12" creationId="{A0FEA16E-9794-9065-A2CA-6199B2F6E4C5}"/>
          </ac:spMkLst>
        </pc:spChg>
        <pc:spChg chg="mod">
          <ac:chgData name="Tsikandylakis, Antonis" userId="ca19e47a-7a59-48ee-85eb-52dccb2011bc" providerId="ADAL" clId="{1568DF2F-4DA1-42DF-904E-6C18A6A2C565}" dt="2026-03-05T21:40:15.316" v="1219" actId="20577"/>
          <ac:spMkLst>
            <pc:docMk/>
            <pc:sldMk cId="0" sldId="619"/>
            <ac:spMk id="61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43:03.366" v="1283" actId="20577"/>
          <ac:spMkLst>
            <pc:docMk/>
            <pc:sldMk cId="0" sldId="619"/>
            <ac:spMk id="77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41:35.174" v="1229" actId="1076"/>
          <ac:spMkLst>
            <pc:docMk/>
            <pc:sldMk cId="0" sldId="619"/>
            <ac:spMk id="44038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3-05T21:41:19.844" v="1225" actId="1076"/>
          <ac:spMkLst>
            <pc:docMk/>
            <pc:sldMk cId="0" sldId="619"/>
            <ac:spMk id="44070" creationId="{00000000-0000-0000-0000-000000000000}"/>
          </ac:spMkLst>
        </pc:spChg>
        <pc:cxnChg chg="add">
          <ac:chgData name="Tsikandylakis, Antonis" userId="ca19e47a-7a59-48ee-85eb-52dccb2011bc" providerId="ADAL" clId="{1568DF2F-4DA1-42DF-904E-6C18A6A2C565}" dt="2026-03-05T21:41:30.192" v="1227" actId="11529"/>
          <ac:cxnSpMkLst>
            <pc:docMk/>
            <pc:sldMk cId="0" sldId="619"/>
            <ac:cxnSpMk id="11" creationId="{76957600-91CC-6633-1AF8-A8D4015D8B0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ADBA8C6-227F-46B6-B658-11ECEAFBB4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63488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2004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C2E8B5-9045-4682-85AA-41771F360F5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172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62F1B9-63E4-4B85-9818-9CC041F9699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93314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C22E16-5F11-4B9B-B369-C67E007342A9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28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5553AC-1359-4926-BDB9-444DFC9F0FB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2114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3D5BF5-44D9-477A-9021-CA261DA4A56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7580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1E3F78-88CC-4691-88D2-AE70DD06A6A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2325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37EC68-4CE6-48A4-8ADC-35535DBEA71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000" i="0" dirty="0"/>
          </a:p>
        </p:txBody>
      </p:sp>
    </p:spTree>
    <p:extLst>
      <p:ext uri="{BB962C8B-B14F-4D97-AF65-F5344CB8AC3E}">
        <p14:creationId xmlns:p14="http://schemas.microsoft.com/office/powerpoint/2010/main" val="3283162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0FA23D-E86E-43F5-9412-BE0970AB08A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6499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DBA8C6-227F-46B6-B658-11ECEAFBB47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3775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4242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3B6D56-D99C-4F03-A1C0-00ABF2072BC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03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F140C5-B006-4560-AF3F-592E49F545F2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8586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ABF90D-C62B-456F-A5A2-CC440434605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5991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0663"/>
            <a:ext cx="2286000" cy="58753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0663"/>
            <a:ext cx="6705600" cy="58753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ller_slideBckgd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173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35524" name="Rectangle 4"/>
          <p:cNvSpPr>
            <a:spLocks noChangeArrowheads="1"/>
          </p:cNvSpPr>
          <p:nvPr/>
        </p:nvSpPr>
        <p:spPr bwMode="auto">
          <a:xfrm>
            <a:off x="6799263" y="6400800"/>
            <a:ext cx="199072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r">
              <a:defRPr/>
            </a:pPr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Slide 32-</a:t>
            </a:r>
            <a:fld id="{FE8EC356-800E-4119-BED8-6F3BFEBAF887}" type="slidenum">
              <a:rPr lang="en-US" altLang="en-US" sz="1800">
                <a:solidFill>
                  <a:srgbClr val="000099"/>
                </a:solidFill>
                <a:latin typeface="Arial" charset="0"/>
              </a:rPr>
              <a:pPr algn="r">
                <a:defRPr/>
              </a:pPr>
              <a:t>‹#›</a:t>
            </a:fld>
            <a:endParaRPr lang="en-US" altLang="en-US" sz="180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0" y="220663"/>
            <a:ext cx="91440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9" r:id="rId1"/>
    <p:sldLayoutId id="2147484390" r:id="rId2"/>
    <p:sldLayoutId id="2147484391" r:id="rId3"/>
    <p:sldLayoutId id="2147484392" r:id="rId4"/>
    <p:sldLayoutId id="2147484393" r:id="rId5"/>
    <p:sldLayoutId id="2147484394" r:id="rId6"/>
    <p:sldLayoutId id="2147484395" r:id="rId7"/>
    <p:sldLayoutId id="2147484396" r:id="rId8"/>
    <p:sldLayoutId id="2147484397" r:id="rId9"/>
    <p:sldLayoutId id="2147484398" r:id="rId10"/>
    <p:sldLayoutId id="214748439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i="0" u="none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9pPr>
    </p:titleStyle>
    <p:bodyStyle>
      <a:lvl1pPr marL="514350" indent="-514350" algn="l" rtl="0" eaLnBrk="0" fontAlgn="base" hangingPunct="0">
        <a:spcBef>
          <a:spcPct val="70000"/>
        </a:spcBef>
        <a:spcAft>
          <a:spcPct val="0"/>
        </a:spcAft>
        <a:buClr>
          <a:srgbClr val="01406A"/>
        </a:buClr>
        <a:buSzPct val="10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spcBef>
          <a:spcPct val="40000"/>
        </a:spcBef>
        <a:spcAft>
          <a:spcPct val="0"/>
        </a:spcAft>
        <a:buClr>
          <a:srgbClr val="01406A"/>
        </a:buClr>
        <a:buSzPct val="100000"/>
        <a:buChar char="–"/>
        <a:defRPr sz="2800" b="0" i="0" u="none">
          <a:solidFill>
            <a:schemeClr val="tx1"/>
          </a:solidFill>
          <a:latin typeface="+mn-lt"/>
        </a:defRPr>
      </a:lvl2pPr>
      <a:lvl3pPr marL="12573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–"/>
        <a:defRPr sz="2400">
          <a:solidFill>
            <a:schemeClr val="tx1"/>
          </a:solidFill>
          <a:latin typeface="+mn-lt"/>
        </a:defRPr>
      </a:lvl4pPr>
      <a:lvl5pPr marL="19431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5pPr>
      <a:lvl6pPr marL="24003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6pPr>
      <a:lvl7pPr marL="28575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7pPr>
      <a:lvl8pPr marL="33147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8pPr>
      <a:lvl9pPr marL="37719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Learning Objective #3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33714"/>
            <a:ext cx="9144000" cy="5624286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6000" dirty="0"/>
              <a:t>Explain, illustrate and analyze the effects of a tax in the market.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09713"/>
            <a:ext cx="9144000" cy="4586287"/>
          </a:xfrm>
        </p:spPr>
        <p:txBody>
          <a:bodyPr/>
          <a:lstStyle/>
          <a:p>
            <a:pPr lvl="1"/>
            <a:r>
              <a:rPr lang="en-US" sz="2400"/>
              <a:t>Everything you earn and most things you buy are taxed.</a:t>
            </a:r>
          </a:p>
          <a:p>
            <a:pPr lvl="1"/>
            <a:r>
              <a:rPr lang="en-US" sz="2400"/>
              <a:t>You pay: income, Social Security &amp; Medicare, sales taxes</a:t>
            </a:r>
          </a:p>
          <a:p>
            <a:pPr lvl="1"/>
            <a:r>
              <a:rPr lang="en-US" sz="2400"/>
              <a:t>Your employer: Social Security &amp; Medicare, corporate, unemployment taxes</a:t>
            </a:r>
          </a:p>
          <a:p>
            <a:pPr lvl="1"/>
            <a:r>
              <a:rPr lang="en-US" sz="2400"/>
              <a:t>Who </a:t>
            </a:r>
            <a:r>
              <a:rPr lang="en-US" sz="2400" i="1"/>
              <a:t>really</a:t>
            </a:r>
            <a:r>
              <a:rPr lang="en-US" sz="2400"/>
              <a:t> pays these taxes?</a:t>
            </a:r>
          </a:p>
          <a:p>
            <a:pPr lvl="1"/>
            <a:r>
              <a:rPr lang="en-US" sz="2400"/>
              <a:t>You’re going to discover that it isn’t obvious who pays a tax and that lawmakers don’t decide who will pay!</a:t>
            </a:r>
          </a:p>
        </p:txBody>
      </p:sp>
    </p:spTree>
    <p:custDataLst>
      <p:tags r:id="rId1"/>
    </p:custDataLst>
  </p:cSld>
  <p:clrMapOvr>
    <a:masterClrMapping/>
  </p:clrMapOvr>
  <p:transition spd="med"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Taxes: Incidence</a:t>
            </a:r>
          </a:p>
        </p:txBody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46238"/>
            <a:ext cx="89408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Tax Incidence</a:t>
            </a: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Tax incidence</a:t>
            </a:r>
            <a:r>
              <a:rPr lang="en-US" sz="2400" dirty="0"/>
              <a:t> is the division of the burden of a tax between the buyer and the seller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When an item is taxed, its price might rise by the full amount of the tax, by a lesser amount, or not at all.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If the price rises by the full amount of the tax, the buyer pays the tax			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If the price rise by a lesser amount than the tax, the buyer and seller share the burden of the tax  		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If the price doesn’t rise at all, the seller pays the tax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bldLvl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Grp="1" noChangeArrowheads="1"/>
          </p:cNvSpPr>
          <p:nvPr>
            <p:ph type="title"/>
          </p:nvPr>
        </p:nvSpPr>
        <p:spPr>
          <a:xfrm>
            <a:off x="-60960" y="-15081"/>
            <a:ext cx="9144000" cy="1143000"/>
          </a:xfrm>
        </p:spPr>
        <p:txBody>
          <a:bodyPr/>
          <a:lstStyle/>
          <a:p>
            <a:r>
              <a:rPr lang="en-US" sz="4000" dirty="0"/>
              <a:t>($5)Tax on Sellers</a:t>
            </a:r>
            <a:endParaRPr lang="en-US" altLang="en-US" dirty="0"/>
          </a:p>
        </p:txBody>
      </p:sp>
      <p:sp>
        <p:nvSpPr>
          <p:cNvPr id="34820" name="Line 6"/>
          <p:cNvSpPr>
            <a:spLocks noChangeShapeType="1"/>
          </p:cNvSpPr>
          <p:nvPr/>
        </p:nvSpPr>
        <p:spPr bwMode="auto">
          <a:xfrm>
            <a:off x="3001963" y="2355850"/>
            <a:ext cx="0" cy="37068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Line 7"/>
          <p:cNvSpPr>
            <a:spLocks noChangeShapeType="1"/>
          </p:cNvSpPr>
          <p:nvPr/>
        </p:nvSpPr>
        <p:spPr bwMode="auto">
          <a:xfrm>
            <a:off x="2982913" y="6054725"/>
            <a:ext cx="4270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918" name="Text Box 8"/>
          <p:cNvSpPr txBox="1">
            <a:spLocks noChangeArrowheads="1"/>
          </p:cNvSpPr>
          <p:nvPr/>
        </p:nvSpPr>
        <p:spPr bwMode="auto">
          <a:xfrm>
            <a:off x="2506663" y="3519488"/>
            <a:ext cx="4413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 i="1">
                <a:latin typeface="Arial" charset="0"/>
              </a:rPr>
              <a:t>$8</a:t>
            </a:r>
            <a:endParaRPr lang="en-US" altLang="en-US" sz="1800" i="1"/>
          </a:p>
        </p:txBody>
      </p:sp>
      <p:sp>
        <p:nvSpPr>
          <p:cNvPr id="38920" name="Text Box 10"/>
          <p:cNvSpPr txBox="1">
            <a:spLocks noChangeArrowheads="1"/>
          </p:cNvSpPr>
          <p:nvPr/>
        </p:nvSpPr>
        <p:spPr bwMode="auto">
          <a:xfrm>
            <a:off x="4184650" y="6107113"/>
            <a:ext cx="4460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 i="1">
                <a:latin typeface="Arial" charset="0"/>
              </a:rPr>
              <a:t>75</a:t>
            </a:r>
            <a:endParaRPr lang="en-US" altLang="en-US" sz="1800" i="1" baseline="-25000"/>
          </a:p>
        </p:txBody>
      </p:sp>
      <p:sp>
        <p:nvSpPr>
          <p:cNvPr id="34825" name="Text Box 11"/>
          <p:cNvSpPr txBox="1">
            <a:spLocks noChangeArrowheads="1"/>
          </p:cNvSpPr>
          <p:nvPr/>
        </p:nvSpPr>
        <p:spPr bwMode="auto">
          <a:xfrm>
            <a:off x="4973638" y="3929063"/>
            <a:ext cx="420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Arial" charset="0"/>
              </a:rPr>
              <a:t>E</a:t>
            </a:r>
            <a:r>
              <a:rPr lang="en-US" altLang="en-US" sz="1800" i="1" baseline="-25000">
                <a:latin typeface="Arial" charset="0"/>
              </a:rPr>
              <a:t>1</a:t>
            </a:r>
            <a:endParaRPr lang="en-US" altLang="en-US" sz="1800" i="1">
              <a:latin typeface="Arial" charset="0"/>
            </a:endParaRPr>
          </a:p>
        </p:txBody>
      </p:sp>
      <p:sp>
        <p:nvSpPr>
          <p:cNvPr id="34826" name="Text Box 12"/>
          <p:cNvSpPr txBox="1">
            <a:spLocks noChangeArrowheads="1"/>
          </p:cNvSpPr>
          <p:nvPr/>
        </p:nvSpPr>
        <p:spPr bwMode="auto">
          <a:xfrm>
            <a:off x="5815013" y="4991100"/>
            <a:ext cx="3444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 i="1">
                <a:latin typeface="Arial" charset="0"/>
              </a:rPr>
              <a:t>D</a:t>
            </a:r>
            <a:endParaRPr lang="en-US" altLang="en-US" sz="3200" i="1"/>
          </a:p>
        </p:txBody>
      </p:sp>
      <p:sp>
        <p:nvSpPr>
          <p:cNvPr id="34827" name="Line 15"/>
          <p:cNvSpPr>
            <a:spLocks noChangeShapeType="1"/>
          </p:cNvSpPr>
          <p:nvPr/>
        </p:nvSpPr>
        <p:spPr bwMode="auto">
          <a:xfrm>
            <a:off x="3743325" y="3095625"/>
            <a:ext cx="2100263" cy="1960563"/>
          </a:xfrm>
          <a:prstGeom prst="line">
            <a:avLst/>
          </a:prstGeom>
          <a:noFill/>
          <a:ln w="28575">
            <a:solidFill>
              <a:srgbClr val="2D69AE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8" name="Line 16"/>
          <p:cNvSpPr>
            <a:spLocks noChangeShapeType="1"/>
          </p:cNvSpPr>
          <p:nvPr/>
        </p:nvSpPr>
        <p:spPr bwMode="auto">
          <a:xfrm flipV="1">
            <a:off x="3763963" y="3371850"/>
            <a:ext cx="2906712" cy="1963738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4829" name="Group 35"/>
          <p:cNvGrpSpPr>
            <a:grpSpLocks/>
          </p:cNvGrpSpPr>
          <p:nvPr/>
        </p:nvGrpSpPr>
        <p:grpSpPr bwMode="auto">
          <a:xfrm>
            <a:off x="4946650" y="4386263"/>
            <a:ext cx="598488" cy="2087562"/>
            <a:chOff x="2746" y="2772"/>
            <a:chExt cx="377" cy="1315"/>
          </a:xfrm>
        </p:grpSpPr>
        <p:sp>
          <p:nvSpPr>
            <p:cNvPr id="34848" name="Line 13"/>
            <p:cNvSpPr>
              <a:spLocks noChangeShapeType="1"/>
            </p:cNvSpPr>
            <p:nvPr/>
          </p:nvSpPr>
          <p:spPr bwMode="auto">
            <a:xfrm>
              <a:off x="2880" y="2772"/>
              <a:ext cx="0" cy="1045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49" name="Text Box 14"/>
            <p:cNvSpPr txBox="1">
              <a:spLocks noChangeArrowheads="1"/>
            </p:cNvSpPr>
            <p:nvPr/>
          </p:nvSpPr>
          <p:spPr bwMode="auto">
            <a:xfrm>
              <a:off x="2746" y="3856"/>
              <a:ext cx="37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100</a:t>
              </a:r>
              <a:endParaRPr lang="en-US" altLang="en-US" sz="1800" i="1"/>
            </a:p>
          </p:txBody>
        </p:sp>
      </p:grpSp>
      <p:grpSp>
        <p:nvGrpSpPr>
          <p:cNvPr id="34830" name="Group 34"/>
          <p:cNvGrpSpPr>
            <a:grpSpLocks/>
          </p:cNvGrpSpPr>
          <p:nvPr/>
        </p:nvGrpSpPr>
        <p:grpSpPr bwMode="auto">
          <a:xfrm>
            <a:off x="2506663" y="4230688"/>
            <a:ext cx="2652712" cy="369887"/>
            <a:chOff x="1209" y="2674"/>
            <a:chExt cx="1671" cy="233"/>
          </a:xfrm>
        </p:grpSpPr>
        <p:sp>
          <p:nvSpPr>
            <p:cNvPr id="34846" name="Line 24"/>
            <p:cNvSpPr>
              <a:spLocks noChangeShapeType="1"/>
            </p:cNvSpPr>
            <p:nvPr/>
          </p:nvSpPr>
          <p:spPr bwMode="auto">
            <a:xfrm>
              <a:off x="1520" y="2784"/>
              <a:ext cx="1360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47" name="Text Box 25"/>
            <p:cNvSpPr txBox="1">
              <a:spLocks noChangeArrowheads="1"/>
            </p:cNvSpPr>
            <p:nvPr/>
          </p:nvSpPr>
          <p:spPr bwMode="auto">
            <a:xfrm>
              <a:off x="1209" y="2674"/>
              <a:ext cx="2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$5</a:t>
              </a:r>
              <a:endParaRPr lang="en-US" altLang="en-US" sz="1800" i="1"/>
            </a:p>
          </p:txBody>
        </p:sp>
      </p:grpSp>
      <p:sp>
        <p:nvSpPr>
          <p:cNvPr id="34833" name="Text Box 19"/>
          <p:cNvSpPr txBox="1">
            <a:spLocks noChangeArrowheads="1"/>
          </p:cNvSpPr>
          <p:nvPr/>
        </p:nvSpPr>
        <p:spPr bwMode="auto">
          <a:xfrm>
            <a:off x="6737350" y="3040063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Arial" charset="0"/>
              </a:rPr>
              <a:t>S</a:t>
            </a:r>
            <a:r>
              <a:rPr lang="en-US" altLang="en-US" sz="1800" i="1" baseline="-25000">
                <a:latin typeface="Arial" charset="0"/>
              </a:rPr>
              <a:t>1</a:t>
            </a:r>
            <a:endParaRPr lang="en-US" altLang="en-US" sz="1800" i="1">
              <a:latin typeface="Arial" charset="0"/>
            </a:endParaRPr>
          </a:p>
        </p:txBody>
      </p:sp>
      <p:sp>
        <p:nvSpPr>
          <p:cNvPr id="38932" name="Text Box 27"/>
          <p:cNvSpPr txBox="1">
            <a:spLocks noChangeArrowheads="1"/>
          </p:cNvSpPr>
          <p:nvPr/>
        </p:nvSpPr>
        <p:spPr bwMode="auto">
          <a:xfrm>
            <a:off x="7097713" y="2328863"/>
            <a:ext cx="2046287" cy="1169551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400" dirty="0">
                <a:latin typeface="Arial" charset="0"/>
              </a:rPr>
              <a:t>The price paid by buyers increases to 8*   , while the price received by sellers falls to $3</a:t>
            </a:r>
            <a:endParaRPr lang="en-US" altLang="en-US" sz="1400" i="1" dirty="0">
              <a:latin typeface="Arial" charset="0"/>
            </a:endParaRPr>
          </a:p>
        </p:txBody>
      </p:sp>
      <p:sp>
        <p:nvSpPr>
          <p:cNvPr id="34839" name="Oval 22"/>
          <p:cNvSpPr>
            <a:spLocks noChangeArrowheads="1"/>
          </p:cNvSpPr>
          <p:nvPr/>
        </p:nvSpPr>
        <p:spPr bwMode="auto">
          <a:xfrm>
            <a:off x="5083175" y="4354513"/>
            <a:ext cx="101600" cy="101600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2463800" y="4738688"/>
            <a:ext cx="4397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 i="1">
                <a:latin typeface="Arial" charset="0"/>
              </a:rPr>
              <a:t>$3</a:t>
            </a:r>
            <a:endParaRPr lang="en-US" altLang="en-US" sz="1800" i="1"/>
          </a:p>
        </p:txBody>
      </p:sp>
      <p:sp>
        <p:nvSpPr>
          <p:cNvPr id="34842" name="Text Box 88"/>
          <p:cNvSpPr txBox="1">
            <a:spLocks noChangeArrowheads="1"/>
          </p:cNvSpPr>
          <p:nvPr/>
        </p:nvSpPr>
        <p:spPr bwMode="auto">
          <a:xfrm rot="-5400000">
            <a:off x="1419225" y="3008313"/>
            <a:ext cx="1912938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Price of Pizza</a:t>
            </a:r>
          </a:p>
        </p:txBody>
      </p:sp>
      <p:sp>
        <p:nvSpPr>
          <p:cNvPr id="34843" name="Rectangle 37"/>
          <p:cNvSpPr>
            <a:spLocks noChangeArrowheads="1"/>
          </p:cNvSpPr>
          <p:nvPr/>
        </p:nvSpPr>
        <p:spPr bwMode="auto">
          <a:xfrm>
            <a:off x="6423025" y="6100763"/>
            <a:ext cx="19351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Quantity</a:t>
            </a:r>
            <a:r>
              <a:rPr lang="en-US" altLang="en-US" sz="2000">
                <a:latin typeface="Arial" charset="0"/>
              </a:rPr>
              <a:t> </a:t>
            </a:r>
            <a:r>
              <a:rPr lang="en-US" altLang="en-US" sz="1800">
                <a:latin typeface="Arial" charset="0"/>
              </a:rPr>
              <a:t>of Pizza</a:t>
            </a:r>
          </a:p>
        </p:txBody>
      </p:sp>
      <p:sp>
        <p:nvSpPr>
          <p:cNvPr id="41" name="Rectangle 36"/>
          <p:cNvSpPr>
            <a:spLocks noChangeArrowheads="1"/>
          </p:cNvSpPr>
          <p:nvPr/>
        </p:nvSpPr>
        <p:spPr bwMode="auto">
          <a:xfrm>
            <a:off x="0" y="1770063"/>
            <a:ext cx="2206625" cy="97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The quantity falls</a:t>
            </a:r>
          </a:p>
        </p:txBody>
      </p:sp>
      <p:sp>
        <p:nvSpPr>
          <p:cNvPr id="42" name="Rectangle 37"/>
          <p:cNvSpPr>
            <a:spLocks noChangeArrowheads="1"/>
          </p:cNvSpPr>
          <p:nvPr/>
        </p:nvSpPr>
        <p:spPr bwMode="auto">
          <a:xfrm>
            <a:off x="0" y="3265488"/>
            <a:ext cx="2263775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So with the tax of $5 a pie, buyers pay  3$ a pie more and sellers receive 2$ a pie less.</a:t>
            </a:r>
            <a:endParaRPr lang="en-US" dirty="0">
              <a:latin typeface="+mn-lt"/>
              <a:cs typeface="Arial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A6D341-E7B2-6E4A-5596-F564BD32DDA3}"/>
              </a:ext>
            </a:extLst>
          </p:cNvPr>
          <p:cNvCxnSpPr/>
          <p:nvPr/>
        </p:nvCxnSpPr>
        <p:spPr bwMode="auto">
          <a:xfrm flipV="1">
            <a:off x="3611880" y="2705100"/>
            <a:ext cx="2203133" cy="15906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Oval 22">
            <a:extLst>
              <a:ext uri="{FF2B5EF4-FFF2-40B4-BE49-F238E27FC236}">
                <a16:creationId xmlns:a16="http://schemas.microsoft.com/office/drawing/2014/main" id="{DC704731-4F56-D40D-121E-B3699DFF1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3686176"/>
            <a:ext cx="101600" cy="101600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5">
            <a:extLst>
              <a:ext uri="{FF2B5EF4-FFF2-40B4-BE49-F238E27FC236}">
                <a16:creationId xmlns:a16="http://schemas.microsoft.com/office/drawing/2014/main" id="{E06A4E98-C0A8-4519-C5D1-0BBE069AC42C}"/>
              </a:ext>
            </a:extLst>
          </p:cNvPr>
          <p:cNvGrpSpPr>
            <a:grpSpLocks/>
          </p:cNvGrpSpPr>
          <p:nvPr/>
        </p:nvGrpSpPr>
        <p:grpSpPr bwMode="auto">
          <a:xfrm>
            <a:off x="4204494" y="3840163"/>
            <a:ext cx="598488" cy="3134879"/>
            <a:chOff x="2746" y="2772"/>
            <a:chExt cx="377" cy="1366"/>
          </a:xfrm>
        </p:grpSpPr>
        <p:sp>
          <p:nvSpPr>
            <p:cNvPr id="6" name="Line 13">
              <a:extLst>
                <a:ext uri="{FF2B5EF4-FFF2-40B4-BE49-F238E27FC236}">
                  <a16:creationId xmlns:a16="http://schemas.microsoft.com/office/drawing/2014/main" id="{3B6DF42C-8BFD-C27C-160B-AAC1ED615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772"/>
              <a:ext cx="0" cy="1045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id="{4CDF509E-5823-6F33-3AF3-EB0A8B78A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6" y="3856"/>
              <a:ext cx="37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en-US" altLang="en-US" sz="1800" i="1" dirty="0">
                <a:latin typeface="Arial" charset="0"/>
              </a:endParaRPr>
            </a:p>
            <a:p>
              <a:endParaRPr lang="en-US" altLang="en-US" sz="1800" i="1" dirty="0"/>
            </a:p>
          </p:txBody>
        </p:sp>
      </p:grpSp>
      <p:grpSp>
        <p:nvGrpSpPr>
          <p:cNvPr id="8" name="Group 34">
            <a:extLst>
              <a:ext uri="{FF2B5EF4-FFF2-40B4-BE49-F238E27FC236}">
                <a16:creationId xmlns:a16="http://schemas.microsoft.com/office/drawing/2014/main" id="{2D03366E-5C88-D190-D1B9-F73D4BF72E7A}"/>
              </a:ext>
            </a:extLst>
          </p:cNvPr>
          <p:cNvGrpSpPr>
            <a:grpSpLocks/>
          </p:cNvGrpSpPr>
          <p:nvPr/>
        </p:nvGrpSpPr>
        <p:grpSpPr bwMode="auto">
          <a:xfrm>
            <a:off x="2506187" y="3561400"/>
            <a:ext cx="1844357" cy="646112"/>
            <a:chOff x="1209" y="2674"/>
            <a:chExt cx="1671" cy="407"/>
          </a:xfrm>
        </p:grpSpPr>
        <p:sp>
          <p:nvSpPr>
            <p:cNvPr id="9" name="Line 24">
              <a:extLst>
                <a:ext uri="{FF2B5EF4-FFF2-40B4-BE49-F238E27FC236}">
                  <a16:creationId xmlns:a16="http://schemas.microsoft.com/office/drawing/2014/main" id="{60209424-8B31-6412-76AE-2161419A0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2784"/>
              <a:ext cx="1360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Text Box 25">
              <a:extLst>
                <a:ext uri="{FF2B5EF4-FFF2-40B4-BE49-F238E27FC236}">
                  <a16:creationId xmlns:a16="http://schemas.microsoft.com/office/drawing/2014/main" id="{6343A511-FF22-87A4-5D71-41AB2CB85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" y="2674"/>
              <a:ext cx="116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en-US" sz="1800" i="1" dirty="0">
                <a:latin typeface="Arial" charset="0"/>
              </a:endParaRPr>
            </a:p>
            <a:p>
              <a:endParaRPr lang="en-US" altLang="en-US" sz="1800" i="1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E022C7-A5D4-3372-9BDF-6B9BF912BB58}"/>
              </a:ext>
            </a:extLst>
          </p:cNvPr>
          <p:cNvCxnSpPr/>
          <p:nvPr/>
        </p:nvCxnSpPr>
        <p:spPr bwMode="auto">
          <a:xfrm flipV="1">
            <a:off x="3261360" y="3840163"/>
            <a:ext cx="0" cy="56515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729884-7CBF-62B3-7303-A01830E832C3}"/>
              </a:ext>
            </a:extLst>
          </p:cNvPr>
          <p:cNvCxnSpPr/>
          <p:nvPr/>
        </p:nvCxnSpPr>
        <p:spPr bwMode="auto">
          <a:xfrm>
            <a:off x="4511040" y="5357813"/>
            <a:ext cx="572135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494E026-AB57-BAAB-9FCD-CC2E45E22E34}"/>
              </a:ext>
            </a:extLst>
          </p:cNvPr>
          <p:cNvSpPr txBox="1"/>
          <p:nvPr/>
        </p:nvSpPr>
        <p:spPr>
          <a:xfrm>
            <a:off x="5638800" y="2125980"/>
            <a:ext cx="145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 + tax</a:t>
            </a:r>
          </a:p>
        </p:txBody>
      </p:sp>
      <p:grpSp>
        <p:nvGrpSpPr>
          <p:cNvPr id="16" name="Group 34">
            <a:extLst>
              <a:ext uri="{FF2B5EF4-FFF2-40B4-BE49-F238E27FC236}">
                <a16:creationId xmlns:a16="http://schemas.microsoft.com/office/drawing/2014/main" id="{C86D5617-0AAA-8AE9-D25A-D51222AD538C}"/>
              </a:ext>
            </a:extLst>
          </p:cNvPr>
          <p:cNvGrpSpPr>
            <a:grpSpLocks/>
          </p:cNvGrpSpPr>
          <p:nvPr/>
        </p:nvGrpSpPr>
        <p:grpSpPr bwMode="auto">
          <a:xfrm>
            <a:off x="2506028" y="4704715"/>
            <a:ext cx="1911190" cy="749935"/>
            <a:chOff x="1209" y="2674"/>
            <a:chExt cx="1671" cy="407"/>
          </a:xfrm>
        </p:grpSpPr>
        <p:sp>
          <p:nvSpPr>
            <p:cNvPr id="17" name="Line 24">
              <a:extLst>
                <a:ext uri="{FF2B5EF4-FFF2-40B4-BE49-F238E27FC236}">
                  <a16:creationId xmlns:a16="http://schemas.microsoft.com/office/drawing/2014/main" id="{1774E0DA-7267-2734-C08A-098A356A0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2784"/>
              <a:ext cx="1360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3B832520-C01C-9BCF-42C5-31015B279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" y="2674"/>
              <a:ext cx="116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en-US" sz="1800" i="1" dirty="0">
                <a:latin typeface="Arial" charset="0"/>
              </a:endParaRPr>
            </a:p>
            <a:p>
              <a:endParaRPr lang="en-US" altLang="en-US" sz="1800" i="1" dirty="0"/>
            </a:p>
          </p:txBody>
        </p:sp>
      </p:grpSp>
    </p:spTree>
    <p:custDataLst>
      <p:tags r:id="rId1"/>
    </p:custDataLst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8" grpId="0"/>
      <p:bldP spid="38920" grpId="0"/>
      <p:bldP spid="38932" grpId="0" animBg="1"/>
      <p:bldP spid="35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($5)Tax on Buyers</a:t>
            </a:r>
            <a:endParaRPr lang="en-US" altLang="en-US"/>
          </a:p>
        </p:txBody>
      </p:sp>
      <p:sp>
        <p:nvSpPr>
          <p:cNvPr id="35845" name="Line 6"/>
          <p:cNvSpPr>
            <a:spLocks noChangeShapeType="1"/>
          </p:cNvSpPr>
          <p:nvPr/>
        </p:nvSpPr>
        <p:spPr bwMode="auto">
          <a:xfrm>
            <a:off x="3001963" y="2355850"/>
            <a:ext cx="0" cy="37068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Line 7"/>
          <p:cNvSpPr>
            <a:spLocks noChangeShapeType="1"/>
          </p:cNvSpPr>
          <p:nvPr/>
        </p:nvSpPr>
        <p:spPr bwMode="auto">
          <a:xfrm>
            <a:off x="2982913" y="6054725"/>
            <a:ext cx="4270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506663" y="3519488"/>
            <a:ext cx="4413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 i="1">
                <a:latin typeface="Arial" charset="0"/>
              </a:rPr>
              <a:t>$8</a:t>
            </a:r>
            <a:endParaRPr lang="en-US" altLang="en-US" sz="1800" i="1"/>
          </a:p>
        </p:txBody>
      </p:sp>
      <p:sp>
        <p:nvSpPr>
          <p:cNvPr id="38920" name="Text Box 10"/>
          <p:cNvSpPr txBox="1">
            <a:spLocks noChangeArrowheads="1"/>
          </p:cNvSpPr>
          <p:nvPr/>
        </p:nvSpPr>
        <p:spPr bwMode="auto">
          <a:xfrm>
            <a:off x="4184650" y="6107113"/>
            <a:ext cx="4460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 i="1">
                <a:latin typeface="Arial" charset="0"/>
              </a:rPr>
              <a:t>75</a:t>
            </a:r>
            <a:endParaRPr lang="en-US" altLang="en-US" sz="1800" i="1" baseline="-25000"/>
          </a:p>
        </p:txBody>
      </p:sp>
      <p:sp>
        <p:nvSpPr>
          <p:cNvPr id="35850" name="Text Box 11"/>
          <p:cNvSpPr txBox="1">
            <a:spLocks noChangeArrowheads="1"/>
          </p:cNvSpPr>
          <p:nvPr/>
        </p:nvSpPr>
        <p:spPr bwMode="auto">
          <a:xfrm>
            <a:off x="4973638" y="3929063"/>
            <a:ext cx="420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Arial" charset="0"/>
              </a:rPr>
              <a:t>E</a:t>
            </a:r>
            <a:r>
              <a:rPr lang="en-US" altLang="en-US" sz="1800" i="1" baseline="-25000">
                <a:latin typeface="Arial" charset="0"/>
              </a:rPr>
              <a:t>1</a:t>
            </a:r>
            <a:endParaRPr lang="en-US" altLang="en-US" sz="1800" i="1">
              <a:latin typeface="Arial" charset="0"/>
            </a:endParaRPr>
          </a:p>
        </p:txBody>
      </p:sp>
      <p:sp>
        <p:nvSpPr>
          <p:cNvPr id="35851" name="Text Box 12"/>
          <p:cNvSpPr txBox="1">
            <a:spLocks noChangeArrowheads="1"/>
          </p:cNvSpPr>
          <p:nvPr/>
        </p:nvSpPr>
        <p:spPr bwMode="auto">
          <a:xfrm>
            <a:off x="5815013" y="4991100"/>
            <a:ext cx="3444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 i="1">
                <a:latin typeface="Arial" charset="0"/>
              </a:rPr>
              <a:t>D</a:t>
            </a:r>
            <a:endParaRPr lang="en-US" altLang="en-US" sz="3200" i="1"/>
          </a:p>
        </p:txBody>
      </p:sp>
      <p:sp>
        <p:nvSpPr>
          <p:cNvPr id="35852" name="Line 15"/>
          <p:cNvSpPr>
            <a:spLocks noChangeShapeType="1"/>
          </p:cNvSpPr>
          <p:nvPr/>
        </p:nvSpPr>
        <p:spPr bwMode="auto">
          <a:xfrm>
            <a:off x="3743325" y="3095625"/>
            <a:ext cx="2100263" cy="1960563"/>
          </a:xfrm>
          <a:prstGeom prst="line">
            <a:avLst/>
          </a:prstGeom>
          <a:noFill/>
          <a:ln w="28575">
            <a:solidFill>
              <a:srgbClr val="2D69AE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53" name="Line 16"/>
          <p:cNvSpPr>
            <a:spLocks noChangeShapeType="1"/>
          </p:cNvSpPr>
          <p:nvPr/>
        </p:nvSpPr>
        <p:spPr bwMode="auto">
          <a:xfrm flipV="1">
            <a:off x="3763963" y="3371850"/>
            <a:ext cx="2906712" cy="1963738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854" name="Group 35"/>
          <p:cNvGrpSpPr>
            <a:grpSpLocks/>
          </p:cNvGrpSpPr>
          <p:nvPr/>
        </p:nvGrpSpPr>
        <p:grpSpPr bwMode="auto">
          <a:xfrm>
            <a:off x="4946650" y="4386263"/>
            <a:ext cx="598488" cy="2087562"/>
            <a:chOff x="2746" y="2772"/>
            <a:chExt cx="377" cy="1315"/>
          </a:xfrm>
        </p:grpSpPr>
        <p:sp>
          <p:nvSpPr>
            <p:cNvPr id="35872" name="Line 13"/>
            <p:cNvSpPr>
              <a:spLocks noChangeShapeType="1"/>
            </p:cNvSpPr>
            <p:nvPr/>
          </p:nvSpPr>
          <p:spPr bwMode="auto">
            <a:xfrm>
              <a:off x="2880" y="2772"/>
              <a:ext cx="0" cy="1045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5873" name="Text Box 14"/>
            <p:cNvSpPr txBox="1">
              <a:spLocks noChangeArrowheads="1"/>
            </p:cNvSpPr>
            <p:nvPr/>
          </p:nvSpPr>
          <p:spPr bwMode="auto">
            <a:xfrm>
              <a:off x="2746" y="3856"/>
              <a:ext cx="37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100</a:t>
              </a:r>
              <a:endParaRPr lang="en-US" altLang="en-US" sz="1800" i="1"/>
            </a:p>
          </p:txBody>
        </p:sp>
      </p:grpSp>
      <p:grpSp>
        <p:nvGrpSpPr>
          <p:cNvPr id="35855" name="Group 34"/>
          <p:cNvGrpSpPr>
            <a:grpSpLocks/>
          </p:cNvGrpSpPr>
          <p:nvPr/>
        </p:nvGrpSpPr>
        <p:grpSpPr bwMode="auto">
          <a:xfrm>
            <a:off x="2506663" y="4230688"/>
            <a:ext cx="2652712" cy="369887"/>
            <a:chOff x="1209" y="2674"/>
            <a:chExt cx="1671" cy="233"/>
          </a:xfrm>
        </p:grpSpPr>
        <p:sp>
          <p:nvSpPr>
            <p:cNvPr id="35870" name="Line 24"/>
            <p:cNvSpPr>
              <a:spLocks noChangeShapeType="1"/>
            </p:cNvSpPr>
            <p:nvPr/>
          </p:nvSpPr>
          <p:spPr bwMode="auto">
            <a:xfrm>
              <a:off x="1520" y="2784"/>
              <a:ext cx="1360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5871" name="Text Box 25"/>
            <p:cNvSpPr txBox="1">
              <a:spLocks noChangeArrowheads="1"/>
            </p:cNvSpPr>
            <p:nvPr/>
          </p:nvSpPr>
          <p:spPr bwMode="auto">
            <a:xfrm>
              <a:off x="1209" y="2674"/>
              <a:ext cx="2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$5</a:t>
              </a:r>
              <a:endParaRPr lang="en-US" altLang="en-US" sz="1800" i="1"/>
            </a:p>
          </p:txBody>
        </p:sp>
      </p:grpSp>
      <p:sp>
        <p:nvSpPr>
          <p:cNvPr id="35857" name="Text Box 19"/>
          <p:cNvSpPr txBox="1">
            <a:spLocks noChangeArrowheads="1"/>
          </p:cNvSpPr>
          <p:nvPr/>
        </p:nvSpPr>
        <p:spPr bwMode="auto">
          <a:xfrm>
            <a:off x="6737350" y="3040063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Arial" charset="0"/>
              </a:rPr>
              <a:t>S</a:t>
            </a:r>
            <a:r>
              <a:rPr lang="en-US" altLang="en-US" sz="1800" i="1" baseline="-25000">
                <a:latin typeface="Arial" charset="0"/>
              </a:rPr>
              <a:t>1</a:t>
            </a:r>
            <a:endParaRPr lang="en-US" altLang="en-US" sz="1800" i="1">
              <a:latin typeface="Arial" charset="0"/>
            </a:endParaRPr>
          </a:p>
        </p:txBody>
      </p:sp>
      <p:sp>
        <p:nvSpPr>
          <p:cNvPr id="38932" name="Text Box 27"/>
          <p:cNvSpPr txBox="1">
            <a:spLocks noChangeArrowheads="1"/>
          </p:cNvSpPr>
          <p:nvPr/>
        </p:nvSpPr>
        <p:spPr bwMode="auto">
          <a:xfrm>
            <a:off x="7097713" y="2328863"/>
            <a:ext cx="2046287" cy="1169551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400" dirty="0">
                <a:latin typeface="Arial" charset="0"/>
              </a:rPr>
              <a:t>The price paid by buyers increases to $8     , while the price received by sellers falls to $3</a:t>
            </a:r>
            <a:endParaRPr lang="en-US" altLang="en-US" sz="1400" i="1" dirty="0">
              <a:latin typeface="Arial" charset="0"/>
            </a:endParaRPr>
          </a:p>
        </p:txBody>
      </p:sp>
      <p:sp>
        <p:nvSpPr>
          <p:cNvPr id="35862" name="Oval 22"/>
          <p:cNvSpPr>
            <a:spLocks noChangeArrowheads="1"/>
          </p:cNvSpPr>
          <p:nvPr/>
        </p:nvSpPr>
        <p:spPr bwMode="auto">
          <a:xfrm>
            <a:off x="5083175" y="4354513"/>
            <a:ext cx="101600" cy="101600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2463800" y="4738688"/>
            <a:ext cx="4397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 i="1">
                <a:latin typeface="Arial" charset="0"/>
              </a:rPr>
              <a:t>$3</a:t>
            </a:r>
            <a:endParaRPr lang="en-US" altLang="en-US" sz="1800" i="1"/>
          </a:p>
        </p:txBody>
      </p:sp>
      <p:sp>
        <p:nvSpPr>
          <p:cNvPr id="35865" name="Text Box 88"/>
          <p:cNvSpPr txBox="1">
            <a:spLocks noChangeArrowheads="1"/>
          </p:cNvSpPr>
          <p:nvPr/>
        </p:nvSpPr>
        <p:spPr bwMode="auto">
          <a:xfrm rot="-5400000">
            <a:off x="1419225" y="3008313"/>
            <a:ext cx="1912938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 dirty="0">
                <a:latin typeface="Arial" charset="0"/>
              </a:rPr>
              <a:t>Price of Pizza</a:t>
            </a:r>
          </a:p>
        </p:txBody>
      </p:sp>
      <p:sp>
        <p:nvSpPr>
          <p:cNvPr id="35866" name="Rectangle 37"/>
          <p:cNvSpPr>
            <a:spLocks noChangeArrowheads="1"/>
          </p:cNvSpPr>
          <p:nvPr/>
        </p:nvSpPr>
        <p:spPr bwMode="auto">
          <a:xfrm>
            <a:off x="6423025" y="6100763"/>
            <a:ext cx="19351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Quantity</a:t>
            </a:r>
            <a:r>
              <a:rPr lang="en-US" altLang="en-US" sz="2000">
                <a:latin typeface="Arial" charset="0"/>
              </a:rPr>
              <a:t> </a:t>
            </a:r>
            <a:r>
              <a:rPr lang="en-US" altLang="en-US" sz="1800">
                <a:latin typeface="Arial" charset="0"/>
              </a:rPr>
              <a:t>of Pizza</a:t>
            </a:r>
          </a:p>
        </p:txBody>
      </p:sp>
      <p:sp>
        <p:nvSpPr>
          <p:cNvPr id="41" name="Rectangle 36"/>
          <p:cNvSpPr>
            <a:spLocks noChangeArrowheads="1"/>
          </p:cNvSpPr>
          <p:nvPr/>
        </p:nvSpPr>
        <p:spPr bwMode="auto">
          <a:xfrm>
            <a:off x="0" y="1757363"/>
            <a:ext cx="2206625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The quantity falls</a:t>
            </a:r>
          </a:p>
        </p:txBody>
      </p:sp>
      <p:sp>
        <p:nvSpPr>
          <p:cNvPr id="42" name="Rectangle 37"/>
          <p:cNvSpPr>
            <a:spLocks noChangeArrowheads="1"/>
          </p:cNvSpPr>
          <p:nvPr/>
        </p:nvSpPr>
        <p:spPr bwMode="auto">
          <a:xfrm>
            <a:off x="0" y="3265488"/>
            <a:ext cx="2263775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So with the tax of $5 a pie, buyers pay $3 a pie more and sellers receive 2$ a pie less.</a:t>
            </a:r>
            <a:endParaRPr lang="en-US" dirty="0">
              <a:latin typeface="+mn-lt"/>
              <a:cs typeface="Arial" charset="0"/>
            </a:endParaRPr>
          </a:p>
        </p:txBody>
      </p:sp>
      <p:sp>
        <p:nvSpPr>
          <p:cNvPr id="3" name="Line 15">
            <a:extLst>
              <a:ext uri="{FF2B5EF4-FFF2-40B4-BE49-F238E27FC236}">
                <a16:creationId xmlns:a16="http://schemas.microsoft.com/office/drawing/2014/main" id="{E57A4B29-87EC-3260-A089-18B188EC7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7062" y="3758406"/>
            <a:ext cx="2100263" cy="196056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4">
            <a:extLst>
              <a:ext uri="{FF2B5EF4-FFF2-40B4-BE49-F238E27FC236}">
                <a16:creationId xmlns:a16="http://schemas.microsoft.com/office/drawing/2014/main" id="{F00339BC-AE36-D120-FCBF-BE80996ADA00}"/>
              </a:ext>
            </a:extLst>
          </p:cNvPr>
          <p:cNvGrpSpPr>
            <a:grpSpLocks/>
          </p:cNvGrpSpPr>
          <p:nvPr/>
        </p:nvGrpSpPr>
        <p:grpSpPr bwMode="auto">
          <a:xfrm>
            <a:off x="2298860" y="3111820"/>
            <a:ext cx="2100259" cy="595312"/>
            <a:chOff x="1209" y="2674"/>
            <a:chExt cx="1791" cy="375"/>
          </a:xfrm>
        </p:grpSpPr>
        <p:sp>
          <p:nvSpPr>
            <p:cNvPr id="9" name="Line 24">
              <a:extLst>
                <a:ext uri="{FF2B5EF4-FFF2-40B4-BE49-F238E27FC236}">
                  <a16:creationId xmlns:a16="http://schemas.microsoft.com/office/drawing/2014/main" id="{7869B848-D8B3-8C85-8389-DA834E228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0" y="3049"/>
              <a:ext cx="1360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Text Box 25">
              <a:extLst>
                <a:ext uri="{FF2B5EF4-FFF2-40B4-BE49-F238E27FC236}">
                  <a16:creationId xmlns:a16="http://schemas.microsoft.com/office/drawing/2014/main" id="{12B70290-1D62-3DED-F5F6-5F02F5B5E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" y="2674"/>
              <a:ext cx="1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en-US" sz="1800" i="1" dirty="0"/>
            </a:p>
          </p:txBody>
        </p:sp>
      </p:grpSp>
      <p:grpSp>
        <p:nvGrpSpPr>
          <p:cNvPr id="11" name="Group 34">
            <a:extLst>
              <a:ext uri="{FF2B5EF4-FFF2-40B4-BE49-F238E27FC236}">
                <a16:creationId xmlns:a16="http://schemas.microsoft.com/office/drawing/2014/main" id="{4D2A1643-8D23-A0BF-E918-812B951DE1B2}"/>
              </a:ext>
            </a:extLst>
          </p:cNvPr>
          <p:cNvGrpSpPr>
            <a:grpSpLocks/>
          </p:cNvGrpSpPr>
          <p:nvPr/>
        </p:nvGrpSpPr>
        <p:grpSpPr bwMode="auto">
          <a:xfrm>
            <a:off x="2559050" y="4744403"/>
            <a:ext cx="1840067" cy="369887"/>
            <a:chOff x="1209" y="2674"/>
            <a:chExt cx="1671" cy="233"/>
          </a:xfrm>
        </p:grpSpPr>
        <p:sp>
          <p:nvSpPr>
            <p:cNvPr id="12" name="Line 24">
              <a:extLst>
                <a:ext uri="{FF2B5EF4-FFF2-40B4-BE49-F238E27FC236}">
                  <a16:creationId xmlns:a16="http://schemas.microsoft.com/office/drawing/2014/main" id="{3D496039-DA27-FCB1-5D7E-AD84DACD5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2784"/>
              <a:ext cx="1360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Text Box 25">
              <a:extLst>
                <a:ext uri="{FF2B5EF4-FFF2-40B4-BE49-F238E27FC236}">
                  <a16:creationId xmlns:a16="http://schemas.microsoft.com/office/drawing/2014/main" id="{D67CE370-74F8-D861-2236-94F3C5D3C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" y="2674"/>
              <a:ext cx="1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en-US" sz="1800" i="1" dirty="0"/>
            </a:p>
          </p:txBody>
        </p:sp>
      </p:grpSp>
      <p:grpSp>
        <p:nvGrpSpPr>
          <p:cNvPr id="17" name="Group 35">
            <a:extLst>
              <a:ext uri="{FF2B5EF4-FFF2-40B4-BE49-F238E27FC236}">
                <a16:creationId xmlns:a16="http://schemas.microsoft.com/office/drawing/2014/main" id="{D24E76DA-592E-DF94-F21F-1EFD9D419A2C}"/>
              </a:ext>
            </a:extLst>
          </p:cNvPr>
          <p:cNvGrpSpPr>
            <a:grpSpLocks/>
          </p:cNvGrpSpPr>
          <p:nvPr/>
        </p:nvGrpSpPr>
        <p:grpSpPr bwMode="auto">
          <a:xfrm>
            <a:off x="4197351" y="3655860"/>
            <a:ext cx="598488" cy="2963849"/>
            <a:chOff x="2746" y="2772"/>
            <a:chExt cx="377" cy="1315"/>
          </a:xfrm>
        </p:grpSpPr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2885DAB5-E074-9570-BF1B-F0F9EF3A6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772"/>
              <a:ext cx="0" cy="1045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id="{75121BCD-D1F9-79F8-9D80-86BCA4915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6" y="3856"/>
              <a:ext cx="37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en-US" altLang="en-US" sz="1800" i="1" dirty="0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DA9A39-4DEB-547C-2FA7-74B7A944AB7E}"/>
              </a:ext>
            </a:extLst>
          </p:cNvPr>
          <p:cNvCxnSpPr/>
          <p:nvPr/>
        </p:nvCxnSpPr>
        <p:spPr bwMode="auto">
          <a:xfrm>
            <a:off x="4267200" y="3758406"/>
            <a:ext cx="0" cy="98028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65CE03-FA59-F5FB-60DC-9971170FBEB0}"/>
              </a:ext>
            </a:extLst>
          </p:cNvPr>
          <p:cNvCxnSpPr/>
          <p:nvPr/>
        </p:nvCxnSpPr>
        <p:spPr bwMode="auto">
          <a:xfrm flipH="1">
            <a:off x="4630738" y="4919028"/>
            <a:ext cx="763587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8920" grpId="0"/>
      <p:bldP spid="38932" grpId="0" animBg="1"/>
      <p:bldP spid="35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Taxes: Incidence</a:t>
            </a:r>
          </a:p>
        </p:txBody>
      </p:sp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483600" cy="44196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dirty="0"/>
              <a:t>So, exactly as before when the seller was taxed: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buyer pays 3$ of the tax.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seller pays the other $2 </a:t>
            </a:r>
            <a:r>
              <a:rPr lang="en-US" dirty="0">
                <a:cs typeface="Arial" charset="0"/>
              </a:rPr>
              <a:t>of the tax.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Arial" charset="0"/>
              </a:rPr>
              <a:t>Tax incidence is the same regardless of whether the law says the seller pays or the buyers pays. 				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9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9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9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7" grpId="0" build="p" bldLvl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Taxes: Elasticity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20800"/>
            <a:ext cx="9144000" cy="5537200"/>
          </a:xfrm>
        </p:spPr>
        <p:txBody>
          <a:bodyPr/>
          <a:lstStyle/>
          <a:p>
            <a:pPr lvl="1"/>
            <a:r>
              <a:rPr lang="en-US" b="1" dirty="0">
                <a:solidFill>
                  <a:srgbClr val="8B037E"/>
                </a:solidFill>
              </a:rPr>
              <a:t>Tax Division and Elasticity of Demand</a:t>
            </a:r>
          </a:p>
          <a:p>
            <a:pPr lvl="1"/>
            <a:r>
              <a:rPr lang="en-US" sz="2400" dirty="0"/>
              <a:t>The division of the tax between the buyer and the seller depends on the elasticities of demand and supply.</a:t>
            </a:r>
          </a:p>
          <a:p>
            <a:pPr lvl="1"/>
            <a:r>
              <a:rPr lang="en-US" sz="2400" dirty="0"/>
              <a:t>To see how, we look at two extreme cases.</a:t>
            </a:r>
          </a:p>
          <a:p>
            <a:pPr lvl="2">
              <a:buClr>
                <a:srgbClr val="0099FF"/>
              </a:buClr>
              <a:buFont typeface="Wingdings" pitchFamily="2" charset="2"/>
              <a:buChar char="§"/>
            </a:pPr>
            <a:r>
              <a:rPr lang="en-US" sz="2000" dirty="0"/>
              <a:t> Perfectly inelastic demand: the buyer pays the entire tax.</a:t>
            </a:r>
          </a:p>
          <a:p>
            <a:pPr lvl="2">
              <a:buClr>
                <a:srgbClr val="0099FF"/>
              </a:buClr>
              <a:buFont typeface="Wingdings" pitchFamily="2" charset="2"/>
              <a:buChar char="§"/>
            </a:pPr>
            <a:r>
              <a:rPr lang="en-US" sz="2000" dirty="0"/>
              <a:t>  Perfectly elastic demand: the seller pays the entire tax.</a:t>
            </a:r>
          </a:p>
          <a:p>
            <a:pPr lvl="1"/>
            <a:r>
              <a:rPr lang="en-US" sz="2400" dirty="0"/>
              <a:t>The more inelastic the demand, the </a:t>
            </a:r>
            <a:r>
              <a:rPr lang="en-US" sz="2400"/>
              <a:t>larger is </a:t>
            </a:r>
            <a:r>
              <a:rPr lang="en-US" sz="2400" dirty="0"/>
              <a:t>the buyer’s share of the tax.  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1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1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1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5" grpId="0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Taxes: Elasticity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63663"/>
            <a:ext cx="9144000" cy="4732337"/>
          </a:xfrm>
        </p:spPr>
        <p:txBody>
          <a:bodyPr/>
          <a:lstStyle/>
          <a:p>
            <a:pPr lvl="1"/>
            <a:r>
              <a:rPr lang="en-US" b="1" dirty="0">
                <a:solidFill>
                  <a:srgbClr val="7030A0"/>
                </a:solidFill>
              </a:rPr>
              <a:t>Tax Division and Elasticity of Supply</a:t>
            </a:r>
          </a:p>
          <a:p>
            <a:pPr lvl="1"/>
            <a:r>
              <a:rPr lang="en-US" sz="2400" dirty="0"/>
              <a:t>To see the effect of the elasticity of supply on the division of the tax payment, we again look at two extreme cases.</a:t>
            </a:r>
          </a:p>
          <a:p>
            <a:pPr lvl="2">
              <a:buClr>
                <a:srgbClr val="0099FF"/>
              </a:buClr>
              <a:buFont typeface="Wingdings" pitchFamily="2" charset="2"/>
              <a:buChar char="§"/>
            </a:pPr>
            <a:r>
              <a:rPr lang="en-US" sz="2000" dirty="0"/>
              <a:t>  Perfectly inelastic supply: the seller pays the entire tax.</a:t>
            </a:r>
          </a:p>
          <a:p>
            <a:pPr lvl="2">
              <a:buClr>
                <a:srgbClr val="0099FF"/>
              </a:buClr>
              <a:buFont typeface="Wingdings" pitchFamily="2" charset="2"/>
              <a:buChar char="§"/>
            </a:pPr>
            <a:r>
              <a:rPr lang="en-US" sz="2000" dirty="0"/>
              <a:t> Perfectly elastic supply: the buyer pays the entire tax.</a:t>
            </a:r>
          </a:p>
          <a:p>
            <a:pPr lvl="1"/>
            <a:r>
              <a:rPr lang="en-US" sz="2400" dirty="0"/>
              <a:t>The more elastic the supply, the larger is the buyer’s share of the tax.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59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59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59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59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79" grpId="0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Taxes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2225"/>
            <a:ext cx="9144000" cy="4803775"/>
          </a:xfrm>
        </p:spPr>
        <p:txBody>
          <a:bodyPr/>
          <a:lstStyle/>
          <a:p>
            <a:r>
              <a:rPr lang="en-US" dirty="0"/>
              <a:t>Taxes in Practice</a:t>
            </a:r>
          </a:p>
          <a:p>
            <a:pPr lvl="1"/>
            <a:r>
              <a:rPr lang="en-US" sz="2400" dirty="0"/>
              <a:t>Taxes usually are levied on goods and services with an inelastic demand or an inelastic supply.   	</a:t>
            </a:r>
          </a:p>
          <a:p>
            <a:pPr lvl="1"/>
            <a:r>
              <a:rPr lang="en-US" sz="2400" dirty="0"/>
              <a:t>Alcohol, tobacco, and gasoline have very inelastic demand, so the buyers of these items pay most the tax on them.</a:t>
            </a:r>
          </a:p>
          <a:p>
            <a:pPr lvl="1"/>
            <a:r>
              <a:rPr lang="en-US" sz="2400" dirty="0"/>
              <a:t>Labor has a very low elasticity of supply, so the seller—the worker—pays most of the income tax and most of the Social Security tax.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8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18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18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9" grpId="0" build="p" bldLvl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Taxes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461375" cy="4114800"/>
          </a:xfrm>
        </p:spPr>
        <p:txBody>
          <a:bodyPr/>
          <a:lstStyle/>
          <a:p>
            <a:r>
              <a:rPr lang="en-US" dirty="0"/>
              <a:t>Taxes and Efficiency</a:t>
            </a:r>
          </a:p>
          <a:p>
            <a:pPr lvl="1"/>
            <a:r>
              <a:rPr lang="en-US" dirty="0"/>
              <a:t>Except in the extreme cases of perfectly inelastic demand or perfectly inelastic supply when the quantity remains the same, imposing a tax creates inefficiency. 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3" grpId="0" build="p" bldLvl="3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Line 93"/>
          <p:cNvSpPr>
            <a:spLocks noChangeShapeType="1"/>
          </p:cNvSpPr>
          <p:nvPr/>
        </p:nvSpPr>
        <p:spPr bwMode="auto">
          <a:xfrm flipV="1">
            <a:off x="4786313" y="1641475"/>
            <a:ext cx="2584450" cy="25082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Taxes</a:t>
            </a:r>
            <a:endParaRPr lang="en-US" altLang="en-US"/>
          </a:p>
        </p:txBody>
      </p:sp>
      <p:sp>
        <p:nvSpPr>
          <p:cNvPr id="41990" name="Line 65"/>
          <p:cNvSpPr>
            <a:spLocks noChangeShapeType="1"/>
          </p:cNvSpPr>
          <p:nvPr/>
        </p:nvSpPr>
        <p:spPr bwMode="auto">
          <a:xfrm flipH="1">
            <a:off x="4354513" y="5883275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91" name="Line 66"/>
          <p:cNvSpPr>
            <a:spLocks noChangeShapeType="1"/>
          </p:cNvSpPr>
          <p:nvPr/>
        </p:nvSpPr>
        <p:spPr bwMode="auto">
          <a:xfrm>
            <a:off x="4341813" y="5868988"/>
            <a:ext cx="44608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992" name="Group 112"/>
          <p:cNvGrpSpPr>
            <a:grpSpLocks/>
          </p:cNvGrpSpPr>
          <p:nvPr/>
        </p:nvGrpSpPr>
        <p:grpSpPr bwMode="auto">
          <a:xfrm>
            <a:off x="5248275" y="2335213"/>
            <a:ext cx="3208338" cy="3363912"/>
            <a:chOff x="2180" y="1453"/>
            <a:chExt cx="2021" cy="2119"/>
          </a:xfrm>
        </p:grpSpPr>
        <p:sp>
          <p:nvSpPr>
            <p:cNvPr id="42027" name="Line 68"/>
            <p:cNvSpPr>
              <a:spLocks noChangeShapeType="1"/>
            </p:cNvSpPr>
            <p:nvPr/>
          </p:nvSpPr>
          <p:spPr bwMode="auto">
            <a:xfrm>
              <a:off x="2180" y="1453"/>
              <a:ext cx="1787" cy="1972"/>
            </a:xfrm>
            <a:prstGeom prst="line">
              <a:avLst/>
            </a:prstGeom>
            <a:noFill/>
            <a:ln w="28575">
              <a:solidFill>
                <a:srgbClr val="2D69AE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8" name="Text Box 69"/>
            <p:cNvSpPr txBox="1">
              <a:spLocks noChangeArrowheads="1"/>
            </p:cNvSpPr>
            <p:nvPr/>
          </p:nvSpPr>
          <p:spPr bwMode="auto">
            <a:xfrm>
              <a:off x="3864" y="3341"/>
              <a:ext cx="3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sz="1800" i="1">
                  <a:latin typeface="Arial" charset="0"/>
                </a:rPr>
                <a:t>D</a:t>
              </a:r>
            </a:p>
          </p:txBody>
        </p:sp>
      </p:grpSp>
      <p:sp>
        <p:nvSpPr>
          <p:cNvPr id="41993" name="Line 72"/>
          <p:cNvSpPr>
            <a:spLocks noChangeShapeType="1"/>
          </p:cNvSpPr>
          <p:nvPr/>
        </p:nvSpPr>
        <p:spPr bwMode="auto">
          <a:xfrm>
            <a:off x="4384675" y="3749675"/>
            <a:ext cx="2165350" cy="0"/>
          </a:xfrm>
          <a:prstGeom prst="line">
            <a:avLst/>
          </a:prstGeom>
          <a:noFill/>
          <a:ln w="25400" cap="rnd">
            <a:solidFill>
              <a:srgbClr val="939598"/>
            </a:solidFill>
            <a:prstDash val="sysDot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4" name="Text Box 73"/>
          <p:cNvSpPr txBox="1">
            <a:spLocks noChangeArrowheads="1"/>
          </p:cNvSpPr>
          <p:nvPr/>
        </p:nvSpPr>
        <p:spPr bwMode="auto">
          <a:xfrm>
            <a:off x="3863975" y="3549650"/>
            <a:ext cx="441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 i="1">
                <a:latin typeface="Arial" charset="0"/>
              </a:rPr>
              <a:t>$5</a:t>
            </a:r>
            <a:endParaRPr lang="en-US" altLang="en-US" sz="1800" i="1"/>
          </a:p>
        </p:txBody>
      </p:sp>
      <p:sp>
        <p:nvSpPr>
          <p:cNvPr id="41995" name="Line 75"/>
          <p:cNvSpPr>
            <a:spLocks noChangeShapeType="1"/>
          </p:cNvSpPr>
          <p:nvPr/>
        </p:nvSpPr>
        <p:spPr bwMode="auto">
          <a:xfrm>
            <a:off x="6503988" y="3773488"/>
            <a:ext cx="46037" cy="2092325"/>
          </a:xfrm>
          <a:prstGeom prst="line">
            <a:avLst/>
          </a:prstGeom>
          <a:noFill/>
          <a:ln w="25400" cap="rnd">
            <a:solidFill>
              <a:srgbClr val="939598"/>
            </a:solidFill>
            <a:prstDash val="sysDot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996" name="Text Box 76"/>
          <p:cNvSpPr txBox="1">
            <a:spLocks noChangeArrowheads="1"/>
          </p:cNvSpPr>
          <p:nvPr/>
        </p:nvSpPr>
        <p:spPr bwMode="auto">
          <a:xfrm>
            <a:off x="6350000" y="5851525"/>
            <a:ext cx="5730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 i="1">
                <a:latin typeface="Arial" charset="0"/>
              </a:rPr>
              <a:t>100</a:t>
            </a:r>
            <a:endParaRPr lang="en-US" altLang="en-US" sz="1800" i="1"/>
          </a:p>
        </p:txBody>
      </p:sp>
      <p:sp>
        <p:nvSpPr>
          <p:cNvPr id="41998" name="Text Box 89"/>
          <p:cNvSpPr txBox="1">
            <a:spLocks noChangeArrowheads="1"/>
          </p:cNvSpPr>
          <p:nvPr/>
        </p:nvSpPr>
        <p:spPr bwMode="auto">
          <a:xfrm>
            <a:off x="6386513" y="6265863"/>
            <a:ext cx="2540000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Quantity of Pizza</a:t>
            </a:r>
          </a:p>
        </p:txBody>
      </p:sp>
      <p:sp>
        <p:nvSpPr>
          <p:cNvPr id="41999" name="Line 90"/>
          <p:cNvSpPr>
            <a:spLocks noChangeShapeType="1"/>
          </p:cNvSpPr>
          <p:nvPr/>
        </p:nvSpPr>
        <p:spPr bwMode="auto">
          <a:xfrm flipV="1">
            <a:off x="4359275" y="1762125"/>
            <a:ext cx="0" cy="4102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000" name="Group 111"/>
          <p:cNvGrpSpPr>
            <a:grpSpLocks/>
          </p:cNvGrpSpPr>
          <p:nvPr/>
        </p:nvGrpSpPr>
        <p:grpSpPr bwMode="auto">
          <a:xfrm>
            <a:off x="5330825" y="2100263"/>
            <a:ext cx="2901950" cy="2825750"/>
            <a:chOff x="2232" y="1305"/>
            <a:chExt cx="1828" cy="1780"/>
          </a:xfrm>
        </p:grpSpPr>
        <p:sp>
          <p:nvSpPr>
            <p:cNvPr id="42025" name="Text Box 92"/>
            <p:cNvSpPr txBox="1">
              <a:spLocks noChangeArrowheads="1"/>
            </p:cNvSpPr>
            <p:nvPr/>
          </p:nvSpPr>
          <p:spPr bwMode="auto">
            <a:xfrm>
              <a:off x="3755" y="1305"/>
              <a:ext cx="30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sz="1800" i="1">
                  <a:latin typeface="Arial" charset="0"/>
                </a:rPr>
                <a:t>S</a:t>
              </a:r>
            </a:p>
          </p:txBody>
        </p:sp>
        <p:sp>
          <p:nvSpPr>
            <p:cNvPr id="42026" name="Line 93"/>
            <p:cNvSpPr>
              <a:spLocks noChangeShapeType="1"/>
            </p:cNvSpPr>
            <p:nvPr/>
          </p:nvSpPr>
          <p:spPr bwMode="auto">
            <a:xfrm flipV="1">
              <a:off x="2232" y="1505"/>
              <a:ext cx="1628" cy="15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001" name="Group 114"/>
          <p:cNvGrpSpPr>
            <a:grpSpLocks/>
          </p:cNvGrpSpPr>
          <p:nvPr/>
        </p:nvGrpSpPr>
        <p:grpSpPr bwMode="auto">
          <a:xfrm>
            <a:off x="6302375" y="2703513"/>
            <a:ext cx="757238" cy="1236662"/>
            <a:chOff x="2844" y="1685"/>
            <a:chExt cx="477" cy="779"/>
          </a:xfrm>
        </p:grpSpPr>
        <p:sp>
          <p:nvSpPr>
            <p:cNvPr id="42022" name="Oval 95"/>
            <p:cNvSpPr>
              <a:spLocks noChangeArrowheads="1"/>
            </p:cNvSpPr>
            <p:nvPr/>
          </p:nvSpPr>
          <p:spPr bwMode="auto">
            <a:xfrm>
              <a:off x="2958" y="2315"/>
              <a:ext cx="64" cy="64"/>
            </a:xfrm>
            <a:prstGeom prst="ellipse">
              <a:avLst/>
            </a:prstGeom>
            <a:solidFill>
              <a:srgbClr val="00889B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3" name="Text Box 96"/>
            <p:cNvSpPr txBox="1">
              <a:spLocks noChangeArrowheads="1"/>
            </p:cNvSpPr>
            <p:nvPr/>
          </p:nvSpPr>
          <p:spPr bwMode="auto">
            <a:xfrm>
              <a:off x="2984" y="2233"/>
              <a:ext cx="3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sz="1800" i="1">
                  <a:latin typeface="Arial" charset="0"/>
                </a:rPr>
                <a:t>E</a:t>
              </a:r>
            </a:p>
          </p:txBody>
        </p:sp>
        <p:sp>
          <p:nvSpPr>
            <p:cNvPr id="42024" name="Text Box 101"/>
            <p:cNvSpPr txBox="1">
              <a:spLocks noChangeArrowheads="1"/>
            </p:cNvSpPr>
            <p:nvPr/>
          </p:nvSpPr>
          <p:spPr bwMode="auto">
            <a:xfrm>
              <a:off x="2844" y="1685"/>
              <a:ext cx="3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endParaRPr lang="en-US" altLang="en-US" sz="1800" i="1">
                <a:latin typeface="Arial" charset="0"/>
              </a:endParaRPr>
            </a:p>
          </p:txBody>
        </p:sp>
      </p:grpSp>
      <p:sp>
        <p:nvSpPr>
          <p:cNvPr id="61" name="Rectangle 11"/>
          <p:cNvSpPr>
            <a:spLocks noChangeArrowheads="1"/>
          </p:cNvSpPr>
          <p:nvPr/>
        </p:nvSpPr>
        <p:spPr bwMode="auto">
          <a:xfrm>
            <a:off x="0" y="1001713"/>
            <a:ext cx="3367088" cy="204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defRPr/>
            </a:pPr>
            <a:r>
              <a:rPr lang="en-US" dirty="0">
                <a:latin typeface="+mn-lt"/>
              </a:rPr>
              <a:t>A tax shifts the supply curve, decreases the equilibrium quantity, raises the price to the buyer, and lowers the price to the seller.</a:t>
            </a: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3843338" y="2901950"/>
            <a:ext cx="2444750" cy="3332163"/>
            <a:chOff x="3843110" y="2901950"/>
            <a:chExt cx="2444750" cy="3332163"/>
          </a:xfrm>
        </p:grpSpPr>
        <p:sp>
          <p:nvSpPr>
            <p:cNvPr id="42016" name="Line 77"/>
            <p:cNvSpPr>
              <a:spLocks noChangeShapeType="1"/>
            </p:cNvSpPr>
            <p:nvPr/>
          </p:nvSpPr>
          <p:spPr bwMode="auto">
            <a:xfrm>
              <a:off x="5927498" y="3105150"/>
              <a:ext cx="0" cy="2770188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17" name="Text Box 78"/>
            <p:cNvSpPr txBox="1">
              <a:spLocks noChangeArrowheads="1"/>
            </p:cNvSpPr>
            <p:nvPr/>
          </p:nvSpPr>
          <p:spPr bwMode="auto">
            <a:xfrm>
              <a:off x="5727473" y="5867400"/>
              <a:ext cx="560387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75</a:t>
              </a:r>
              <a:endParaRPr lang="en-US" altLang="en-US" sz="1800" i="1"/>
            </a:p>
          </p:txBody>
        </p:sp>
        <p:sp>
          <p:nvSpPr>
            <p:cNvPr id="42018" name="Line 80"/>
            <p:cNvSpPr>
              <a:spLocks noChangeShapeType="1"/>
            </p:cNvSpPr>
            <p:nvPr/>
          </p:nvSpPr>
          <p:spPr bwMode="auto">
            <a:xfrm>
              <a:off x="4397829" y="3048000"/>
              <a:ext cx="1539194" cy="7938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19" name="Text Box 81"/>
            <p:cNvSpPr txBox="1">
              <a:spLocks noChangeArrowheads="1"/>
            </p:cNvSpPr>
            <p:nvPr/>
          </p:nvSpPr>
          <p:spPr bwMode="auto">
            <a:xfrm>
              <a:off x="3876448" y="2901950"/>
              <a:ext cx="4413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$8</a:t>
              </a:r>
              <a:endParaRPr lang="en-US" altLang="en-US" sz="1800" i="1"/>
            </a:p>
          </p:txBody>
        </p:sp>
        <p:sp>
          <p:nvSpPr>
            <p:cNvPr id="42020" name="Rectangle 48"/>
            <p:cNvSpPr>
              <a:spLocks noChangeArrowheads="1"/>
            </p:cNvSpPr>
            <p:nvPr/>
          </p:nvSpPr>
          <p:spPr bwMode="auto">
            <a:xfrm>
              <a:off x="3843110" y="4127500"/>
              <a:ext cx="441325" cy="368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$3</a:t>
              </a:r>
              <a:endParaRPr lang="en-US" altLang="en-US" sz="1800" i="1"/>
            </a:p>
          </p:txBody>
        </p:sp>
        <p:cxnSp>
          <p:nvCxnSpPr>
            <p:cNvPr id="42021" name="Straight Connector 59"/>
            <p:cNvCxnSpPr>
              <a:cxnSpLocks noChangeShapeType="1"/>
            </p:cNvCxnSpPr>
            <p:nvPr/>
          </p:nvCxnSpPr>
          <p:spPr bwMode="auto">
            <a:xfrm rot="5400000" flipH="1" flipV="1">
              <a:off x="5145654" y="3577431"/>
              <a:ext cx="28575" cy="155416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sysDot"/>
              <a:round/>
              <a:headEnd/>
              <a:tailEnd/>
            </a:ln>
          </p:spPr>
        </p:cxnSp>
      </p:grpSp>
      <p:sp>
        <p:nvSpPr>
          <p:cNvPr id="41" name="Text Box 17"/>
          <p:cNvSpPr txBox="1">
            <a:spLocks noChangeArrowheads="1"/>
          </p:cNvSpPr>
          <p:nvPr/>
        </p:nvSpPr>
        <p:spPr bwMode="auto">
          <a:xfrm>
            <a:off x="7299325" y="1254125"/>
            <a:ext cx="92233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 i="1">
                <a:latin typeface="Arial" charset="0"/>
              </a:rPr>
              <a:t>S</a:t>
            </a:r>
            <a:r>
              <a:rPr lang="en-US" altLang="en-US" sz="1800" i="1" baseline="-25000">
                <a:latin typeface="Arial" charset="0"/>
              </a:rPr>
              <a:t>1</a:t>
            </a:r>
            <a:r>
              <a:rPr lang="en-US" altLang="en-US" sz="1800" i="1">
                <a:latin typeface="Arial" charset="0"/>
              </a:rPr>
              <a:t> + tax</a:t>
            </a: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 bwMode="auto">
          <a:xfrm>
            <a:off x="0" y="3482975"/>
            <a:ext cx="3584575" cy="1466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0" lvl="1">
              <a:spcBef>
                <a:spcPct val="40000"/>
              </a:spcBef>
              <a:buClr>
                <a:srgbClr val="01406A"/>
              </a:buClr>
              <a:buSzPct val="100000"/>
              <a:defRPr/>
            </a:pPr>
            <a:r>
              <a:rPr lang="en-US" dirty="0">
                <a:latin typeface="+mn-lt"/>
              </a:rPr>
              <a:t>The tax revenue takes part of the consumer surplus and producer surplus  </a:t>
            </a:r>
          </a:p>
          <a:p>
            <a:pPr marL="0" lvl="1">
              <a:spcBef>
                <a:spcPct val="40000"/>
              </a:spcBef>
              <a:buClr>
                <a:srgbClr val="01406A"/>
              </a:buClr>
              <a:buSzPct val="100000"/>
              <a:defRPr/>
            </a:pPr>
            <a:endParaRPr lang="en-US" sz="2000" kern="0" dirty="0">
              <a:latin typeface="+mn-lt"/>
            </a:endParaRPr>
          </a:p>
        </p:txBody>
      </p:sp>
      <p:sp>
        <p:nvSpPr>
          <p:cNvPr id="45" name="Rectangle 11"/>
          <p:cNvSpPr>
            <a:spLocks noChangeArrowheads="1"/>
          </p:cNvSpPr>
          <p:nvPr/>
        </p:nvSpPr>
        <p:spPr bwMode="auto">
          <a:xfrm>
            <a:off x="0" y="5326063"/>
            <a:ext cx="2859088" cy="1350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defRPr/>
            </a:pPr>
            <a:r>
              <a:rPr lang="en-US" dirty="0">
                <a:latin typeface="+mn-lt"/>
              </a:rPr>
              <a:t>The decreased quantity creates a deadweight loss.  </a:t>
            </a:r>
          </a:p>
          <a:p>
            <a:pPr marL="0" lvl="1">
              <a:defRPr/>
            </a:pPr>
            <a:endParaRPr lang="en-US" sz="2800" dirty="0"/>
          </a:p>
        </p:txBody>
      </p:sp>
      <p:cxnSp>
        <p:nvCxnSpPr>
          <p:cNvPr id="52" name="Straight Arrow Connector 56"/>
          <p:cNvCxnSpPr>
            <a:cxnSpLocks noChangeShapeType="1"/>
          </p:cNvCxnSpPr>
          <p:nvPr/>
        </p:nvCxnSpPr>
        <p:spPr bwMode="auto">
          <a:xfrm flipH="1">
            <a:off x="6367462" y="2819873"/>
            <a:ext cx="369207" cy="483716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5" name="Text Box 88">
            <a:extLst>
              <a:ext uri="{FF2B5EF4-FFF2-40B4-BE49-F238E27FC236}">
                <a16:creationId xmlns:a16="http://schemas.microsoft.com/office/drawing/2014/main" id="{F7048072-0FCE-47E8-B94B-22133E3BC80A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622552" y="3102018"/>
            <a:ext cx="1912938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 dirty="0">
                <a:latin typeface="Arial" charset="0"/>
              </a:rPr>
              <a:t>Price of Pizza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C9A70B34-1332-416D-AF0C-F4B2F503C85D}"/>
              </a:ext>
            </a:extLst>
          </p:cNvPr>
          <p:cNvSpPr/>
          <p:nvPr/>
        </p:nvSpPr>
        <p:spPr bwMode="auto">
          <a:xfrm>
            <a:off x="4398057" y="1363663"/>
            <a:ext cx="1420128" cy="1660525"/>
          </a:xfrm>
          <a:prstGeom prst="rtTriangl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A3BE655B-17C7-FE8B-A76C-D5EF63665820}"/>
              </a:ext>
            </a:extLst>
          </p:cNvPr>
          <p:cNvSpPr/>
          <p:nvPr/>
        </p:nvSpPr>
        <p:spPr bwMode="auto">
          <a:xfrm rot="5248629">
            <a:off x="4526112" y="4265549"/>
            <a:ext cx="1269702" cy="1531268"/>
          </a:xfrm>
          <a:prstGeom prst="rtTriangl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84926-F135-A415-DC57-DFAED3B68070}"/>
              </a:ext>
            </a:extLst>
          </p:cNvPr>
          <p:cNvSpPr txBox="1"/>
          <p:nvPr/>
        </p:nvSpPr>
        <p:spPr>
          <a:xfrm>
            <a:off x="5090160" y="1181100"/>
            <a:ext cx="1459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Consumer surplus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04B9DA-5653-B431-5782-6C0EB592175D}"/>
              </a:ext>
            </a:extLst>
          </p:cNvPr>
          <p:cNvCxnSpPr>
            <a:cxnSpLocks/>
          </p:cNvCxnSpPr>
          <p:nvPr/>
        </p:nvCxnSpPr>
        <p:spPr bwMode="auto">
          <a:xfrm flipH="1">
            <a:off x="5108121" y="2074327"/>
            <a:ext cx="508609" cy="57679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81A1780-86B6-81F5-092C-CB68230781C8}"/>
              </a:ext>
            </a:extLst>
          </p:cNvPr>
          <p:cNvSpPr txBox="1"/>
          <p:nvPr/>
        </p:nvSpPr>
        <p:spPr>
          <a:xfrm>
            <a:off x="5467350" y="5113020"/>
            <a:ext cx="2454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Producer surplus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B2636E-E86E-6AF2-380B-45824F41AAD0}"/>
              </a:ext>
            </a:extLst>
          </p:cNvPr>
          <p:cNvCxnSpPr>
            <a:endCxn id="7" idx="5"/>
          </p:cNvCxnSpPr>
          <p:nvPr/>
        </p:nvCxnSpPr>
        <p:spPr bwMode="auto">
          <a:xfrm flipH="1" flipV="1">
            <a:off x="5160963" y="5031183"/>
            <a:ext cx="858837" cy="14279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3A9D707-9C53-0077-8367-16103AF1EC70}"/>
              </a:ext>
            </a:extLst>
          </p:cNvPr>
          <p:cNvSpPr/>
          <p:nvPr/>
        </p:nvSpPr>
        <p:spPr bwMode="auto">
          <a:xfrm>
            <a:off x="4398057" y="3105150"/>
            <a:ext cx="1488394" cy="1212854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28C0D8-8DE6-A4D5-B348-982387F6B8CA}"/>
              </a:ext>
            </a:extLst>
          </p:cNvPr>
          <p:cNvSpPr txBox="1"/>
          <p:nvPr/>
        </p:nvSpPr>
        <p:spPr>
          <a:xfrm>
            <a:off x="4472940" y="3215640"/>
            <a:ext cx="1452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Tax</a:t>
            </a:r>
          </a:p>
          <a:p>
            <a:r>
              <a:rPr lang="en-US" dirty="0"/>
              <a:t>Revenue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C4B4B5EA-ED84-A11A-EF7B-69E4E6B7D1F4}"/>
              </a:ext>
            </a:extLst>
          </p:cNvPr>
          <p:cNvSpPr/>
          <p:nvPr/>
        </p:nvSpPr>
        <p:spPr bwMode="auto">
          <a:xfrm rot="5400000">
            <a:off x="5723810" y="3504802"/>
            <a:ext cx="968220" cy="446087"/>
          </a:xfrm>
          <a:prstGeom prst="triangle">
            <a:avLst/>
          </a:prstGeom>
          <a:solidFill>
            <a:schemeClr val="bg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A3891-318D-163B-AB92-A413FD97C522}"/>
              </a:ext>
            </a:extLst>
          </p:cNvPr>
          <p:cNvSpPr txBox="1"/>
          <p:nvPr/>
        </p:nvSpPr>
        <p:spPr>
          <a:xfrm>
            <a:off x="6626052" y="2235098"/>
            <a:ext cx="1302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Deadweight loss</a:t>
            </a:r>
          </a:p>
        </p:txBody>
      </p:sp>
    </p:spTree>
    <p:custDataLst>
      <p:tags r:id="rId1"/>
    </p:custDataLst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61" grpId="0"/>
      <p:bldP spid="41" grpId="0"/>
      <p:bldP spid="44" grpId="0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Learning Objective #4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33714"/>
            <a:ext cx="9144000" cy="5624286"/>
          </a:xfrm>
        </p:spPr>
        <p:txBody>
          <a:bodyPr/>
          <a:lstStyle/>
          <a:p>
            <a:pPr marL="0" indent="0" algn="ctr">
              <a:buNone/>
            </a:pPr>
            <a:r>
              <a:rPr lang="en-US" sz="6000" dirty="0"/>
              <a:t>Explain, illustrate and analyze the effects of subsidies and quotas in the market</a:t>
            </a:r>
            <a:r>
              <a:rPr lang="en-US" sz="2400" dirty="0"/>
              <a:t>.</a:t>
            </a:r>
            <a:endParaRPr lang="en-US" altLang="en-US" sz="2400" dirty="0">
              <a:hlinkClick r:id="rId4" action="ppaction://hlinksldjump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Subsidies and Quotas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subsidy</a:t>
            </a:r>
            <a:r>
              <a:rPr lang="en-US" dirty="0"/>
              <a:t> is a payment made by the government to a producer.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production quota</a:t>
            </a:r>
            <a:r>
              <a:rPr lang="en-US" dirty="0"/>
              <a:t> is an upper limit to the quantity of a good that may be produced during a specified period.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 build="p" bldLvl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Line 80"/>
          <p:cNvSpPr>
            <a:spLocks noChangeShapeType="1"/>
          </p:cNvSpPr>
          <p:nvPr/>
        </p:nvSpPr>
        <p:spPr bwMode="auto">
          <a:xfrm flipV="1">
            <a:off x="4295775" y="3041650"/>
            <a:ext cx="1568450" cy="6350"/>
          </a:xfrm>
          <a:prstGeom prst="line">
            <a:avLst/>
          </a:prstGeom>
          <a:noFill/>
          <a:ln w="25400" cap="rnd">
            <a:solidFill>
              <a:srgbClr val="939598"/>
            </a:solidFill>
            <a:prstDash val="sysDot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038" name="Line 93"/>
          <p:cNvSpPr>
            <a:spLocks noChangeShapeType="1"/>
          </p:cNvSpPr>
          <p:nvPr/>
        </p:nvSpPr>
        <p:spPr bwMode="auto">
          <a:xfrm flipV="1">
            <a:off x="4713288" y="1627188"/>
            <a:ext cx="2584450" cy="25082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3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Subsidies and Quotas: Subsidy</a:t>
            </a:r>
            <a:endParaRPr lang="en-US" altLang="en-US"/>
          </a:p>
        </p:txBody>
      </p:sp>
      <p:sp>
        <p:nvSpPr>
          <p:cNvPr id="44040" name="Line 65"/>
          <p:cNvSpPr>
            <a:spLocks noChangeShapeType="1"/>
          </p:cNvSpPr>
          <p:nvPr/>
        </p:nvSpPr>
        <p:spPr bwMode="auto">
          <a:xfrm flipH="1">
            <a:off x="4281488" y="5868988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1" name="Line 66"/>
          <p:cNvSpPr>
            <a:spLocks noChangeShapeType="1"/>
          </p:cNvSpPr>
          <p:nvPr/>
        </p:nvSpPr>
        <p:spPr bwMode="auto">
          <a:xfrm flipV="1">
            <a:off x="4268788" y="5849938"/>
            <a:ext cx="3495675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042" name="Group 112"/>
          <p:cNvGrpSpPr>
            <a:grpSpLocks/>
          </p:cNvGrpSpPr>
          <p:nvPr/>
        </p:nvGrpSpPr>
        <p:grpSpPr bwMode="auto">
          <a:xfrm>
            <a:off x="4470400" y="1552575"/>
            <a:ext cx="2989263" cy="3163888"/>
            <a:chOff x="2180" y="1453"/>
            <a:chExt cx="2021" cy="2119"/>
          </a:xfrm>
        </p:grpSpPr>
        <p:sp>
          <p:nvSpPr>
            <p:cNvPr id="44074" name="Line 68"/>
            <p:cNvSpPr>
              <a:spLocks noChangeShapeType="1"/>
            </p:cNvSpPr>
            <p:nvPr/>
          </p:nvSpPr>
          <p:spPr bwMode="auto">
            <a:xfrm>
              <a:off x="2180" y="1453"/>
              <a:ext cx="1787" cy="1972"/>
            </a:xfrm>
            <a:prstGeom prst="line">
              <a:avLst/>
            </a:prstGeom>
            <a:noFill/>
            <a:ln w="28575">
              <a:solidFill>
                <a:srgbClr val="2D69AE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75" name="Text Box 69"/>
            <p:cNvSpPr txBox="1">
              <a:spLocks noChangeArrowheads="1"/>
            </p:cNvSpPr>
            <p:nvPr/>
          </p:nvSpPr>
          <p:spPr bwMode="auto">
            <a:xfrm>
              <a:off x="3864" y="3341"/>
              <a:ext cx="3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sz="1800" i="1">
                  <a:latin typeface="Arial" charset="0"/>
                </a:rPr>
                <a:t>D</a:t>
              </a:r>
            </a:p>
          </p:txBody>
        </p:sp>
      </p:grpSp>
      <p:sp>
        <p:nvSpPr>
          <p:cNvPr id="44043" name="Line 77"/>
          <p:cNvSpPr>
            <a:spLocks noChangeShapeType="1"/>
          </p:cNvSpPr>
          <p:nvPr/>
        </p:nvSpPr>
        <p:spPr bwMode="auto">
          <a:xfrm>
            <a:off x="5854700" y="3090863"/>
            <a:ext cx="0" cy="2770187"/>
          </a:xfrm>
          <a:prstGeom prst="line">
            <a:avLst/>
          </a:prstGeom>
          <a:noFill/>
          <a:ln w="25400" cap="rnd">
            <a:solidFill>
              <a:srgbClr val="939598"/>
            </a:solidFill>
            <a:prstDash val="sysDot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044" name="Text Box 78"/>
          <p:cNvSpPr txBox="1">
            <a:spLocks noChangeArrowheads="1"/>
          </p:cNvSpPr>
          <p:nvPr/>
        </p:nvSpPr>
        <p:spPr bwMode="auto">
          <a:xfrm>
            <a:off x="5654675" y="5853113"/>
            <a:ext cx="5603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 i="1">
                <a:latin typeface="Arial" charset="0"/>
              </a:rPr>
              <a:t>75</a:t>
            </a:r>
            <a:endParaRPr lang="en-US" altLang="en-US" sz="1800" i="1"/>
          </a:p>
        </p:txBody>
      </p:sp>
      <p:sp>
        <p:nvSpPr>
          <p:cNvPr id="44045" name="Text Box 81"/>
          <p:cNvSpPr txBox="1">
            <a:spLocks noChangeArrowheads="1"/>
          </p:cNvSpPr>
          <p:nvPr/>
        </p:nvSpPr>
        <p:spPr bwMode="auto">
          <a:xfrm>
            <a:off x="3803650" y="2887663"/>
            <a:ext cx="4413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 i="1">
                <a:latin typeface="Arial" charset="0"/>
              </a:rPr>
              <a:t>$8</a:t>
            </a:r>
            <a:endParaRPr lang="en-US" altLang="en-US" sz="1800" i="1"/>
          </a:p>
        </p:txBody>
      </p:sp>
      <p:sp>
        <p:nvSpPr>
          <p:cNvPr id="44047" name="Text Box 89"/>
          <p:cNvSpPr txBox="1">
            <a:spLocks noChangeArrowheads="1"/>
          </p:cNvSpPr>
          <p:nvPr/>
        </p:nvSpPr>
        <p:spPr bwMode="auto">
          <a:xfrm>
            <a:off x="5472113" y="6237288"/>
            <a:ext cx="2540000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Quantity of Pizza</a:t>
            </a:r>
          </a:p>
        </p:txBody>
      </p:sp>
      <p:sp>
        <p:nvSpPr>
          <p:cNvPr id="44048" name="Line 90"/>
          <p:cNvSpPr>
            <a:spLocks noChangeShapeType="1"/>
          </p:cNvSpPr>
          <p:nvPr/>
        </p:nvSpPr>
        <p:spPr bwMode="auto">
          <a:xfrm flipV="1">
            <a:off x="4286250" y="1747838"/>
            <a:ext cx="0" cy="4102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11"/>
          <p:cNvGrpSpPr>
            <a:grpSpLocks/>
          </p:cNvGrpSpPr>
          <p:nvPr/>
        </p:nvGrpSpPr>
        <p:grpSpPr bwMode="auto">
          <a:xfrm>
            <a:off x="5257800" y="2085975"/>
            <a:ext cx="3609975" cy="2825750"/>
            <a:chOff x="2232" y="1305"/>
            <a:chExt cx="2274" cy="1780"/>
          </a:xfrm>
        </p:grpSpPr>
        <p:sp>
          <p:nvSpPr>
            <p:cNvPr id="44072" name="Text Box 92"/>
            <p:cNvSpPr txBox="1">
              <a:spLocks noChangeArrowheads="1"/>
            </p:cNvSpPr>
            <p:nvPr/>
          </p:nvSpPr>
          <p:spPr bwMode="auto">
            <a:xfrm>
              <a:off x="3755" y="1305"/>
              <a:ext cx="751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sz="1800" i="1">
                  <a:latin typeface="Arial" charset="0"/>
                </a:rPr>
                <a:t>S +subsidy</a:t>
              </a:r>
            </a:p>
          </p:txBody>
        </p:sp>
        <p:sp>
          <p:nvSpPr>
            <p:cNvPr id="44073" name="Line 93"/>
            <p:cNvSpPr>
              <a:spLocks noChangeShapeType="1"/>
            </p:cNvSpPr>
            <p:nvPr/>
          </p:nvSpPr>
          <p:spPr bwMode="auto">
            <a:xfrm flipV="1">
              <a:off x="2232" y="1505"/>
              <a:ext cx="1628" cy="15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050" name="Group 114"/>
          <p:cNvGrpSpPr>
            <a:grpSpLocks/>
          </p:cNvGrpSpPr>
          <p:nvPr/>
        </p:nvGrpSpPr>
        <p:grpSpPr bwMode="auto">
          <a:xfrm>
            <a:off x="5402260" y="1992313"/>
            <a:ext cx="723900" cy="1611312"/>
            <a:chOff x="2725" y="1685"/>
            <a:chExt cx="456" cy="1015"/>
          </a:xfrm>
        </p:grpSpPr>
        <p:sp>
          <p:nvSpPr>
            <p:cNvPr id="44069" name="Oval 95"/>
            <p:cNvSpPr>
              <a:spLocks noChangeArrowheads="1"/>
            </p:cNvSpPr>
            <p:nvPr/>
          </p:nvSpPr>
          <p:spPr bwMode="auto">
            <a:xfrm>
              <a:off x="2958" y="2315"/>
              <a:ext cx="64" cy="64"/>
            </a:xfrm>
            <a:prstGeom prst="ellipse">
              <a:avLst/>
            </a:prstGeom>
            <a:solidFill>
              <a:srgbClr val="00889B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70" name="Text Box 96"/>
            <p:cNvSpPr txBox="1">
              <a:spLocks noChangeArrowheads="1"/>
            </p:cNvSpPr>
            <p:nvPr/>
          </p:nvSpPr>
          <p:spPr bwMode="auto">
            <a:xfrm>
              <a:off x="2725" y="2469"/>
              <a:ext cx="3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sz="1800" i="1" dirty="0">
                  <a:latin typeface="Arial" charset="0"/>
                </a:rPr>
                <a:t>E</a:t>
              </a:r>
            </a:p>
          </p:txBody>
        </p:sp>
        <p:sp>
          <p:nvSpPr>
            <p:cNvPr id="44071" name="Text Box 101"/>
            <p:cNvSpPr txBox="1">
              <a:spLocks noChangeArrowheads="1"/>
            </p:cNvSpPr>
            <p:nvPr/>
          </p:nvSpPr>
          <p:spPr bwMode="auto">
            <a:xfrm>
              <a:off x="2844" y="1685"/>
              <a:ext cx="3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endParaRPr lang="en-US" altLang="en-US" sz="1800" i="1">
                <a:latin typeface="Arial" charset="0"/>
              </a:endParaRPr>
            </a:p>
          </p:txBody>
        </p:sp>
      </p:grpSp>
      <p:sp>
        <p:nvSpPr>
          <p:cNvPr id="61" name="Rectangle 11"/>
          <p:cNvSpPr>
            <a:spLocks noChangeArrowheads="1"/>
          </p:cNvSpPr>
          <p:nvPr/>
        </p:nvSpPr>
        <p:spPr bwMode="auto">
          <a:xfrm>
            <a:off x="0" y="1277938"/>
            <a:ext cx="3541486" cy="287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defRPr/>
            </a:pPr>
            <a:r>
              <a:rPr lang="en-US" dirty="0">
                <a:latin typeface="+mn-lt"/>
              </a:rPr>
              <a:t>A subsidy shifts the supply curve, total production increases to 100, price falls to $5, MC rises to $11 and government pays the seller 600$ ($6*100)</a:t>
            </a:r>
          </a:p>
        </p:txBody>
      </p: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3727450" y="2225675"/>
            <a:ext cx="3122613" cy="3981450"/>
            <a:chOff x="3726995" y="2226128"/>
            <a:chExt cx="3123294" cy="3980771"/>
          </a:xfrm>
        </p:grpSpPr>
        <p:sp>
          <p:nvSpPr>
            <p:cNvPr id="44063" name="Line 72"/>
            <p:cNvSpPr>
              <a:spLocks noChangeShapeType="1"/>
            </p:cNvSpPr>
            <p:nvPr/>
          </p:nvSpPr>
          <p:spPr bwMode="auto">
            <a:xfrm>
              <a:off x="4311877" y="3735161"/>
              <a:ext cx="2165350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cxnSp>
          <p:nvCxnSpPr>
            <p:cNvPr id="44064" name="Straight Connector 59"/>
            <p:cNvCxnSpPr>
              <a:cxnSpLocks noChangeShapeType="1"/>
            </p:cNvCxnSpPr>
            <p:nvPr/>
          </p:nvCxnSpPr>
          <p:spPr bwMode="auto">
            <a:xfrm>
              <a:off x="4325257" y="2380342"/>
              <a:ext cx="2191657" cy="1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sysDot"/>
              <a:round/>
              <a:headEnd/>
              <a:tailEnd/>
            </a:ln>
          </p:spPr>
        </p:cxnSp>
        <p:sp>
          <p:nvSpPr>
            <p:cNvPr id="44065" name="Text Box 73"/>
            <p:cNvSpPr txBox="1">
              <a:spLocks noChangeArrowheads="1"/>
            </p:cNvSpPr>
            <p:nvPr/>
          </p:nvSpPr>
          <p:spPr bwMode="auto">
            <a:xfrm>
              <a:off x="3791177" y="3535136"/>
              <a:ext cx="44132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$5</a:t>
              </a:r>
              <a:endParaRPr lang="en-US" altLang="en-US" sz="1800" i="1"/>
            </a:p>
          </p:txBody>
        </p:sp>
        <p:sp>
          <p:nvSpPr>
            <p:cNvPr id="44066" name="Line 75"/>
            <p:cNvSpPr>
              <a:spLocks noChangeShapeType="1"/>
            </p:cNvSpPr>
            <p:nvPr/>
          </p:nvSpPr>
          <p:spPr bwMode="auto">
            <a:xfrm>
              <a:off x="6516914" y="2381023"/>
              <a:ext cx="3175" cy="3470276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67" name="Text Box 76"/>
            <p:cNvSpPr txBox="1">
              <a:spLocks noChangeArrowheads="1"/>
            </p:cNvSpPr>
            <p:nvPr/>
          </p:nvSpPr>
          <p:spPr bwMode="auto">
            <a:xfrm>
              <a:off x="6277202" y="5837011"/>
              <a:ext cx="573087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100</a:t>
              </a:r>
              <a:endParaRPr lang="en-US" altLang="en-US" sz="1800" i="1"/>
            </a:p>
          </p:txBody>
        </p:sp>
        <p:sp>
          <p:nvSpPr>
            <p:cNvPr id="44068" name="Rectangle 48"/>
            <p:cNvSpPr>
              <a:spLocks noChangeArrowheads="1"/>
            </p:cNvSpPr>
            <p:nvPr/>
          </p:nvSpPr>
          <p:spPr bwMode="auto">
            <a:xfrm>
              <a:off x="3726995" y="2226128"/>
              <a:ext cx="5522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$11</a:t>
              </a:r>
              <a:endParaRPr lang="en-US" altLang="en-US" sz="1800" i="1"/>
            </a:p>
          </p:txBody>
        </p:sp>
      </p:grpSp>
      <p:sp>
        <p:nvSpPr>
          <p:cNvPr id="44055" name="Text Box 17"/>
          <p:cNvSpPr txBox="1">
            <a:spLocks noChangeArrowheads="1"/>
          </p:cNvSpPr>
          <p:nvPr/>
        </p:nvSpPr>
        <p:spPr bwMode="auto">
          <a:xfrm>
            <a:off x="7226300" y="1239838"/>
            <a:ext cx="9223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 i="1">
                <a:latin typeface="Arial" charset="0"/>
              </a:rPr>
              <a:t>S</a:t>
            </a:r>
          </a:p>
        </p:txBody>
      </p:sp>
      <p:sp>
        <p:nvSpPr>
          <p:cNvPr id="77" name="Rectangle 11"/>
          <p:cNvSpPr>
            <a:spLocks noChangeArrowheads="1"/>
          </p:cNvSpPr>
          <p:nvPr/>
        </p:nvSpPr>
        <p:spPr bwMode="auto">
          <a:xfrm>
            <a:off x="0" y="4340225"/>
            <a:ext cx="2859088" cy="16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>
              <a:defRPr/>
            </a:pPr>
            <a:r>
              <a:rPr lang="en-US" dirty="0">
                <a:latin typeface="+mn-lt"/>
              </a:rPr>
              <a:t>The increased quantity creates a deadweight loss.  </a:t>
            </a:r>
          </a:p>
          <a:p>
            <a:pPr marL="0" lvl="1">
              <a:defRPr/>
            </a:pPr>
            <a:endParaRPr lang="en-US" sz="2800" dirty="0"/>
          </a:p>
        </p:txBody>
      </p:sp>
      <p:sp>
        <p:nvSpPr>
          <p:cNvPr id="79" name="Oval 95"/>
          <p:cNvSpPr>
            <a:spLocks noChangeArrowheads="1"/>
          </p:cNvSpPr>
          <p:nvPr/>
        </p:nvSpPr>
        <p:spPr bwMode="auto">
          <a:xfrm>
            <a:off x="6446838" y="2303463"/>
            <a:ext cx="101600" cy="101600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Text Box 96"/>
          <p:cNvSpPr txBox="1">
            <a:spLocks noChangeArrowheads="1"/>
          </p:cNvSpPr>
          <p:nvPr/>
        </p:nvSpPr>
        <p:spPr bwMode="auto">
          <a:xfrm>
            <a:off x="6256338" y="1925638"/>
            <a:ext cx="5349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 i="1">
                <a:latin typeface="Arial" charset="0"/>
              </a:rPr>
              <a:t>B</a:t>
            </a:r>
          </a:p>
        </p:txBody>
      </p:sp>
      <p:sp>
        <p:nvSpPr>
          <p:cNvPr id="81" name="Oval 95"/>
          <p:cNvSpPr>
            <a:spLocks noChangeArrowheads="1"/>
          </p:cNvSpPr>
          <p:nvPr/>
        </p:nvSpPr>
        <p:spPr bwMode="auto">
          <a:xfrm>
            <a:off x="6438900" y="3703638"/>
            <a:ext cx="101600" cy="101600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" name="Text Box 96"/>
          <p:cNvSpPr txBox="1">
            <a:spLocks noChangeArrowheads="1"/>
          </p:cNvSpPr>
          <p:nvPr/>
        </p:nvSpPr>
        <p:spPr bwMode="auto">
          <a:xfrm>
            <a:off x="6597650" y="3573463"/>
            <a:ext cx="534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 i="1">
                <a:latin typeface="Arial" charset="0"/>
              </a:rPr>
              <a:t>E</a:t>
            </a:r>
            <a:r>
              <a:rPr lang="en-US" altLang="en-US" sz="1800" i="1" baseline="-25000">
                <a:latin typeface="Arial" charset="0"/>
              </a:rPr>
              <a:t>1</a:t>
            </a:r>
          </a:p>
        </p:txBody>
      </p:sp>
      <p:sp>
        <p:nvSpPr>
          <p:cNvPr id="44" name="Text Box 88">
            <a:extLst>
              <a:ext uri="{FF2B5EF4-FFF2-40B4-BE49-F238E27FC236}">
                <a16:creationId xmlns:a16="http://schemas.microsoft.com/office/drawing/2014/main" id="{A8B0293E-BE2F-4556-9B33-228B836CF606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622552" y="3102018"/>
            <a:ext cx="1912938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 dirty="0">
                <a:latin typeface="Arial" charset="0"/>
              </a:rPr>
              <a:t>Price of Pizza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4EB2481A-F50B-E479-14CC-84E502DE4974}"/>
              </a:ext>
            </a:extLst>
          </p:cNvPr>
          <p:cNvSpPr/>
          <p:nvPr/>
        </p:nvSpPr>
        <p:spPr bwMode="auto">
          <a:xfrm>
            <a:off x="4325582" y="1470660"/>
            <a:ext cx="1392559" cy="1570990"/>
          </a:xfrm>
          <a:prstGeom prst="rtTriangl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5F9C4DE-669F-0B0B-E07C-F10D7604A3D4}"/>
              </a:ext>
            </a:extLst>
          </p:cNvPr>
          <p:cNvSpPr/>
          <p:nvPr/>
        </p:nvSpPr>
        <p:spPr bwMode="auto">
          <a:xfrm flipV="1">
            <a:off x="4287516" y="3078163"/>
            <a:ext cx="1392559" cy="1570990"/>
          </a:xfrm>
          <a:prstGeom prst="rtTriangl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4D3CB-9114-4FED-8B00-CA2E37C5A7CA}"/>
              </a:ext>
            </a:extLst>
          </p:cNvPr>
          <p:cNvSpPr txBox="1"/>
          <p:nvPr/>
        </p:nvSpPr>
        <p:spPr>
          <a:xfrm>
            <a:off x="4313184" y="2346008"/>
            <a:ext cx="955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Consumer surplus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A58EF-9678-8164-3345-7824FD532F17}"/>
              </a:ext>
            </a:extLst>
          </p:cNvPr>
          <p:cNvSpPr txBox="1"/>
          <p:nvPr/>
        </p:nvSpPr>
        <p:spPr>
          <a:xfrm>
            <a:off x="4303200" y="3129533"/>
            <a:ext cx="1330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Producer surplus </a:t>
            </a:r>
            <a:endParaRPr lang="en-US" sz="1800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257DDEF-F378-91DF-3AD4-459213D4C779}"/>
              </a:ext>
            </a:extLst>
          </p:cNvPr>
          <p:cNvSpPr/>
          <p:nvPr/>
        </p:nvSpPr>
        <p:spPr bwMode="auto">
          <a:xfrm rot="16200000">
            <a:off x="5609082" y="2829561"/>
            <a:ext cx="1135770" cy="522745"/>
          </a:xfrm>
          <a:prstGeom prst="triangl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957600-91CC-6633-1AF8-A8D4015D8B05}"/>
              </a:ext>
            </a:extLst>
          </p:cNvPr>
          <p:cNvCxnSpPr/>
          <p:nvPr/>
        </p:nvCxnSpPr>
        <p:spPr bwMode="auto">
          <a:xfrm flipH="1">
            <a:off x="6548438" y="2410372"/>
            <a:ext cx="316706" cy="30425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0FEA16E-9794-9065-A2CA-6199B2F6E4C5}"/>
              </a:ext>
            </a:extLst>
          </p:cNvPr>
          <p:cNvSpPr txBox="1"/>
          <p:nvPr/>
        </p:nvSpPr>
        <p:spPr>
          <a:xfrm>
            <a:off x="6850063" y="2085975"/>
            <a:ext cx="1325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Deadweight loss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7" grpId="0"/>
      <p:bldP spid="79" grpId="0" animBg="1"/>
      <p:bldP spid="80" grpId="0"/>
      <p:bldP spid="81" grpId="0" animBg="1"/>
      <p:bldP spid="8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6375"/>
            <a:ext cx="9144000" cy="11430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/>
              <a:t>Subsidies and Quotas: Quotas</a:t>
            </a:r>
            <a:endParaRPr lang="en-GB"/>
          </a:p>
        </p:txBody>
      </p:sp>
      <p:sp>
        <p:nvSpPr>
          <p:cNvPr id="45063" name="Line 51"/>
          <p:cNvSpPr>
            <a:spLocks noChangeShapeType="1"/>
          </p:cNvSpPr>
          <p:nvPr/>
        </p:nvSpPr>
        <p:spPr bwMode="auto">
          <a:xfrm flipH="1">
            <a:off x="4244975" y="2351088"/>
            <a:ext cx="4763" cy="37385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4" name="Line 52"/>
          <p:cNvSpPr>
            <a:spLocks noChangeShapeType="1"/>
          </p:cNvSpPr>
          <p:nvPr/>
        </p:nvSpPr>
        <p:spPr bwMode="auto">
          <a:xfrm>
            <a:off x="4233863" y="6069013"/>
            <a:ext cx="4156075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5065" name="Group 92"/>
          <p:cNvGrpSpPr>
            <a:grpSpLocks/>
          </p:cNvGrpSpPr>
          <p:nvPr/>
        </p:nvGrpSpPr>
        <p:grpSpPr bwMode="auto">
          <a:xfrm>
            <a:off x="4889500" y="2947988"/>
            <a:ext cx="3028950" cy="3052762"/>
            <a:chOff x="2000" y="1857"/>
            <a:chExt cx="2265" cy="1923"/>
          </a:xfrm>
        </p:grpSpPr>
        <p:sp>
          <p:nvSpPr>
            <p:cNvPr id="45100" name="Line 48"/>
            <p:cNvSpPr>
              <a:spLocks noChangeShapeType="1"/>
            </p:cNvSpPr>
            <p:nvPr/>
          </p:nvSpPr>
          <p:spPr bwMode="auto">
            <a:xfrm>
              <a:off x="2000" y="1857"/>
              <a:ext cx="2003" cy="1756"/>
            </a:xfrm>
            <a:prstGeom prst="line">
              <a:avLst/>
            </a:prstGeom>
            <a:noFill/>
            <a:ln w="28575">
              <a:solidFill>
                <a:srgbClr val="2D69AE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101" name="Text Box 61"/>
            <p:cNvSpPr txBox="1">
              <a:spLocks noChangeArrowheads="1"/>
            </p:cNvSpPr>
            <p:nvPr/>
          </p:nvSpPr>
          <p:spPr bwMode="auto">
            <a:xfrm>
              <a:off x="3928" y="3549"/>
              <a:ext cx="3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sz="1800" i="1">
                  <a:latin typeface="Arial" charset="0"/>
                </a:rPr>
                <a:t>D</a:t>
              </a:r>
            </a:p>
          </p:txBody>
        </p:sp>
      </p:grpSp>
      <p:grpSp>
        <p:nvGrpSpPr>
          <p:cNvPr id="45066" name="Group 94"/>
          <p:cNvGrpSpPr>
            <a:grpSpLocks/>
          </p:cNvGrpSpPr>
          <p:nvPr/>
        </p:nvGrpSpPr>
        <p:grpSpPr bwMode="auto">
          <a:xfrm>
            <a:off x="3636963" y="3044825"/>
            <a:ext cx="3794125" cy="3659188"/>
            <a:chOff x="1064" y="1918"/>
            <a:chExt cx="2836" cy="2305"/>
          </a:xfrm>
        </p:grpSpPr>
        <p:sp>
          <p:nvSpPr>
            <p:cNvPr id="45087" name="Line 53"/>
            <p:cNvSpPr>
              <a:spLocks noChangeShapeType="1"/>
            </p:cNvSpPr>
            <p:nvPr/>
          </p:nvSpPr>
          <p:spPr bwMode="auto">
            <a:xfrm>
              <a:off x="2896" y="2620"/>
              <a:ext cx="0" cy="1205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088" name="Text Box 54"/>
            <p:cNvSpPr txBox="1">
              <a:spLocks noChangeArrowheads="1"/>
            </p:cNvSpPr>
            <p:nvPr/>
          </p:nvSpPr>
          <p:spPr bwMode="auto">
            <a:xfrm>
              <a:off x="2770" y="3816"/>
              <a:ext cx="436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100</a:t>
              </a:r>
              <a:r>
                <a:rPr lang="en-US" altLang="en-US" sz="1800" i="1" baseline="-25000">
                  <a:latin typeface="Arial" charset="0"/>
                </a:rPr>
                <a:t>e</a:t>
              </a:r>
              <a:endParaRPr lang="en-US" altLang="en-US" sz="1800" i="1"/>
            </a:p>
          </p:txBody>
        </p:sp>
        <p:sp>
          <p:nvSpPr>
            <p:cNvPr id="45089" name="Line 47"/>
            <p:cNvSpPr>
              <a:spLocks noChangeShapeType="1"/>
            </p:cNvSpPr>
            <p:nvPr/>
          </p:nvSpPr>
          <p:spPr bwMode="auto">
            <a:xfrm>
              <a:off x="1536" y="2636"/>
              <a:ext cx="1376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090" name="Text Box 66"/>
            <p:cNvSpPr txBox="1">
              <a:spLocks noChangeArrowheads="1"/>
            </p:cNvSpPr>
            <p:nvPr/>
          </p:nvSpPr>
          <p:spPr bwMode="auto">
            <a:xfrm>
              <a:off x="1121" y="2501"/>
              <a:ext cx="33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$8</a:t>
              </a:r>
              <a:endParaRPr lang="en-US" altLang="en-US" sz="1800" i="1"/>
            </a:p>
          </p:txBody>
        </p:sp>
        <p:grpSp>
          <p:nvGrpSpPr>
            <p:cNvPr id="45091" name="Group 68"/>
            <p:cNvGrpSpPr>
              <a:grpSpLocks/>
            </p:cNvGrpSpPr>
            <p:nvPr/>
          </p:nvGrpSpPr>
          <p:grpSpPr bwMode="auto">
            <a:xfrm>
              <a:off x="2094" y="3182"/>
              <a:ext cx="353" cy="875"/>
              <a:chOff x="2802" y="3214"/>
              <a:chExt cx="353" cy="875"/>
            </a:xfrm>
          </p:grpSpPr>
          <p:sp>
            <p:nvSpPr>
              <p:cNvPr id="45098" name="Line 69"/>
              <p:cNvSpPr>
                <a:spLocks noChangeShapeType="1"/>
              </p:cNvSpPr>
              <p:nvPr/>
            </p:nvSpPr>
            <p:spPr bwMode="auto">
              <a:xfrm>
                <a:off x="2928" y="3214"/>
                <a:ext cx="0" cy="605"/>
              </a:xfrm>
              <a:prstGeom prst="line">
                <a:avLst/>
              </a:prstGeom>
              <a:noFill/>
              <a:ln w="25400" cap="rnd">
                <a:solidFill>
                  <a:srgbClr val="939598"/>
                </a:solidFill>
                <a:prstDash val="sysDot"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099" name="Text Box 70"/>
              <p:cNvSpPr txBox="1">
                <a:spLocks noChangeArrowheads="1"/>
              </p:cNvSpPr>
              <p:nvPr/>
            </p:nvSpPr>
            <p:spPr bwMode="auto">
              <a:xfrm>
                <a:off x="2802" y="3858"/>
                <a:ext cx="35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en-US" sz="1800" i="1">
                    <a:latin typeface="Arial" charset="0"/>
                  </a:rPr>
                  <a:t>50</a:t>
                </a:r>
                <a:endParaRPr lang="en-US" altLang="en-US" sz="1800" i="1"/>
              </a:p>
            </p:txBody>
          </p:sp>
        </p:grpSp>
        <p:sp>
          <p:nvSpPr>
            <p:cNvPr id="45092" name="Line 72"/>
            <p:cNvSpPr>
              <a:spLocks noChangeShapeType="1"/>
            </p:cNvSpPr>
            <p:nvPr/>
          </p:nvSpPr>
          <p:spPr bwMode="auto">
            <a:xfrm>
              <a:off x="1536" y="3212"/>
              <a:ext cx="2012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093" name="Text Box 73"/>
            <p:cNvSpPr txBox="1">
              <a:spLocks noChangeArrowheads="1"/>
            </p:cNvSpPr>
            <p:nvPr/>
          </p:nvSpPr>
          <p:spPr bwMode="auto">
            <a:xfrm>
              <a:off x="1121" y="3077"/>
              <a:ext cx="33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$4</a:t>
              </a:r>
              <a:endParaRPr lang="en-US" altLang="en-US" sz="1800" i="1"/>
            </a:p>
          </p:txBody>
        </p:sp>
        <p:sp>
          <p:nvSpPr>
            <p:cNvPr id="45094" name="Line 81"/>
            <p:cNvSpPr>
              <a:spLocks noChangeShapeType="1"/>
            </p:cNvSpPr>
            <p:nvPr/>
          </p:nvSpPr>
          <p:spPr bwMode="auto">
            <a:xfrm>
              <a:off x="1544" y="2044"/>
              <a:ext cx="692" cy="0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095" name="Text Box 82"/>
            <p:cNvSpPr txBox="1">
              <a:spLocks noChangeArrowheads="1"/>
            </p:cNvSpPr>
            <p:nvPr/>
          </p:nvSpPr>
          <p:spPr bwMode="auto">
            <a:xfrm>
              <a:off x="1064" y="1918"/>
              <a:ext cx="42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$12</a:t>
              </a:r>
              <a:endParaRPr lang="en-US" altLang="en-US" sz="1800" i="1"/>
            </a:p>
          </p:txBody>
        </p:sp>
        <p:sp>
          <p:nvSpPr>
            <p:cNvPr id="45096" name="Line 83"/>
            <p:cNvSpPr>
              <a:spLocks noChangeShapeType="1"/>
            </p:cNvSpPr>
            <p:nvPr/>
          </p:nvSpPr>
          <p:spPr bwMode="auto">
            <a:xfrm>
              <a:off x="3540" y="3224"/>
              <a:ext cx="0" cy="593"/>
            </a:xfrm>
            <a:prstGeom prst="line">
              <a:avLst/>
            </a:prstGeom>
            <a:noFill/>
            <a:ln w="25400" cap="rnd">
              <a:solidFill>
                <a:srgbClr val="939598"/>
              </a:solidFill>
              <a:prstDash val="sysDot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097" name="Text Box 84"/>
            <p:cNvSpPr txBox="1">
              <a:spLocks noChangeArrowheads="1"/>
            </p:cNvSpPr>
            <p:nvPr/>
          </p:nvSpPr>
          <p:spPr bwMode="auto">
            <a:xfrm>
              <a:off x="3442" y="3808"/>
              <a:ext cx="458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en-US" sz="1800" i="1">
                  <a:latin typeface="Arial" charset="0"/>
                </a:rPr>
                <a:t>150</a:t>
              </a:r>
              <a:r>
                <a:rPr lang="en-US" altLang="en-US" sz="1800" i="1" baseline="-25000">
                  <a:latin typeface="Arial" charset="0"/>
                </a:rPr>
                <a:t>d</a:t>
              </a:r>
              <a:endParaRPr lang="en-US" altLang="en-US" sz="1800" i="1"/>
            </a:p>
          </p:txBody>
        </p:sp>
      </p:grpSp>
      <p:grpSp>
        <p:nvGrpSpPr>
          <p:cNvPr id="45067" name="Group 91"/>
          <p:cNvGrpSpPr>
            <a:grpSpLocks/>
          </p:cNvGrpSpPr>
          <p:nvPr/>
        </p:nvGrpSpPr>
        <p:grpSpPr bwMode="auto">
          <a:xfrm>
            <a:off x="5000625" y="1855788"/>
            <a:ext cx="407988" cy="4181475"/>
            <a:chOff x="2083" y="1169"/>
            <a:chExt cx="305" cy="2045"/>
          </a:xfrm>
        </p:grpSpPr>
        <p:sp>
          <p:nvSpPr>
            <p:cNvPr id="45085" name="Text Box 55"/>
            <p:cNvSpPr txBox="1">
              <a:spLocks noChangeArrowheads="1"/>
            </p:cNvSpPr>
            <p:nvPr/>
          </p:nvSpPr>
          <p:spPr bwMode="auto">
            <a:xfrm>
              <a:off x="2083" y="1169"/>
              <a:ext cx="30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en-US" sz="1800" i="1">
                  <a:latin typeface="Arial" charset="0"/>
                </a:rPr>
                <a:t>S</a:t>
              </a:r>
              <a:r>
                <a:rPr lang="en-US" altLang="en-US" sz="1800">
                  <a:latin typeface="Arial" charset="0"/>
                </a:rPr>
                <a:t>’</a:t>
              </a:r>
              <a:endParaRPr lang="en-US" altLang="en-US" sz="1800" i="1">
                <a:latin typeface="Arial" charset="0"/>
              </a:endParaRPr>
            </a:p>
          </p:txBody>
        </p:sp>
        <p:sp>
          <p:nvSpPr>
            <p:cNvPr id="45086" name="Line 64"/>
            <p:cNvSpPr>
              <a:spLocks noChangeShapeType="1"/>
            </p:cNvSpPr>
            <p:nvPr/>
          </p:nvSpPr>
          <p:spPr bwMode="auto">
            <a:xfrm flipH="1" flipV="1">
              <a:off x="2209" y="1377"/>
              <a:ext cx="12" cy="1837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068" name="Oval 76"/>
          <p:cNvSpPr>
            <a:spLocks noChangeArrowheads="1"/>
          </p:cNvSpPr>
          <p:nvPr/>
        </p:nvSpPr>
        <p:spPr bwMode="auto">
          <a:xfrm>
            <a:off x="5133975" y="3195638"/>
            <a:ext cx="85725" cy="101600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9" name="Text Box 89"/>
          <p:cNvSpPr txBox="1">
            <a:spLocks noChangeArrowheads="1"/>
          </p:cNvSpPr>
          <p:nvPr/>
        </p:nvSpPr>
        <p:spPr bwMode="auto">
          <a:xfrm rot="-5400000">
            <a:off x="2975769" y="4145756"/>
            <a:ext cx="1150938" cy="3079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Price</a:t>
            </a:r>
          </a:p>
        </p:txBody>
      </p:sp>
      <p:sp>
        <p:nvSpPr>
          <p:cNvPr id="45070" name="Text Box 90"/>
          <p:cNvSpPr txBox="1">
            <a:spLocks noChangeArrowheads="1"/>
          </p:cNvSpPr>
          <p:nvPr/>
        </p:nvSpPr>
        <p:spPr bwMode="auto">
          <a:xfrm>
            <a:off x="4595813" y="6491288"/>
            <a:ext cx="3654425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>
                <a:latin typeface="Arial" charset="0"/>
              </a:rPr>
              <a:t>Quantity of T-shirts (thousands)</a:t>
            </a:r>
          </a:p>
        </p:txBody>
      </p:sp>
      <p:sp>
        <p:nvSpPr>
          <p:cNvPr id="45071" name="Line 60"/>
          <p:cNvSpPr>
            <a:spLocks noChangeShapeType="1"/>
          </p:cNvSpPr>
          <p:nvPr/>
        </p:nvSpPr>
        <p:spPr bwMode="auto">
          <a:xfrm flipV="1">
            <a:off x="4541838" y="2846388"/>
            <a:ext cx="2862262" cy="292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2" name="Oval 65"/>
          <p:cNvSpPr>
            <a:spLocks noChangeArrowheads="1"/>
          </p:cNvSpPr>
          <p:nvPr/>
        </p:nvSpPr>
        <p:spPr bwMode="auto">
          <a:xfrm>
            <a:off x="6053138" y="4138613"/>
            <a:ext cx="85725" cy="101600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3" name="Oval 76"/>
          <p:cNvSpPr>
            <a:spLocks noChangeArrowheads="1"/>
          </p:cNvSpPr>
          <p:nvPr/>
        </p:nvSpPr>
        <p:spPr bwMode="auto">
          <a:xfrm>
            <a:off x="5127625" y="5016500"/>
            <a:ext cx="84138" cy="101600"/>
          </a:xfrm>
          <a:prstGeom prst="ellipse">
            <a:avLst/>
          </a:prstGeom>
          <a:solidFill>
            <a:srgbClr val="00889B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Rectangle 3"/>
          <p:cNvSpPr txBox="1">
            <a:spLocks noChangeArrowheads="1"/>
          </p:cNvSpPr>
          <p:nvPr/>
        </p:nvSpPr>
        <p:spPr>
          <a:xfrm>
            <a:off x="0" y="1600200"/>
            <a:ext cx="3744913" cy="1303338"/>
          </a:xfrm>
          <a:prstGeom prst="rect">
            <a:avLst/>
          </a:prstGeom>
        </p:spPr>
        <p:txBody>
          <a:bodyPr/>
          <a:lstStyle/>
          <a:p>
            <a:pPr marL="0" lvl="1">
              <a:spcBef>
                <a:spcPct val="40000"/>
              </a:spcBef>
              <a:buClr>
                <a:srgbClr val="01406A"/>
              </a:buClr>
              <a:buSzPct val="100000"/>
              <a:defRPr/>
            </a:pPr>
            <a:r>
              <a:rPr lang="en-US" dirty="0">
                <a:latin typeface="+mn-lt"/>
              </a:rPr>
              <a:t>With no quota, the price is $8 a shirt and 100 thousand T-shirts made</a:t>
            </a:r>
            <a:endParaRPr lang="en-US" kern="0" dirty="0">
              <a:latin typeface="+mn-lt"/>
            </a:endParaRPr>
          </a:p>
        </p:txBody>
      </p:sp>
      <p:sp>
        <p:nvSpPr>
          <p:cNvPr id="64" name="Rectangle 11"/>
          <p:cNvSpPr>
            <a:spLocks noChangeArrowheads="1"/>
          </p:cNvSpPr>
          <p:nvPr/>
        </p:nvSpPr>
        <p:spPr bwMode="auto">
          <a:xfrm>
            <a:off x="0" y="2844800"/>
            <a:ext cx="3324225" cy="256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938" lvl="1" indent="-7938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With the quota, total production decreases to 50 thousand, price rises to $12, MC falls to $4, total (CS &amp; PS) surplus falls and quota rents appear.</a:t>
            </a:r>
          </a:p>
        </p:txBody>
      </p:sp>
      <p:sp>
        <p:nvSpPr>
          <p:cNvPr id="65" name="Rectangle 12"/>
          <p:cNvSpPr>
            <a:spLocks noChangeArrowheads="1"/>
          </p:cNvSpPr>
          <p:nvPr/>
        </p:nvSpPr>
        <p:spPr bwMode="auto">
          <a:xfrm>
            <a:off x="0" y="5418138"/>
            <a:ext cx="359886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dirty="0">
                <a:latin typeface="+mn-lt"/>
              </a:rPr>
              <a:t>And a deadweight loss arises.</a:t>
            </a:r>
          </a:p>
        </p:txBody>
      </p:sp>
      <p:sp>
        <p:nvSpPr>
          <p:cNvPr id="45083" name="Text Box 61"/>
          <p:cNvSpPr txBox="1">
            <a:spLocks noChangeArrowheads="1"/>
          </p:cNvSpPr>
          <p:nvPr/>
        </p:nvSpPr>
        <p:spPr bwMode="auto">
          <a:xfrm>
            <a:off x="7445375" y="2549525"/>
            <a:ext cx="450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 i="1">
                <a:latin typeface="Arial" charset="0"/>
              </a:rPr>
              <a:t>S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394ABDC5-5D61-0B5B-06E8-2B59C157B209}"/>
              </a:ext>
            </a:extLst>
          </p:cNvPr>
          <p:cNvSpPr/>
          <p:nvPr/>
        </p:nvSpPr>
        <p:spPr bwMode="auto">
          <a:xfrm>
            <a:off x="4279128" y="2281092"/>
            <a:ext cx="847189" cy="944708"/>
          </a:xfrm>
          <a:prstGeom prst="rtTriangl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0005E703-DD03-2EE2-76C8-07E173EB5F49}"/>
              </a:ext>
            </a:extLst>
          </p:cNvPr>
          <p:cNvSpPr/>
          <p:nvPr/>
        </p:nvSpPr>
        <p:spPr bwMode="auto">
          <a:xfrm flipV="1">
            <a:off x="4285352" y="5087792"/>
            <a:ext cx="847189" cy="944708"/>
          </a:xfrm>
          <a:prstGeom prst="rtTriangle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31C2EA-CD54-1877-9631-8219F050636F}"/>
              </a:ext>
            </a:extLst>
          </p:cNvPr>
          <p:cNvSpPr/>
          <p:nvPr/>
        </p:nvSpPr>
        <p:spPr bwMode="auto">
          <a:xfrm>
            <a:off x="4279128" y="3244850"/>
            <a:ext cx="860478" cy="1863726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17403-DC15-62CB-1891-A1297911E482}"/>
              </a:ext>
            </a:extLst>
          </p:cNvPr>
          <p:cNvSpPr txBox="1"/>
          <p:nvPr/>
        </p:nvSpPr>
        <p:spPr>
          <a:xfrm>
            <a:off x="4374308" y="3834845"/>
            <a:ext cx="9257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Quota rents</a:t>
            </a:r>
          </a:p>
          <a:p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ACEE08-C13D-78D9-595D-6BA0904B0A6A}"/>
              </a:ext>
            </a:extLst>
          </p:cNvPr>
          <p:cNvSpPr txBox="1"/>
          <p:nvPr/>
        </p:nvSpPr>
        <p:spPr>
          <a:xfrm>
            <a:off x="4057643" y="1757871"/>
            <a:ext cx="1003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Consumer surplus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9F040-D530-CABF-29AA-75796F020208}"/>
              </a:ext>
            </a:extLst>
          </p:cNvPr>
          <p:cNvSpPr txBox="1"/>
          <p:nvPr/>
        </p:nvSpPr>
        <p:spPr>
          <a:xfrm>
            <a:off x="3223260" y="5560146"/>
            <a:ext cx="832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Producer surplus</a:t>
            </a:r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29A6614-3C52-FCD8-B2B9-8869FAD972A0}"/>
              </a:ext>
            </a:extLst>
          </p:cNvPr>
          <p:cNvSpPr/>
          <p:nvPr/>
        </p:nvSpPr>
        <p:spPr bwMode="auto">
          <a:xfrm rot="5400000">
            <a:off x="4875950" y="3818861"/>
            <a:ext cx="1503362" cy="723642"/>
          </a:xfrm>
          <a:prstGeom prst="triangle">
            <a:avLst/>
          </a:prstGeom>
          <a:solidFill>
            <a:schemeClr val="bg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8" grpId="0" animBg="1"/>
      <p:bldP spid="4507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1673225" y="2990850"/>
            <a:ext cx="5918200" cy="1196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sz="3600" dirty="0">
                <a:latin typeface="+mn-lt"/>
              </a:rPr>
              <a:t>Markets: Price Ceilings, Floors, Taxes and Subsidies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739775" y="1273175"/>
            <a:ext cx="3294063" cy="766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r>
              <a:rPr lang="en-US" altLang="en-US" sz="4400" b="1" dirty="0">
                <a:latin typeface="Arial" charset="0"/>
              </a:rPr>
              <a:t>Module 6</a:t>
            </a:r>
          </a:p>
        </p:txBody>
      </p:sp>
    </p:spTree>
    <p:custDataLst>
      <p:tags r:id="rId1"/>
    </p:custDataLst>
  </p:cSld>
  <p:clrMapOvr>
    <a:masterClrMapping/>
  </p:clrMapOvr>
  <p:transition spd="med"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ANSWERNOWSTYLE" val="-1"/>
  <p:tag name="RESPCOUNTERFORMAT" val="0"/>
  <p:tag name="NUMRESPONSES" val="1"/>
  <p:tag name="CHARTVALUEFORMAT" val="0%"/>
  <p:tag name="AUTOUPDATEALIASES" val="True"/>
  <p:tag name="RACEANIMATIONSPEED" val="3"/>
  <p:tag name="MAXRESPONDERS" val="5"/>
  <p:tag name="BUBBLEGROUPING" val="3"/>
  <p:tag name="CUSTOMCELLBACKCOLOR1" val="-657956"/>
  <p:tag name="USESCHEMECOLORS" val="True"/>
  <p:tag name="GRIDOPACITY" val="90"/>
  <p:tag name="GRIDPOSITION" val="1"/>
  <p:tag name="CHARTLABELS" val="1"/>
  <p:tag name="INCLUDEPPT" val="True"/>
  <p:tag name="REALTIMEBACKUP" val="False"/>
  <p:tag name="CHARTSCALE" val="True"/>
  <p:tag name="FIBINCLUDEOTHER" val="True"/>
  <p:tag name="PRRESPONSE3" val="8"/>
  <p:tag name="PRRESPONSE7" val="4"/>
  <p:tag name="SHOWFLASHWARNING" val="True"/>
  <p:tag name="SAVECSVWITHSESSION" val="True"/>
  <p:tag name="COUNTDOWNSTYLE" val="-1"/>
  <p:tag name="INPUTSOURCE" val="1"/>
  <p:tag name="AUTOADVANCE" val="False"/>
  <p:tag name="RACEENDPOINTS" val="100"/>
  <p:tag name="TEAMSINLEADERBOARD" val="5"/>
  <p:tag name="DEFAULTNUMTEAMS" val="5"/>
  <p:tag name="CUSTOMCELLBACKCOLOR3" val="-268652"/>
  <p:tag name="DISPLAYDEVICEID" val="True"/>
  <p:tag name="GRIDFONTSIZE" val="12"/>
  <p:tag name="INCLUDENONRESPONDERS" val="False"/>
  <p:tag name="INCORRECTPOINTVALUE" val="0"/>
  <p:tag name="ADVANCEDSETTINGSVIEW" val="False"/>
  <p:tag name="PRRESPONSE1" val="10"/>
  <p:tag name="PRRESPONSE6" val="5"/>
  <p:tag name="ALWAYSOPENPOLL" val="False"/>
  <p:tag name="SHOWBARVISIBLE" val="True"/>
  <p:tag name="ANSWERNOWTEXT" val="Answer Now"/>
  <p:tag name="ALLOWDUPLICATES" val="False"/>
  <p:tag name="ROTATIONINTERVAL" val="2"/>
  <p:tag name="PARTICIPANTSINLEADERBOARD" val="5"/>
  <p:tag name="CUSTOMGRIDBACKCOLOR" val="-722948"/>
  <p:tag name="DISPLAYNAME" val="True"/>
  <p:tag name="GRIDSIZE" val="{Width=800, Height=600}"/>
  <p:tag name="MULTIRESPDIVISOR" val="1"/>
  <p:tag name="ZEROBASED" val="False"/>
  <p:tag name="FIBDISPLAYKEYWORDS" val="True"/>
  <p:tag name="PRRESPONSE8" val="3"/>
  <p:tag name="BULLETTYPE" val="3"/>
  <p:tag name="BACKUPSESSIONS" val="True"/>
  <p:tag name="RACERSMAXDISPLAYED" val="5"/>
  <p:tag name="BUBBLEVALUEFORMAT" val="0.0"/>
  <p:tag name="DISPLAYDEVICENUMBER" val="True"/>
  <p:tag name="CHARTCOLORS" val="0"/>
  <p:tag name="REALTIMEBACKUPPATH" val="(None)"/>
  <p:tag name="PRRESPONSE2" val="9"/>
  <p:tag name="PRRESPONSE10" val="1"/>
  <p:tag name="CSVFORMAT" val="0"/>
  <p:tag name="BACKUPMAINTENANCE" val="7"/>
  <p:tag name="BUBBLENAMEVISIBLE" val="True"/>
  <p:tag name="CUSTOMCELLBACKCOLOR4" val="-8355712"/>
  <p:tag name="RESETCHARTS" val="True"/>
  <p:tag name="FIBDISPLAYRESULTS" val="True"/>
  <p:tag name="PRRESPONSE9" val="2"/>
  <p:tag name="RESPCOUNTERSTYLE" val="-1"/>
  <p:tag name="STDCHART" val="1"/>
  <p:tag name="CUSTOMCELLBACKCOLOR2" val="-13395457"/>
  <p:tag name="ALLOWUSERFEEDBACK" val="True"/>
  <p:tag name="PRRESPONSE4" val="7"/>
  <p:tag name="EXPANDSHOWBAR" val="True"/>
  <p:tag name="SKIPREMAININGRACESLIDES" val="True"/>
  <p:tag name="AUTOSIZEGRID" val="True"/>
  <p:tag name="FIBNUMRESULTS" val="5"/>
  <p:tag name="RESPTABLESTYLE" val="-1"/>
  <p:tag name="CUSTOMCELLFORECOLOR" val="-16777216"/>
  <p:tag name="AUTOADJUSTPARTRANGE" val="True"/>
  <p:tag name="COUNTDOWNSECONDS" val="10"/>
  <p:tag name="POLLINGCYCLE" val="2"/>
  <p:tag name="CORRECTPOINTVALUE" val="1"/>
  <p:tag name="BUBBLESIZEVISIBLE" val="True"/>
  <p:tag name="REVIEWONLY" val="False"/>
  <p:tag name="GRIDROTATIONINTERVAL" val="2"/>
  <p:tag name="MMPROD_NEXTUNIQUEID" val="10009"/>
  <p:tag name="PRRESPONSE5" val="6"/>
  <p:tag name="DELIMITERS" val="3.1"/>
  <p:tag name="TASKPANEKEY" val="92fb4bfa-8333-48bd-9974-8d3cffb60df1"/>
  <p:tag name="POWERPOINTVERSION" val="14.0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5&quot;&gt;&lt;property id=&quot;20148&quot; value=&quot;5&quot;/&gt;&lt;property id=&quot;20300&quot; value=&quot;Slide 2 - &amp;quot;Module Objectives&amp;quot;&quot;/&gt;&lt;property id=&quot;20307&quot; value=&quot;473&quot;/&gt;&lt;/object&gt;&lt;object type=&quot;3&quot; unique_id=&quot;10006&quot;&gt;&lt;property id=&quot;20148&quot; value=&quot;5&quot;/&gt;&lt;property id=&quot;20300&quot; value=&quot;Slide 6 - &amp;quot;Price Rationing Role of Free Markets&amp;quot;&quot;/&gt;&lt;property id=&quot;20307&quot; value=&quot;601&quot;/&gt;&lt;/object&gt;&lt;object type=&quot;3&quot; unique_id=&quot;10007&quot;&gt;&lt;property id=&quot;20148&quot; value=&quot;5&quot;/&gt;&lt;property id=&quot;20300&quot; value=&quot;Slide 10 - &amp;quot;Non-Price Rationing: Government Price Controls&amp;quot;&quot;/&gt;&lt;property id=&quot;20307&quot; value=&quot;599&quot;/&gt;&lt;/object&gt;&lt;object type=&quot;3&quot; unique_id=&quot;10008&quot;&gt;&lt;property id=&quot;20148&quot; value=&quot;5&quot;/&gt;&lt;property id=&quot;20300&quot; value=&quot;Slide 11 - &amp;quot;Price Ceilings and Housing Markets&amp;quot;&quot;/&gt;&lt;property id=&quot;20307&quot; value=&quot;522&quot;/&gt;&lt;/object&gt;&lt;object type=&quot;3&quot; unique_id=&quot;10009&quot;&gt;&lt;property id=&quot;20148&quot; value=&quot;5&quot;/&gt;&lt;property id=&quot;20300&quot; value=&quot;Slide 13 - &amp;quot;Price Ceilings and Housing Markets: Rent Control&amp;quot;&quot;/&gt;&lt;property id=&quot;20307&quot; value=&quot;600&quot;/&gt;&lt;/object&gt;&lt;object type=&quot;3&quot; unique_id=&quot;10011&quot;&gt;&lt;property id=&quot;20148&quot; value=&quot;5&quot;/&gt;&lt;property id=&quot;20300&quot; value=&quot;Slide 18 - &amp;quot;Price Ceilings and Housing Markets&amp;quot;&quot;/&gt;&lt;property id=&quot;20307&quot; value=&quot;527&quot;/&gt;&lt;/object&gt;&lt;object type=&quot;3&quot; unique_id=&quot;10012&quot;&gt;&lt;property id=&quot;20148&quot; value=&quot;5&quot;/&gt;&lt;property id=&quot;20300&quot; value=&quot;Slide 16 - &amp;quot;Price Ceilings and Housing Markets&amp;quot;&quot;/&gt;&lt;property id=&quot;20307&quot; value=&quot;528&quot;/&gt;&lt;/object&gt;&lt;object type=&quot;3&quot; unique_id=&quot;10013&quot;&gt;&lt;property id=&quot;20148&quot; value=&quot;5&quot;/&gt;&lt;property id=&quot;20300&quot; value=&quot;Slide 19 - &amp;quot;Price Ceilings and Housing Markets&amp;quot;&quot;/&gt;&lt;property id=&quot;20307&quot; value=&quot;529&quot;/&gt;&lt;/object&gt;&lt;object type=&quot;3&quot; unique_id=&quot;10014&quot;&gt;&lt;property id=&quot;20148&quot; value=&quot;5&quot;/&gt;&lt;property id=&quot;20300&quot; value=&quot;Slide 20 - &amp;quot;Price Ceilings and Housing Markets&amp;quot;&quot;/&gt;&lt;property id=&quot;20307&quot; value=&quot;609&quot;/&gt;&lt;/object&gt;&lt;object type=&quot;3&quot; unique_id=&quot;10015&quot;&gt;&lt;property id=&quot;20148&quot; value=&quot;5&quot;/&gt;&lt;property id=&quot;20300&quot; value=&quot;Slide 22 - &amp;quot;Price Ceilings and Housing Markets&amp;quot;&quot;/&gt;&lt;property id=&quot;20307&quot; value=&quot;532&quot;/&gt;&lt;/object&gt;&lt;object type=&quot;3&quot; unique_id=&quot;10017&quot;&gt;&lt;property id=&quot;20148&quot; value=&quot;5&quot;/&gt;&lt;property id=&quot;20300&quot; value=&quot;Slide 23 - &amp;quot;Price Ceilings and Housing Markets&amp;quot;&quot;/&gt;&lt;property id=&quot;20307&quot; value=&quot;534&quot;/&gt;&lt;/object&gt;&lt;object type=&quot;3&quot; unique_id=&quot;10018&quot;&gt;&lt;property id=&quot;20148&quot; value=&quot;5&quot;/&gt;&lt;property id=&quot;20300&quot; value=&quot;Slide 28 - &amp;quot;Price Floors and Labor Markets&amp;quot;&quot;/&gt;&lt;property id=&quot;20307&quot; value=&quot;540&quot;/&gt;&lt;/object&gt;&lt;object type=&quot;3&quot; unique_id=&quot;10019&quot;&gt;&lt;property id=&quot;20148&quot; value=&quot;5&quot;/&gt;&lt;property id=&quot;20300&quot; value=&quot;Slide 31 - &amp;quot;Price Floors and Labor Markets: Minimum Wage&amp;quot;&quot;/&gt;&lt;property id=&quot;20307&quot; value=&quot;608&quot;/&gt;&lt;/object&gt;&lt;object type=&quot;3&quot; unique_id=&quot;10020&quot;&gt;&lt;property id=&quot;20148&quot; value=&quot;5&quot;/&gt;&lt;property id=&quot;20300&quot; value=&quot;Slide 32 - &amp;quot;Price Floors and Labor Markets&amp;quot;&quot;/&gt;&lt;property id=&quot;20307&quot; value=&quot;545&quot;/&gt;&lt;/object&gt;&lt;object type=&quot;3&quot; unique_id=&quot;10021&quot;&gt;&lt;property id=&quot;20148&quot; value=&quot;5&quot;/&gt;&lt;property id=&quot;20300&quot; value=&quot;Slide 33 - &amp;quot;Price Floors and Labor Markets: Minimum Wage&amp;quot;&quot;/&gt;&lt;property id=&quot;20307&quot; value=&quot;611&quot;/&gt;&lt;/object&gt;&lt;object type=&quot;3&quot; unique_id=&quot;10022&quot;&gt;&lt;property id=&quot;20148&quot; value=&quot;5&quot;/&gt;&lt;property id=&quot;20300&quot; value=&quot;Slide 35 - &amp;quot;Price Floors and Labor Markets&amp;quot;&quot;/&gt;&lt;property id=&quot;20307&quot; value=&quot;549&quot;/&gt;&lt;/object&gt;&lt;object type=&quot;3&quot; unique_id=&quot;10023&quot;&gt;&lt;property id=&quot;20148&quot; value=&quot;5&quot;/&gt;&lt;property id=&quot;20300&quot; value=&quot;Slide 38 - &amp;quot;Taxes&amp;quot;&quot;/&gt;&lt;property id=&quot;20307&quot; value=&quot;550&quot;/&gt;&lt;/object&gt;&lt;object type=&quot;3&quot; unique_id=&quot;10024&quot;&gt;&lt;property id=&quot;20148&quot; value=&quot;5&quot;/&gt;&lt;property id=&quot;20300&quot; value=&quot;Slide 40 - &amp;quot;Taxes: Incidence&amp;quot;&quot;/&gt;&lt;property id=&quot;20307&quot; value=&quot;551&quot;/&gt;&lt;/object&gt;&lt;object type=&quot;3&quot; unique_id=&quot;10025&quot;&gt;&lt;property id=&quot;20148&quot; value=&quot;5&quot;/&gt;&lt;property id=&quot;20300&quot; value=&quot;Slide 42 - &amp;quot;($5)Tax on Sellers&amp;quot;&quot;/&gt;&lt;property id=&quot;20307&quot; value=&quot;612&quot;/&gt;&lt;/object&gt;&lt;object type=&quot;3&quot; unique_id=&quot;10026&quot;&gt;&lt;property id=&quot;20148&quot; value=&quot;5&quot;/&gt;&lt;property id=&quot;20300&quot; value=&quot;Slide 43 - &amp;quot;($5)Tax on Buyers&amp;quot;&quot;/&gt;&lt;property id=&quot;20307&quot; value=&quot;613&quot;/&gt;&lt;/object&gt;&lt;object type=&quot;3&quot; unique_id=&quot;10027&quot;&gt;&lt;property id=&quot;20148&quot; value=&quot;5&quot;/&gt;&lt;property id=&quot;20300&quot; value=&quot;Slide 45 - &amp;quot;Taxes: Incidence&amp;quot;&quot;/&gt;&lt;property id=&quot;20307&quot; value=&quot;559&quot;/&gt;&lt;/object&gt;&lt;object type=&quot;3&quot; unique_id=&quot;10028&quot;&gt;&lt;property id=&quot;20148&quot; value=&quot;5&quot;/&gt;&lt;property id=&quot;20300&quot; value=&quot;Slide 47 - &amp;quot;Taxes: Elasticity&amp;quot;&quot;/&gt;&lt;property id=&quot;20307&quot; value=&quot;560&quot;/&gt;&lt;/object&gt;&lt;object type=&quot;3&quot; unique_id=&quot;10029&quot;&gt;&lt;property id=&quot;20148&quot; value=&quot;5&quot;/&gt;&lt;property id=&quot;20300&quot; value=&quot;Slide 48 - &amp;quot;Taxes: Elasticity&amp;quot;&quot;/&gt;&lt;property id=&quot;20307&quot; value=&quot;565&quot;/&gt;&lt;/object&gt;&lt;object type=&quot;3&quot; unique_id=&quot;10030&quot;&gt;&lt;property id=&quot;20148&quot; value=&quot;5&quot;/&gt;&lt;property id=&quot;20300&quot; value=&quot;Slide 49 - &amp;quot;Taxes&amp;quot;&quot;/&gt;&lt;property id=&quot;20307&quot; value=&quot;570&quot;/&gt;&lt;/object&gt;&lt;object type=&quot;3&quot; unique_id=&quot;10031&quot;&gt;&lt;property id=&quot;20148&quot; value=&quot;5&quot;/&gt;&lt;property id=&quot;20300&quot; value=&quot;Slide 50 - &amp;quot;Taxes&amp;quot;&quot;/&gt;&lt;property id=&quot;20307&quot; value=&quot;571&quot;/&gt;&lt;/object&gt;&lt;object type=&quot;3&quot; unique_id=&quot;10032&quot;&gt;&lt;property id=&quot;20148&quot; value=&quot;5&quot;/&gt;&lt;property id=&quot;20300&quot; value=&quot;Slide 51 - &amp;quot;Taxes&amp;quot;&quot;/&gt;&lt;property id=&quot;20307&quot; value=&quot;616&quot;/&gt;&lt;/object&gt;&lt;object type=&quot;3&quot; unique_id=&quot;10034&quot;&gt;&lt;property id=&quot;20148&quot; value=&quot;5&quot;/&gt;&lt;property id=&quot;20300&quot; value=&quot;Slide 53 - &amp;quot;Subsidies and Quotas&amp;quot;&quot;/&gt;&lt;property id=&quot;20307&quot; value=&quot;581&quot;/&gt;&lt;/object&gt;&lt;object type=&quot;3&quot; unique_id=&quot;10038&quot;&gt;&lt;property id=&quot;20148&quot; value=&quot;5&quot;/&gt;&lt;property id=&quot;20300&quot; value=&quot;Slide 71&quot;/&gt;&lt;property id=&quot;20307&quot; value=&quot;514&quot;/&gt;&lt;/object&gt;&lt;object type=&quot;3&quot; unique_id=&quot;11299&quot;&gt;&lt;property id=&quot;20148&quot; value=&quot;5&quot;/&gt;&lt;property id=&quot;20300&quot; value=&quot;Slide 57 - &amp;quot;Subsidies and Quotas: Quotas&amp;quot;&quot;/&gt;&lt;property id=&quot;20307&quot; value=&quot;618&quot;/&gt;&lt;/object&gt;&lt;object type=&quot;3&quot; unique_id=&quot;11480&quot;&gt;&lt;property id=&quot;20148&quot; value=&quot;5&quot;/&gt;&lt;property id=&quot;20300&quot; value=&quot;Slide 55 - &amp;quot;Subsidies and Quotas: Subsidy&amp;quot;&quot;/&gt;&lt;property id=&quot;20307&quot; value=&quot;619&quot;/&gt;&lt;/object&gt;&lt;object type=&quot;3&quot; unique_id=&quot;12371&quot;&gt;&lt;property id=&quot;20148&quot; value=&quot;5&quot;/&gt;&lt;property id=&quot;20300&quot; value=&quot;Slide 1&quot;/&gt;&lt;property id=&quot;20307&quot; value=&quot;622&quot;/&gt;&lt;/object&gt;&lt;object type=&quot;3&quot; unique_id=&quot;12405&quot;&gt;&lt;property id=&quot;20148&quot; value=&quot;5&quot;/&gt;&lt;property id=&quot;20300&quot; value=&quot;Slide 3 - &amp;quot;Learning Objectives&amp;quot;&quot;/&gt;&lt;property id=&quot;20307&quot; value=&quot;623&quot;/&gt;&lt;/object&gt;&lt;object type=&quot;3&quot; unique_id=&quot;12780&quot;&gt;&lt;property id=&quot;20148&quot; value=&quot;5&quot;/&gt;&lt;property id=&quot;20300&quot; value=&quot;Slide 5 - &amp;quot;What’s the purpose of the price rationing mechanism?&amp;quot;&quot;/&gt;&lt;property id=&quot;20307&quot; value=&quot;624&quot;/&gt;&lt;/object&gt;&lt;object type=&quot;3&quot; unique_id=&quot;12781&quot;&gt;&lt;property id=&quot;20148&quot; value=&quot;5&quot;/&gt;&lt;property id=&quot;20300&quot; value=&quot;Slide 7 - &amp;quot;If the market outcome (equilibrium) is not in society’s best interest, who can intervene to promote societal intere&quot;/&gt;&lt;property id=&quot;20307&quot; value=&quot;625&quot;/&gt;&lt;/object&gt;&lt;object type=&quot;3&quot; unique_id=&quot;12782&quot;&gt;&lt;property id=&quot;20148&quot; value=&quot;5&quot;/&gt;&lt;property id=&quot;20300&quot; value=&quot;Slide 8 - &amp;quot;Do you believe tuition is too expensive?&amp;quot;&quot;/&gt;&lt;property id=&quot;20307&quot; value=&quot;627&quot;/&gt;&lt;/object&gt;&lt;object type=&quot;3&quot; unique_id=&quot;12783&quot;&gt;&lt;property id=&quot;20148&quot; value=&quot;5&quot;/&gt;&lt;property id=&quot;20300&quot; value=&quot;Slide 9 - &amp;quot;If the price of a college degree is too expensive, what can the government do?&amp;quot;&quot;/&gt;&lt;property id=&quot;20307&quot; value=&quot;626&quot;/&gt;&lt;/object&gt;&lt;object type=&quot;3&quot; unique_id=&quot;12784&quot;&gt;&lt;property id=&quot;20148&quot; value=&quot;5&quot;/&gt;&lt;property id=&quot;20300&quot; value=&quot;Slide 14 - &amp;quot;Do you believe ticket scalping should be legal?&amp;quot;&quot;/&gt;&lt;property id=&quot;20307&quot; value=&quot;628&quot;/&gt;&lt;/object&gt;&lt;object type=&quot;3&quot; unique_id=&quot;12941&quot;&gt;&lt;property id=&quot;20148&quot; value=&quot;5&quot;/&gt;&lt;property id=&quot;20300&quot; value=&quot;Slide 12 - &amp;quot;By placing a price ceiling on prices, what problem(s) may occur?&amp;quot;&quot;/&gt;&lt;property id=&quot;20307&quot; value=&quot;629&quot;/&gt;&lt;/object&gt;&lt;object type=&quot;3&quot; unique_id=&quot;13102&quot;&gt;&lt;property id=&quot;20148&quot; value=&quot;5&quot;/&gt;&lt;property id=&quot;20300&quot; value=&quot;Slide 15 - &amp;quot;If IU basketball makes it to the Final Four and the face value for a ticket is $100, how much would you be willing&quot;/&gt;&lt;property id=&quot;20307&quot; value=&quot;630&quot;/&gt;&lt;/object&gt;&lt;object type=&quot;3&quot; unique_id=&quot;13103&quot;&gt;&lt;property id=&quot;20148&quot; value=&quot;5&quot;/&gt;&lt;property id=&quot;20300&quot; value=&quot;Slide 17 - &amp;quot;If IU basketball makes it to the Final Four and the face value for a ticket is $100 and you’d be willing to pay $3&quot;/&gt;&lt;property id=&quot;20307&quot; value=&quot;631&quot;/&gt;&lt;/object&gt;&lt;object type=&quot;3&quot; unique_id=&quot;14106&quot;&gt;&lt;property id=&quot;20148&quot; value=&quot;5&quot;/&gt;&lt;property id=&quot;20300&quot; value=&quot;Slide 21 - &amp;quot;If a price ceiling is imposed on the market, what non-price rationing mechanism, do you prefer? Why?&amp;quot;&quot;/&gt;&lt;property id=&quot;20307&quot; value=&quot;632&quot;/&gt;&lt;/object&gt;&lt;object type=&quot;3&quot; unique_id=&quot;14451&quot;&gt;&lt;property id=&quot;20148&quot; value=&quot;5&quot;/&gt;&lt;property id=&quot;20300&quot; value=&quot;Slide 25 - &amp;quot;If the wage you receive is too low, what can the government do?&amp;quot;&quot;/&gt;&lt;property id=&quot;20307&quot; value=&quot;633&quot;/&gt;&lt;/object&gt;&lt;object type=&quot;3&quot; unique_id=&quot;14455&quot;&gt;&lt;property id=&quot;20148&quot; value=&quot;5&quot;/&gt;&lt;property id=&quot;20300&quot; value=&quot;Slide 30 - &amp;quot;By placing a price floor on wages, what problem(s) may occur?&amp;quot;&quot;/&gt;&lt;property id=&quot;20307&quot; value=&quot;637&quot;/&gt;&lt;/object&gt;&lt;object type=&quot;3&quot; unique_id=&quot;14925&quot;&gt;&lt;property id=&quot;20148&quot; value=&quot;5&quot;/&gt;&lt;property id=&quot;20300&quot; value=&quot;Slide 54 - &amp;quot;Do you believe the government should increase subsides (Pell Grants) for college students?&amp;quot;&quot;/&gt;&lt;property id=&quot;20307&quot; value=&quot;644&quot;/&gt;&lt;/object&gt;&lt;object type=&quot;3&quot; unique_id=&quot;14982&quot;&gt;&lt;property id=&quot;20148&quot; value=&quot;5&quot;/&gt;&lt;property id=&quot;20300&quot; value=&quot;Slide 26 - &amp;quot;What’s the current federal minimum wage?&amp;quot;&quot;/&gt;&lt;property id=&quot;20307&quot; value=&quot;645&quot;/&gt;&lt;/object&gt;&lt;object type=&quot;3&quot; unique_id=&quot;15039&quot;&gt;&lt;property id=&quot;20148&quot; value=&quot;5&quot;/&gt;&lt;property id=&quot;20300&quot; value=&quot;Slide 27 - &amp;quot;What’s the current federal poverty income level for a single person(2011)?&amp;quot;&quot;/&gt;&lt;property id=&quot;20307&quot; value=&quot;646&quot;/&gt;&lt;/object&gt;&lt;object type=&quot;3&quot; unique_id=&quot;15264&quot;&gt;&lt;property id=&quot;20148&quot; value=&quot;5&quot;/&gt;&lt;property id=&quot;20300&quot; value=&quot;Slide 37 - &amp;quot;What kind of tax do you prefer to pay?&amp;quot;&quot;/&gt;&lt;property id=&quot;20307&quot; value=&quot;647&quot;/&gt;&lt;/object&gt;&lt;object type=&quot;3&quot; unique_id=&quot;15433&quot;&gt;&lt;property id=&quot;20148&quot; value=&quot;5&quot;/&gt;&lt;property id=&quot;20300&quot; value=&quot;Slide 34 - &amp;quot;What’s the difference between the federal minimum wage and a living wage?&amp;quot;&quot;/&gt;&lt;property id=&quot;20307&quot; value=&quot;648&quot;/&gt;&lt;/object&gt;&lt;object type=&quot;3&quot; unique_id=&quot;15601&quot;&gt;&lt;property id=&quot;20148&quot; value=&quot;5&quot;/&gt;&lt;property id=&quot;20300&quot; value=&quot;Slide 39 - &amp;quot;If you were to advise Bloomington’s tax office, what kind of tax would you recommend to maximize revenues?&amp;quot;&quot;/&gt;&lt;property id=&quot;20307&quot; value=&quot;649&quot;/&gt;&lt;/object&gt;&lt;object type=&quot;3&quot; unique_id=&quot;15882&quot;&gt;&lt;property id=&quot;20148&quot; value=&quot;5&quot;/&gt;&lt;property id=&quot;20300&quot; value=&quot;Slide 41 - &amp;quot;If you were to advise Bloomington’s tax office, on whom would you impose the tax?&amp;quot;&quot;/&gt;&lt;property id=&quot;20307&quot; value=&quot;650&quot;/&gt;&lt;/object&gt;&lt;object type=&quot;3&quot; unique_id=&quot;15883&quot;&gt;&lt;property id=&quot;20148&quot; value=&quot;5&quot;/&gt;&lt;property id=&quot;20300&quot; value=&quot;Slide 44 - &amp;quot;How  many times are cigarettes taxed?&amp;quot;&quot;/&gt;&lt;property id=&quot;20307&quot; value=&quot;651&quot;/&gt;&lt;/object&gt;&lt;object type=&quot;3&quot; unique_id=&quot;16222&quot;&gt;&lt;property id=&quot;20148&quot; value=&quot;5&quot;/&gt;&lt;property id=&quot;20300&quot; value=&quot;Slide 46 - &amp;quot;So who ends up pay a tax once it’s levied?&amp;quot;&quot;/&gt;&lt;property id=&quot;20307&quot; value=&quot;653&quot;/&gt;&lt;/object&gt;&lt;object type=&quot;3&quot; unique_id=&quot;16618&quot;&gt;&lt;property id=&quot;20148&quot; value=&quot;5&quot;/&gt;&lt;property id=&quot;20300&quot; value=&quot;Slide 56 - &amp;quot;What’s the difference between a tax and a quota on a market?&amp;quot;&quot;/&gt;&lt;property id=&quot;20307&quot; value=&quot;654&quot;/&gt;&lt;/object&gt;&lt;object type=&quot;3&quot; unique_id=&quot;17124&quot;&gt;&lt;property id=&quot;20148&quot; value=&quot;5&quot;/&gt;&lt;property id=&quot;20300&quot; value=&quot;Slide 29 - &amp;quot;Do you believe we should raise the minimum wage?&amp;quot;&quot;/&gt;&lt;property id=&quot;20307&quot; value=&quot;655&quot;/&gt;&lt;/object&gt;&lt;object type=&quot;3&quot; unique_id=&quot;28160&quot;&gt;&lt;property id=&quot;20148&quot; value=&quot;5&quot;/&gt;&lt;property id=&quot;20300&quot; value=&quot;Slide 4 - &amp;quot;Learning Objective #1&amp;quot;&quot;/&gt;&lt;property id=&quot;20307&quot; value=&quot;659&quot;/&gt;&lt;/object&gt;&lt;object type=&quot;3&quot; unique_id=&quot;29222&quot;&gt;&lt;property id=&quot;20148&quot; value=&quot;5&quot;/&gt;&lt;property id=&quot;20300&quot; value=&quot;Slide 24 - &amp;quot;Learning Objective #2&amp;quot;&quot;/&gt;&lt;property id=&quot;20307&quot; value=&quot;660&quot;/&gt;&lt;/object&gt;&lt;object type=&quot;3&quot; unique_id=&quot;29223&quot;&gt;&lt;property id=&quot;20148&quot; value=&quot;5&quot;/&gt;&lt;property id=&quot;20300&quot; value=&quot;Slide 36 - &amp;quot;Learning Objective #3&amp;quot;&quot;/&gt;&lt;property id=&quot;20307&quot; value=&quot;661&quot;/&gt;&lt;/object&gt;&lt;object type=&quot;3&quot; unique_id=&quot;29224&quot;&gt;&lt;property id=&quot;20148&quot; value=&quot;5&quot;/&gt;&lt;property id=&quot;20300&quot; value=&quot;Slide 52 - &amp;quot;Learning Objective #4&amp;quot;&quot;/&gt;&lt;property id=&quot;20307&quot; value=&quot;662&quot;/&gt;&lt;/object&gt;&lt;object type=&quot;3&quot; unique_id=&quot;29674&quot;&gt;&lt;property id=&quot;20148&quot; value=&quot;5&quot;/&gt;&lt;property id=&quot;20300&quot; value=&quot;Slide 59 - &amp;quot;Group Project 3: What is you CL section?&amp;quot;&quot;/&gt;&lt;property id=&quot;20307&quot; value=&quot;664&quot;/&gt;&lt;/object&gt;&lt;object type=&quot;3&quot; unique_id=&quot;29675&quot;&gt;&lt;property id=&quot;20148&quot; value=&quot;5&quot;/&gt;&lt;property id=&quot;20300&quot; value=&quot;Slide 60 - &amp;quot;Group Project 3&amp;quot;&quot;/&gt;&lt;property id=&quot;20307&quot; value=&quot;665&quot;/&gt;&lt;/object&gt;&lt;object type=&quot;3&quot; unique_id=&quot;29676&quot;&gt;&lt;property id=&quot;20148&quot; value=&quot;5&quot;/&gt;&lt;property id=&quot;20300&quot; value=&quot;Slide 61 - &amp;quot;Group Project 3&amp;quot;&quot;/&gt;&lt;property id=&quot;20307&quot; value=&quot;666&quot;/&gt;&lt;/object&gt;&lt;object type=&quot;3&quot; unique_id=&quot;29677&quot;&gt;&lt;property id=&quot;20148&quot; value=&quot;5&quot;/&gt;&lt;property id=&quot;20300&quot; value=&quot;Slide 62 - &amp;quot;Group Project 3&amp;quot;&quot;/&gt;&lt;property id=&quot;20307&quot; value=&quot;667&quot;/&gt;&lt;/object&gt;&lt;object type=&quot;3&quot; unique_id=&quot;29678&quot;&gt;&lt;property id=&quot;20148&quot; value=&quot;5&quot;/&gt;&lt;property id=&quot;20300&quot; value=&quot;Slide 63 - &amp;quot;Group Project 3&amp;quot;&quot;/&gt;&lt;property id=&quot;20307&quot; value=&quot;668&quot;/&gt;&lt;/object&gt;&lt;object type=&quot;3&quot; unique_id=&quot;29679&quot;&gt;&lt;property id=&quot;20148&quot; value=&quot;5&quot;/&gt;&lt;property id=&quot;20300&quot; value=&quot;Slide 64 - &amp;quot;Group Project 3&amp;quot;&quot;/&gt;&lt;property id=&quot;20307&quot; value=&quot;669&quot;/&gt;&lt;/object&gt;&lt;object type=&quot;3&quot; unique_id=&quot;29680&quot;&gt;&lt;property id=&quot;20148&quot; value=&quot;5&quot;/&gt;&lt;property id=&quot;20300&quot; value=&quot;Slide 70 - &amp;quot;Group Project 3: According to your data, what happened to the price and quantity from your most current year to th&quot;/&gt;&lt;property id=&quot;20307&quot; value=&quot;670&quot;/&gt;&lt;/object&gt;&lt;object type=&quot;3&quot; unique_id=&quot;33831&quot;&gt;&lt;property id=&quot;20148&quot; value=&quot;5&quot;/&gt;&lt;property id=&quot;20300&quot; value=&quot;Slide 58 - &amp;quot;Quiz #6&amp;quot;&quot;/&gt;&lt;property id=&quot;20307&quot; value=&quot;671&quot;/&gt;&lt;/object&gt;&lt;object type=&quot;3&quot; unique_id=&quot;33832&quot;&gt;&lt;property id=&quot;20148&quot; value=&quot;5&quot;/&gt;&lt;property id=&quot;20300&quot; value=&quot;Slide 65 - &amp;quot;Group Project 3: Are you your group’s recorder?&amp;quot;&quot;/&gt;&lt;property id=&quot;20307&quot; value=&quot;672&quot;/&gt;&lt;/object&gt;&lt;object type=&quot;3&quot; unique_id=&quot;33833&quot;&gt;&lt;property id=&quot;20148&quot; value=&quot;5&quot;/&gt;&lt;property id=&quot;20300&quot; value=&quot;Slide 66 - &amp;quot;Group Project 3: Are you your group’s poster?&amp;quot;&quot;/&gt;&lt;property id=&quot;20307&quot; value=&quot;673&quot;/&gt;&lt;/object&gt;&lt;object type=&quot;3&quot; unique_id=&quot;33834&quot;&gt;&lt;property id=&quot;20148&quot; value=&quot;5&quot;/&gt;&lt;property id=&quot;20300&quot; value=&quot;Slide 67 - &amp;quot;Group Project 3: How many group members are in your group today?&amp;quot;&quot;/&gt;&lt;property id=&quot;20307&quot; value=&quot;674&quot;/&gt;&lt;/object&gt;&lt;object type=&quot;3&quot; unique_id=&quot;33835&quot;&gt;&lt;property id=&quot;20148&quot; value=&quot;5&quot;/&gt;&lt;property id=&quot;20300&quot; value=&quot;Slide 68 - &amp;quot;Group Project 3: How many group members completed the pre-group questions?&amp;quot;&quot;/&gt;&lt;property id=&quot;20307&quot; value=&quot;675&quot;/&gt;&lt;/object&gt;&lt;object type=&quot;3&quot; unique_id=&quot;33836&quot;&gt;&lt;property id=&quot;20148&quot; value=&quot;5&quot;/&gt;&lt;property id=&quot;20300&quot; value=&quot;Slide 69 - &amp;quot;Group Project 3: In your opinion, how many group members actively participated in your group discussions?&amp;quot;&quot;/&gt;&lt;property id=&quot;20307&quot; value=&quot;676&quot;/&gt;&lt;/object&gt;&lt;/object&gt;&lt;/object&gt;&lt;/database&gt;"/>
  <p:tag name="SECTOMILLISECCONVERTED" val="1"/>
  <p:tag name="WASPOLLED" val="F6FC7EDF37E343DEA3C93D86D92AA0C3"/>
  <p:tag name="TPVERSION" val="5"/>
  <p:tag name="TPFULLVERSION" val="5.3.1.3337"/>
  <p:tag name="PPTVERSION" val="15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tes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993300"/>
      </a:hlink>
      <a:folHlink>
        <a:srgbClr val="FF9900"/>
      </a:folHlink>
    </a:clrScheme>
    <a:fontScheme name="tes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es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7021</TotalTime>
  <Words>975</Words>
  <Application>Microsoft Office PowerPoint</Application>
  <PresentationFormat>On-screen Show (4:3)</PresentationFormat>
  <Paragraphs>148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test</vt:lpstr>
      <vt:lpstr>Learning Objective #3</vt:lpstr>
      <vt:lpstr>Taxes</vt:lpstr>
      <vt:lpstr>Taxes: Incidence</vt:lpstr>
      <vt:lpstr>($5)Tax on Sellers</vt:lpstr>
      <vt:lpstr>($5)Tax on Buyers</vt:lpstr>
      <vt:lpstr>Taxes: Incidence</vt:lpstr>
      <vt:lpstr>Taxes: Elasticity</vt:lpstr>
      <vt:lpstr>Taxes: Elasticity</vt:lpstr>
      <vt:lpstr>Taxes</vt:lpstr>
      <vt:lpstr>Taxes</vt:lpstr>
      <vt:lpstr>Taxes</vt:lpstr>
      <vt:lpstr>Learning Objective #4</vt:lpstr>
      <vt:lpstr>Subsidies and Quotas</vt:lpstr>
      <vt:lpstr>Subsidies and Quotas: Subsidy</vt:lpstr>
      <vt:lpstr>Subsidies and Quotas: Quotas</vt:lpstr>
      <vt:lpstr>PowerPoint Presentation</vt:lpstr>
    </vt:vector>
  </TitlesOfParts>
  <Company>RoseStateCollege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pgraf</dc:creator>
  <cp:lastModifiedBy>Tsikandylakis, Antonis</cp:lastModifiedBy>
  <cp:revision>593</cp:revision>
  <dcterms:created xsi:type="dcterms:W3CDTF">1998-01-19T16:21:38Z</dcterms:created>
  <dcterms:modified xsi:type="dcterms:W3CDTF">2026-03-07T02:24:06Z</dcterms:modified>
</cp:coreProperties>
</file>