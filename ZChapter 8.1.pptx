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0" r:id="rId1"/>
  </p:sldMasterIdLst>
  <p:notesMasterIdLst>
    <p:notesMasterId r:id="rId18"/>
  </p:notesMasterIdLst>
  <p:sldIdLst>
    <p:sldId id="330" r:id="rId2"/>
    <p:sldId id="258" r:id="rId3"/>
    <p:sldId id="393" r:id="rId4"/>
    <p:sldId id="425" r:id="rId5"/>
    <p:sldId id="333" r:id="rId6"/>
    <p:sldId id="372" r:id="rId7"/>
    <p:sldId id="336" r:id="rId8"/>
    <p:sldId id="337" r:id="rId9"/>
    <p:sldId id="339" r:id="rId10"/>
    <p:sldId id="340" r:id="rId11"/>
    <p:sldId id="426" r:id="rId12"/>
    <p:sldId id="342" r:id="rId13"/>
    <p:sldId id="373" r:id="rId14"/>
    <p:sldId id="374" r:id="rId15"/>
    <p:sldId id="375" r:id="rId16"/>
    <p:sldId id="377" r:id="rId17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>
          <p15:clr>
            <a:srgbClr val="A4A3A4"/>
          </p15:clr>
        </p15:guide>
        <p15:guide id="2" pos="2881">
          <p15:clr>
            <a:srgbClr val="A4A3A4"/>
          </p15:clr>
        </p15:guide>
        <p15:guide id="3" pos="2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01406A"/>
    <a:srgbClr val="000099"/>
    <a:srgbClr val="FEFDCA"/>
    <a:srgbClr val="FFFFD1"/>
    <a:srgbClr val="CC6600"/>
    <a:srgbClr val="FF3300"/>
    <a:srgbClr val="0088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FBB94-F982-4630-BAD0-68293659FE9E}" v="829" dt="2026-03-24T20:42:30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23" autoAdjust="0"/>
  </p:normalViewPr>
  <p:slideViewPr>
    <p:cSldViewPr snapToGrid="0">
      <p:cViewPr varScale="1">
        <p:scale>
          <a:sx n="88" d="100"/>
          <a:sy n="88" d="100"/>
        </p:scale>
        <p:origin x="1740" y="56"/>
      </p:cViewPr>
      <p:guideLst>
        <p:guide orient="horz" pos="4224"/>
        <p:guide pos="2881"/>
        <p:guide pos="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ikandylakis, Antonis" userId="ca19e47a-7a59-48ee-85eb-52dccb2011bc" providerId="ADAL" clId="{1568DF2F-4DA1-42DF-904E-6C18A6A2C565}"/>
    <pc:docChg chg="undo custSel modSld">
      <pc:chgData name="Tsikandylakis, Antonis" userId="ca19e47a-7a59-48ee-85eb-52dccb2011bc" providerId="ADAL" clId="{1568DF2F-4DA1-42DF-904E-6C18A6A2C565}" dt="2026-03-24T20:47:16.819" v="2049" actId="20577"/>
      <pc:docMkLst>
        <pc:docMk/>
      </pc:docMkLst>
      <pc:sldChg chg="modSp modAnim modNotesTx">
        <pc:chgData name="Tsikandylakis, Antonis" userId="ca19e47a-7a59-48ee-85eb-52dccb2011bc" providerId="ADAL" clId="{1568DF2F-4DA1-42DF-904E-6C18A6A2C565}" dt="2026-03-24T20:02:45.166" v="218" actId="33524"/>
        <pc:sldMkLst>
          <pc:docMk/>
          <pc:sldMk cId="0" sldId="333"/>
        </pc:sldMkLst>
        <pc:spChg chg="mod">
          <ac:chgData name="Tsikandylakis, Antonis" userId="ca19e47a-7a59-48ee-85eb-52dccb2011bc" providerId="ADAL" clId="{1568DF2F-4DA1-42DF-904E-6C18A6A2C565}" dt="2026-03-24T20:02:45.166" v="218" actId="33524"/>
          <ac:spMkLst>
            <pc:docMk/>
            <pc:sldMk cId="0" sldId="333"/>
            <ac:spMk id="8195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24T20:08:49.980" v="613" actId="20577"/>
        <pc:sldMkLst>
          <pc:docMk/>
          <pc:sldMk cId="0" sldId="336"/>
        </pc:sldMkLst>
        <pc:spChg chg="mod">
          <ac:chgData name="Tsikandylakis, Antonis" userId="ca19e47a-7a59-48ee-85eb-52dccb2011bc" providerId="ADAL" clId="{1568DF2F-4DA1-42DF-904E-6C18A6A2C565}" dt="2026-03-24T20:08:49.980" v="613" actId="20577"/>
          <ac:spMkLst>
            <pc:docMk/>
            <pc:sldMk cId="0" sldId="336"/>
            <ac:spMk id="540675" creationId="{00000000-0000-0000-0000-000000000000}"/>
          </ac:spMkLst>
        </pc:spChg>
      </pc:sldChg>
      <pc:sldChg chg="addSp modSp mod modNotesTx">
        <pc:chgData name="Tsikandylakis, Antonis" userId="ca19e47a-7a59-48ee-85eb-52dccb2011bc" providerId="ADAL" clId="{1568DF2F-4DA1-42DF-904E-6C18A6A2C565}" dt="2026-03-24T20:14:57.125" v="1080" actId="11529"/>
        <pc:sldMkLst>
          <pc:docMk/>
          <pc:sldMk cId="0" sldId="337"/>
        </pc:sldMkLst>
        <pc:spChg chg="add mod">
          <ac:chgData name="Tsikandylakis, Antonis" userId="ca19e47a-7a59-48ee-85eb-52dccb2011bc" providerId="ADAL" clId="{1568DF2F-4DA1-42DF-904E-6C18A6A2C565}" dt="2026-03-24T20:11:29.189" v="663" actId="14100"/>
          <ac:spMkLst>
            <pc:docMk/>
            <pc:sldMk cId="0" sldId="337"/>
            <ac:spMk id="4" creationId="{EBA7C882-CC74-76F8-DA1B-AF759A8792C8}"/>
          </ac:spMkLst>
        </pc:spChg>
        <pc:spChg chg="add mod">
          <ac:chgData name="Tsikandylakis, Antonis" userId="ca19e47a-7a59-48ee-85eb-52dccb2011bc" providerId="ADAL" clId="{1568DF2F-4DA1-42DF-904E-6C18A6A2C565}" dt="2026-03-24T20:12:36.505" v="843" actId="14100"/>
          <ac:spMkLst>
            <pc:docMk/>
            <pc:sldMk cId="0" sldId="337"/>
            <ac:spMk id="6" creationId="{C6E31332-E9B3-040A-277D-09EE7DF4AA53}"/>
          </ac:spMkLst>
        </pc:spChg>
        <pc:spChg chg="ord">
          <ac:chgData name="Tsikandylakis, Antonis" userId="ca19e47a-7a59-48ee-85eb-52dccb2011bc" providerId="ADAL" clId="{1568DF2F-4DA1-42DF-904E-6C18A6A2C565}" dt="2026-03-24T20:11:03.869" v="657" actId="171"/>
          <ac:spMkLst>
            <pc:docMk/>
            <pc:sldMk cId="0" sldId="337"/>
            <ac:spMk id="11290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24T20:10:30.232" v="655" actId="20577"/>
          <ac:spMkLst>
            <pc:docMk/>
            <pc:sldMk cId="0" sldId="337"/>
            <ac:spMk id="542723" creationId="{00000000-0000-0000-0000-000000000000}"/>
          </ac:spMkLst>
        </pc:spChg>
        <pc:cxnChg chg="add mod">
          <ac:chgData name="Tsikandylakis, Antonis" userId="ca19e47a-7a59-48ee-85eb-52dccb2011bc" providerId="ADAL" clId="{1568DF2F-4DA1-42DF-904E-6C18A6A2C565}" dt="2026-03-24T20:11:17.393" v="661" actId="14100"/>
          <ac:cxnSpMkLst>
            <pc:docMk/>
            <pc:sldMk cId="0" sldId="337"/>
            <ac:cxnSpMk id="3" creationId="{6A9D703A-281B-F9CF-9687-4C72452F4083}"/>
          </ac:cxnSpMkLst>
        </pc:cxnChg>
        <pc:cxnChg chg="add">
          <ac:chgData name="Tsikandylakis, Antonis" userId="ca19e47a-7a59-48ee-85eb-52dccb2011bc" providerId="ADAL" clId="{1568DF2F-4DA1-42DF-904E-6C18A6A2C565}" dt="2026-03-24T20:14:57.125" v="1080" actId="11529"/>
          <ac:cxnSpMkLst>
            <pc:docMk/>
            <pc:sldMk cId="0" sldId="337"/>
            <ac:cxnSpMk id="8" creationId="{9A4C9A83-FDE1-9335-70F8-D50E8CF10A08}"/>
          </ac:cxnSpMkLst>
        </pc:cxnChg>
      </pc:sldChg>
      <pc:sldChg chg="modSp mod modNotesTx">
        <pc:chgData name="Tsikandylakis, Antonis" userId="ca19e47a-7a59-48ee-85eb-52dccb2011bc" providerId="ADAL" clId="{1568DF2F-4DA1-42DF-904E-6C18A6A2C565}" dt="2026-03-24T20:18:11.089" v="1531" actId="20577"/>
        <pc:sldMkLst>
          <pc:docMk/>
          <pc:sldMk cId="0" sldId="339"/>
        </pc:sldMkLst>
        <pc:spChg chg="mod">
          <ac:chgData name="Tsikandylakis, Antonis" userId="ca19e47a-7a59-48ee-85eb-52dccb2011bc" providerId="ADAL" clId="{1568DF2F-4DA1-42DF-904E-6C18A6A2C565}" dt="2026-03-24T20:18:11.089" v="1531" actId="20577"/>
          <ac:spMkLst>
            <pc:docMk/>
            <pc:sldMk cId="0" sldId="339"/>
            <ac:spMk id="546819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3-24T20:21:57.673" v="1699" actId="1038"/>
        <pc:sldMkLst>
          <pc:docMk/>
          <pc:sldMk cId="0" sldId="340"/>
        </pc:sldMkLst>
        <pc:spChg chg="add mod">
          <ac:chgData name="Tsikandylakis, Antonis" userId="ca19e47a-7a59-48ee-85eb-52dccb2011bc" providerId="ADAL" clId="{1568DF2F-4DA1-42DF-904E-6C18A6A2C565}" dt="2026-03-24T20:19:38.430" v="1587" actId="14100"/>
          <ac:spMkLst>
            <pc:docMk/>
            <pc:sldMk cId="0" sldId="340"/>
            <ac:spMk id="2" creationId="{DFAAA6B5-9277-ADC3-9F4D-A1402DA45EA8}"/>
          </ac:spMkLst>
        </pc:spChg>
        <pc:spChg chg="add del">
          <ac:chgData name="Tsikandylakis, Antonis" userId="ca19e47a-7a59-48ee-85eb-52dccb2011bc" providerId="ADAL" clId="{1568DF2F-4DA1-42DF-904E-6C18A6A2C565}" dt="2026-03-24T20:19:45.393" v="1589" actId="11529"/>
          <ac:spMkLst>
            <pc:docMk/>
            <pc:sldMk cId="0" sldId="340"/>
            <ac:spMk id="3" creationId="{1C6A03D4-A4DF-7F81-61AB-A9A53AE2929B}"/>
          </ac:spMkLst>
        </pc:spChg>
        <pc:spChg chg="add mod">
          <ac:chgData name="Tsikandylakis, Antonis" userId="ca19e47a-7a59-48ee-85eb-52dccb2011bc" providerId="ADAL" clId="{1568DF2F-4DA1-42DF-904E-6C18A6A2C565}" dt="2026-03-24T20:20:08.964" v="1593" actId="207"/>
          <ac:spMkLst>
            <pc:docMk/>
            <pc:sldMk cId="0" sldId="340"/>
            <ac:spMk id="4" creationId="{D397F388-3675-C5A2-8AD8-A40F39AE3090}"/>
          </ac:spMkLst>
        </pc:spChg>
        <pc:spChg chg="add mod">
          <ac:chgData name="Tsikandylakis, Antonis" userId="ca19e47a-7a59-48ee-85eb-52dccb2011bc" providerId="ADAL" clId="{1568DF2F-4DA1-42DF-904E-6C18A6A2C565}" dt="2026-03-24T20:20:38.953" v="1598" actId="14100"/>
          <ac:spMkLst>
            <pc:docMk/>
            <pc:sldMk cId="0" sldId="340"/>
            <ac:spMk id="5" creationId="{44C63237-3483-D17A-5B42-537C673DF735}"/>
          </ac:spMkLst>
        </pc:spChg>
        <pc:spChg chg="add mod">
          <ac:chgData name="Tsikandylakis, Antonis" userId="ca19e47a-7a59-48ee-85eb-52dccb2011bc" providerId="ADAL" clId="{1568DF2F-4DA1-42DF-904E-6C18A6A2C565}" dt="2026-03-24T20:21:57.673" v="1699" actId="1038"/>
          <ac:spMkLst>
            <pc:docMk/>
            <pc:sldMk cId="0" sldId="340"/>
            <ac:spMk id="8" creationId="{1D851672-66CE-C50E-E763-49282144EEA1}"/>
          </ac:spMkLst>
        </pc:spChg>
        <pc:spChg chg="mod">
          <ac:chgData name="Tsikandylakis, Antonis" userId="ca19e47a-7a59-48ee-85eb-52dccb2011bc" providerId="ADAL" clId="{1568DF2F-4DA1-42DF-904E-6C18A6A2C565}" dt="2026-03-24T20:19:11.590" v="1579" actId="20577"/>
          <ac:spMkLst>
            <pc:docMk/>
            <pc:sldMk cId="0" sldId="340"/>
            <ac:spMk id="548867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24T20:21:39.819" v="1689" actId="20577"/>
          <ac:spMkLst>
            <pc:docMk/>
            <pc:sldMk cId="0" sldId="340"/>
            <ac:spMk id="548868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24T20:21:33.262" v="1688" actId="20577"/>
          <ac:spMkLst>
            <pc:docMk/>
            <pc:sldMk cId="0" sldId="340"/>
            <ac:spMk id="548869" creationId="{00000000-0000-0000-0000-000000000000}"/>
          </ac:spMkLst>
        </pc:spChg>
        <pc:cxnChg chg="add del">
          <ac:chgData name="Tsikandylakis, Antonis" userId="ca19e47a-7a59-48ee-85eb-52dccb2011bc" providerId="ADAL" clId="{1568DF2F-4DA1-42DF-904E-6C18A6A2C565}" dt="2026-03-24T20:21:45.726" v="1690" actId="478"/>
          <ac:cxnSpMkLst>
            <pc:docMk/>
            <pc:sldMk cId="0" sldId="340"/>
            <ac:cxnSpMk id="7" creationId="{FDCB9891-04D5-0914-4162-B9DAF2EDDE2A}"/>
          </ac:cxnSpMkLst>
        </pc:cxnChg>
      </pc:sldChg>
      <pc:sldChg chg="modSp">
        <pc:chgData name="Tsikandylakis, Antonis" userId="ca19e47a-7a59-48ee-85eb-52dccb2011bc" providerId="ADAL" clId="{1568DF2F-4DA1-42DF-904E-6C18A6A2C565}" dt="2026-03-24T20:26:34.742" v="1747" actId="113"/>
        <pc:sldMkLst>
          <pc:docMk/>
          <pc:sldMk cId="0" sldId="342"/>
        </pc:sldMkLst>
        <pc:spChg chg="mod">
          <ac:chgData name="Tsikandylakis, Antonis" userId="ca19e47a-7a59-48ee-85eb-52dccb2011bc" providerId="ADAL" clId="{1568DF2F-4DA1-42DF-904E-6C18A6A2C565}" dt="2026-03-24T20:26:34.742" v="1747" actId="113"/>
          <ac:spMkLst>
            <pc:docMk/>
            <pc:sldMk cId="0" sldId="342"/>
            <ac:spMk id="552963" creationId="{00000000-0000-0000-0000-000000000000}"/>
          </ac:spMkLst>
        </pc:spChg>
      </pc:sldChg>
      <pc:sldChg chg="addSp modSp mod modNotesTx">
        <pc:chgData name="Tsikandylakis, Antonis" userId="ca19e47a-7a59-48ee-85eb-52dccb2011bc" providerId="ADAL" clId="{1568DF2F-4DA1-42DF-904E-6C18A6A2C565}" dt="2026-03-24T20:07:39.912" v="505" actId="20577"/>
        <pc:sldMkLst>
          <pc:docMk/>
          <pc:sldMk cId="0" sldId="372"/>
        </pc:sldMkLst>
        <pc:spChg chg="add mod">
          <ac:chgData name="Tsikandylakis, Antonis" userId="ca19e47a-7a59-48ee-85eb-52dccb2011bc" providerId="ADAL" clId="{1568DF2F-4DA1-42DF-904E-6C18A6A2C565}" dt="2026-03-24T20:05:18.952" v="243" actId="20577"/>
          <ac:spMkLst>
            <pc:docMk/>
            <pc:sldMk cId="0" sldId="372"/>
            <ac:spMk id="2" creationId="{A16950BE-15F5-68BF-DC31-51B49E2EA814}"/>
          </ac:spMkLst>
        </pc:spChg>
        <pc:spChg chg="add mod">
          <ac:chgData name="Tsikandylakis, Antonis" userId="ca19e47a-7a59-48ee-85eb-52dccb2011bc" providerId="ADAL" clId="{1568DF2F-4DA1-42DF-904E-6C18A6A2C565}" dt="2026-03-24T20:05:32.848" v="262" actId="1076"/>
          <ac:spMkLst>
            <pc:docMk/>
            <pc:sldMk cId="0" sldId="372"/>
            <ac:spMk id="3" creationId="{D3B99A58-460A-B3F0-99D0-16364C4D1DB4}"/>
          </ac:spMkLst>
        </pc:spChg>
        <pc:spChg chg="mod">
          <ac:chgData name="Tsikandylakis, Antonis" userId="ca19e47a-7a59-48ee-85eb-52dccb2011bc" providerId="ADAL" clId="{1568DF2F-4DA1-42DF-904E-6C18A6A2C565}" dt="2026-03-24T20:06:35.260" v="455" actId="20577"/>
          <ac:spMkLst>
            <pc:docMk/>
            <pc:sldMk cId="0" sldId="372"/>
            <ac:spMk id="23555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3-24T20:43:37.870" v="2008" actId="1076"/>
        <pc:sldMkLst>
          <pc:docMk/>
          <pc:sldMk cId="0" sldId="373"/>
        </pc:sldMkLst>
        <pc:spChg chg="add del mod">
          <ac:chgData name="Tsikandylakis, Antonis" userId="ca19e47a-7a59-48ee-85eb-52dccb2011bc" providerId="ADAL" clId="{1568DF2F-4DA1-42DF-904E-6C18A6A2C565}" dt="2026-03-24T20:34:19.170" v="1770"/>
          <ac:spMkLst>
            <pc:docMk/>
            <pc:sldMk cId="0" sldId="373"/>
            <ac:spMk id="3" creationId="{3393896C-E7B6-8029-DF07-551E34F90370}"/>
          </ac:spMkLst>
        </pc:spChg>
        <pc:spChg chg="add mod">
          <ac:chgData name="Tsikandylakis, Antonis" userId="ca19e47a-7a59-48ee-85eb-52dccb2011bc" providerId="ADAL" clId="{1568DF2F-4DA1-42DF-904E-6C18A6A2C565}" dt="2026-03-24T20:43:37.870" v="2008" actId="1076"/>
          <ac:spMkLst>
            <pc:docMk/>
            <pc:sldMk cId="0" sldId="373"/>
            <ac:spMk id="4" creationId="{289935F7-BD1E-EEAD-0AEA-3A46B04E0954}"/>
          </ac:spMkLst>
        </pc:spChg>
        <pc:spChg chg="add mod">
          <ac:chgData name="Tsikandylakis, Antonis" userId="ca19e47a-7a59-48ee-85eb-52dccb2011bc" providerId="ADAL" clId="{1568DF2F-4DA1-42DF-904E-6C18A6A2C565}" dt="2026-03-24T20:43:33.952" v="2007" actId="1076"/>
          <ac:spMkLst>
            <pc:docMk/>
            <pc:sldMk cId="0" sldId="373"/>
            <ac:spMk id="5" creationId="{D477CDD2-CC5F-A64A-DB32-410ECDC4DAD0}"/>
          </ac:spMkLst>
        </pc:spChg>
        <pc:spChg chg="mod">
          <ac:chgData name="Tsikandylakis, Antonis" userId="ca19e47a-7a59-48ee-85eb-52dccb2011bc" providerId="ADAL" clId="{1568DF2F-4DA1-42DF-904E-6C18A6A2C565}" dt="2026-03-24T20:28:32.295" v="1767" actId="20577"/>
          <ac:spMkLst>
            <pc:docMk/>
            <pc:sldMk cId="0" sldId="373"/>
            <ac:spMk id="15363" creationId="{00000000-0000-0000-0000-000000000000}"/>
          </ac:spMkLst>
        </pc:spChg>
        <pc:grpChg chg="mod">
          <ac:chgData name="Tsikandylakis, Antonis" userId="ca19e47a-7a59-48ee-85eb-52dccb2011bc" providerId="ADAL" clId="{1568DF2F-4DA1-42DF-904E-6C18A6A2C565}" dt="2026-03-24T20:43:25.450" v="2005" actId="1076"/>
          <ac:grpSpMkLst>
            <pc:docMk/>
            <pc:sldMk cId="0" sldId="373"/>
            <ac:grpSpMk id="2" creationId="{00000000-0000-0000-0000-000000000000}"/>
          </ac:grpSpMkLst>
        </pc:grpChg>
      </pc:sldChg>
      <pc:sldChg chg="modSp">
        <pc:chgData name="Tsikandylakis, Antonis" userId="ca19e47a-7a59-48ee-85eb-52dccb2011bc" providerId="ADAL" clId="{1568DF2F-4DA1-42DF-904E-6C18A6A2C565}" dt="2026-03-24T20:35:18.361" v="1804" actId="20577"/>
        <pc:sldMkLst>
          <pc:docMk/>
          <pc:sldMk cId="0" sldId="374"/>
        </pc:sldMkLst>
        <pc:spChg chg="mod">
          <ac:chgData name="Tsikandylakis, Antonis" userId="ca19e47a-7a59-48ee-85eb-52dccb2011bc" providerId="ADAL" clId="{1568DF2F-4DA1-42DF-904E-6C18A6A2C565}" dt="2026-03-24T20:35:18.361" v="1804" actId="20577"/>
          <ac:spMkLst>
            <pc:docMk/>
            <pc:sldMk cId="0" sldId="374"/>
            <ac:spMk id="16387" creationId="{00000000-0000-0000-0000-000000000000}"/>
          </ac:spMkLst>
        </pc:spChg>
      </pc:sldChg>
      <pc:sldChg chg="addSp modSp mod modAnim modNotesTx">
        <pc:chgData name="Tsikandylakis, Antonis" userId="ca19e47a-7a59-48ee-85eb-52dccb2011bc" providerId="ADAL" clId="{1568DF2F-4DA1-42DF-904E-6C18A6A2C565}" dt="2026-03-24T20:47:16.819" v="2049" actId="20577"/>
        <pc:sldMkLst>
          <pc:docMk/>
          <pc:sldMk cId="0" sldId="375"/>
        </pc:sldMkLst>
        <pc:spChg chg="add mod">
          <ac:chgData name="Tsikandylakis, Antonis" userId="ca19e47a-7a59-48ee-85eb-52dccb2011bc" providerId="ADAL" clId="{1568DF2F-4DA1-42DF-904E-6C18A6A2C565}" dt="2026-03-24T20:37:51.044" v="1806" actId="1076"/>
          <ac:spMkLst>
            <pc:docMk/>
            <pc:sldMk cId="0" sldId="375"/>
            <ac:spMk id="2" creationId="{7321882E-515B-0860-55FD-9B3D3C799FF4}"/>
          </ac:spMkLst>
        </pc:spChg>
        <pc:spChg chg="add mod">
          <ac:chgData name="Tsikandylakis, Antonis" userId="ca19e47a-7a59-48ee-85eb-52dccb2011bc" providerId="ADAL" clId="{1568DF2F-4DA1-42DF-904E-6C18A6A2C565}" dt="2026-03-24T20:37:58.063" v="1808" actId="1076"/>
          <ac:spMkLst>
            <pc:docMk/>
            <pc:sldMk cId="0" sldId="375"/>
            <ac:spMk id="3" creationId="{AD62A2E9-C23F-EA59-9CC6-A6886B5D222A}"/>
          </ac:spMkLst>
        </pc:spChg>
        <pc:spChg chg="add mod">
          <ac:chgData name="Tsikandylakis, Antonis" userId="ca19e47a-7a59-48ee-85eb-52dccb2011bc" providerId="ADAL" clId="{1568DF2F-4DA1-42DF-904E-6C18A6A2C565}" dt="2026-03-24T20:38:06.703" v="1810" actId="1076"/>
          <ac:spMkLst>
            <pc:docMk/>
            <pc:sldMk cId="0" sldId="375"/>
            <ac:spMk id="4" creationId="{50751119-26EE-5366-098F-2B3416FE40CC}"/>
          </ac:spMkLst>
        </pc:spChg>
        <pc:spChg chg="add mod">
          <ac:chgData name="Tsikandylakis, Antonis" userId="ca19e47a-7a59-48ee-85eb-52dccb2011bc" providerId="ADAL" clId="{1568DF2F-4DA1-42DF-904E-6C18A6A2C565}" dt="2026-03-24T20:38:12.301" v="1812" actId="1076"/>
          <ac:spMkLst>
            <pc:docMk/>
            <pc:sldMk cId="0" sldId="375"/>
            <ac:spMk id="5" creationId="{32421C62-1205-FD00-8D3F-4F9035A631C6}"/>
          </ac:spMkLst>
        </pc:spChg>
        <pc:spChg chg="add mod">
          <ac:chgData name="Tsikandylakis, Antonis" userId="ca19e47a-7a59-48ee-85eb-52dccb2011bc" providerId="ADAL" clId="{1568DF2F-4DA1-42DF-904E-6C18A6A2C565}" dt="2026-03-24T20:38:21.657" v="1814" actId="1076"/>
          <ac:spMkLst>
            <pc:docMk/>
            <pc:sldMk cId="0" sldId="375"/>
            <ac:spMk id="6" creationId="{1266018E-4001-DCDD-3F90-FE294B1C31A1}"/>
          </ac:spMkLst>
        </pc:spChg>
        <pc:cxnChg chg="add mod">
          <ac:chgData name="Tsikandylakis, Antonis" userId="ca19e47a-7a59-48ee-85eb-52dccb2011bc" providerId="ADAL" clId="{1568DF2F-4DA1-42DF-904E-6C18A6A2C565}" dt="2026-03-24T20:38:42.440" v="1822" actId="14100"/>
          <ac:cxnSpMkLst>
            <pc:docMk/>
            <pc:sldMk cId="0" sldId="375"/>
            <ac:cxnSpMk id="8" creationId="{21212C37-DDB4-1DD9-93D2-F0CF86C0A872}"/>
          </ac:cxnSpMkLst>
        </pc:cxnChg>
        <pc:cxnChg chg="add mod">
          <ac:chgData name="Tsikandylakis, Antonis" userId="ca19e47a-7a59-48ee-85eb-52dccb2011bc" providerId="ADAL" clId="{1568DF2F-4DA1-42DF-904E-6C18A6A2C565}" dt="2026-03-24T20:38:30.073" v="1817" actId="1076"/>
          <ac:cxnSpMkLst>
            <pc:docMk/>
            <pc:sldMk cId="0" sldId="375"/>
            <ac:cxnSpMk id="9" creationId="{025D23FA-71E5-719A-ADDB-CC7D8D47E39F}"/>
          </ac:cxnSpMkLst>
        </pc:cxnChg>
        <pc:cxnChg chg="add mod">
          <ac:chgData name="Tsikandylakis, Antonis" userId="ca19e47a-7a59-48ee-85eb-52dccb2011bc" providerId="ADAL" clId="{1568DF2F-4DA1-42DF-904E-6C18A6A2C565}" dt="2026-03-24T20:38:36.495" v="1820" actId="14100"/>
          <ac:cxnSpMkLst>
            <pc:docMk/>
            <pc:sldMk cId="0" sldId="375"/>
            <ac:cxnSpMk id="10" creationId="{57F3A175-557E-70AC-7D09-8A29589F10D5}"/>
          </ac:cxnSpMkLst>
        </pc:cxnChg>
        <pc:cxnChg chg="add mod">
          <ac:chgData name="Tsikandylakis, Antonis" userId="ca19e47a-7a59-48ee-85eb-52dccb2011bc" providerId="ADAL" clId="{1568DF2F-4DA1-42DF-904E-6C18A6A2C565}" dt="2026-03-24T20:38:51" v="1825" actId="14100"/>
          <ac:cxnSpMkLst>
            <pc:docMk/>
            <pc:sldMk cId="0" sldId="375"/>
            <ac:cxnSpMk id="13" creationId="{A71F49B7-BC92-E020-CA88-13D288C95251}"/>
          </ac:cxnSpMkLst>
        </pc:cxnChg>
      </pc:sldChg>
      <pc:sldChg chg="modSp">
        <pc:chgData name="Tsikandylakis, Antonis" userId="ca19e47a-7a59-48ee-85eb-52dccb2011bc" providerId="ADAL" clId="{1568DF2F-4DA1-42DF-904E-6C18A6A2C565}" dt="2026-03-24T20:41:22.940" v="1923" actId="20577"/>
        <pc:sldMkLst>
          <pc:docMk/>
          <pc:sldMk cId="0" sldId="377"/>
        </pc:sldMkLst>
        <pc:spChg chg="mod">
          <ac:chgData name="Tsikandylakis, Antonis" userId="ca19e47a-7a59-48ee-85eb-52dccb2011bc" providerId="ADAL" clId="{1568DF2F-4DA1-42DF-904E-6C18A6A2C565}" dt="2026-03-24T20:41:22.940" v="1923" actId="20577"/>
          <ac:spMkLst>
            <pc:docMk/>
            <pc:sldMk cId="0" sldId="377"/>
            <ac:spMk id="194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5286AE-3EA0-468D-90EC-674CC0BDD5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1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0" tIns="44446" rIns="90480" bIns="44446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784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0" tIns="44446" rIns="90480" bIns="44446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2931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80CED9-740D-4835-B7D9-ADD96BCB66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dirty="0"/>
              <a:t>The prices are as it is. They cannot negotiate prices.</a:t>
            </a:r>
          </a:p>
        </p:txBody>
      </p:sp>
    </p:spTree>
    <p:extLst>
      <p:ext uri="{BB962C8B-B14F-4D97-AF65-F5344CB8AC3E}">
        <p14:creationId xmlns:p14="http://schemas.microsoft.com/office/powerpoint/2010/main" val="1930101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Affordable is everything on and below the line. Everything above is unaffordable</a:t>
            </a:r>
          </a:p>
          <a:p>
            <a:r>
              <a:rPr lang="en-US" dirty="0"/>
              <a:t>The budget line is always a straight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5286AE-3EA0-468D-90EC-674CC0BDD5F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69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8E753A-4B16-49C8-BAB1-C1D53B6DB85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679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8A69AE-AB6D-486F-9D63-4001ABE009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dirty="0"/>
              <a:t>If there is a change in the price of movies then the slope of the line changes. Comes toward 0</a:t>
            </a:r>
          </a:p>
          <a:p>
            <a:r>
              <a:rPr lang="en-CA" dirty="0"/>
              <a:t>F the price of the movie goes down then are able to afford more movies meaning it changes the slope to more steep.  With a decrease of the price the line goes further of 0. Thus, the slope becomes less steep.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8691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EC934A-90EC-4E37-A8F2-D7B71A7C16F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dirty="0"/>
              <a:t>It is difficult to calculate the change that an increase has because the prices might also go up. So we are going to use real income</a:t>
            </a:r>
          </a:p>
        </p:txBody>
      </p:sp>
    </p:spTree>
    <p:extLst>
      <p:ext uri="{BB962C8B-B14F-4D97-AF65-F5344CB8AC3E}">
        <p14:creationId xmlns:p14="http://schemas.microsoft.com/office/powerpoint/2010/main" val="1553105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8090A5-5470-43D0-9855-4AA32655CA9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8210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0" tIns="44446" rIns="90480" bIns="44446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5781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726E7A-6482-432A-B256-24161BF0F37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4857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04CC2D-292C-40D0-BC55-AA02F368371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10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total utility is maximized when marginal utility is 0 (derivatives)</a:t>
            </a:r>
          </a:p>
          <a:p>
            <a:r>
              <a:rPr lang="en-US" dirty="0"/>
              <a:t>Marginal </a:t>
            </a:r>
            <a:r>
              <a:rPr lang="en-US"/>
              <a:t>utility will never go to 0.</a:t>
            </a:r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DCEC89-C17B-4A8A-9431-5A44B1094F2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89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F969A2-3BFD-4CA4-AAA1-49DF76C3BE0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4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5143500" y="2033588"/>
            <a:ext cx="3619500" cy="2609850"/>
          </a:xfrm>
        </p:spPr>
        <p:txBody>
          <a:bodyPr/>
          <a:lstStyle>
            <a:lvl1pPr marL="0" indent="0">
              <a:buFont typeface="Wingdings" pitchFamily="2" charset="2"/>
              <a:buNone/>
              <a:defRPr b="1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143500" y="912813"/>
            <a:ext cx="3619500" cy="1277937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E57A45F5-CC03-4207-A1EF-74E29F988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4022BB71-7A44-4236-9655-1BD6F9654D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2573C1DC-4A3B-470D-B7D6-AFABAB699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677FFA5F-A413-49CC-BD0C-B73CD1D97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269134EA-F9FA-4B1E-B792-0F5767F5A2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29C6EB52-CE1D-4110-82DA-3FB0F10AA6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DEC2619D-BCB6-490D-AD4B-2B5DFFA98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8C3CA4E2-10FC-4CE0-B2D6-22E9E0C16C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F5EA428B-AB0F-4FA2-A666-1808DA0EB7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9100" y="220663"/>
            <a:ext cx="2197100" cy="5875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7800" y="220663"/>
            <a:ext cx="6438900" cy="5875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20-</a:t>
            </a:r>
            <a:fld id="{8C923D9F-3748-48B4-893B-EC6F4F08C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220663"/>
            <a:ext cx="87884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9600" y="63119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99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Slide 20-</a:t>
            </a:r>
            <a:fld id="{6049AC5D-95E9-4E9A-8CD5-84950E9C4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0" u="none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9pPr>
    </p:titleStyle>
    <p:bodyStyle>
      <a:lvl1pPr marL="514350" indent="-514350" algn="l" rtl="0" eaLnBrk="0" fontAlgn="base" hangingPunct="0">
        <a:spcBef>
          <a:spcPct val="70000"/>
        </a:spcBef>
        <a:spcAft>
          <a:spcPct val="0"/>
        </a:spcAft>
        <a:buClr>
          <a:srgbClr val="01406A"/>
        </a:buClr>
        <a:buSzPct val="10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spcBef>
          <a:spcPct val="40000"/>
        </a:spcBef>
        <a:spcAft>
          <a:spcPct val="0"/>
        </a:spcAft>
        <a:buClr>
          <a:srgbClr val="01406A"/>
        </a:buClr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257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–"/>
        <a:defRPr sz="2400">
          <a:solidFill>
            <a:schemeClr val="tx1"/>
          </a:solidFill>
          <a:latin typeface="+mn-lt"/>
        </a:defRPr>
      </a:lvl4pPr>
      <a:lvl5pPr marL="19431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5pPr>
      <a:lvl6pPr marL="2400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6pPr>
      <a:lvl7pPr marL="28575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7pPr>
      <a:lvl8pPr marL="33147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8pPr>
      <a:lvl9pPr marL="37719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673225" y="2990850"/>
            <a:ext cx="5918200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defTabSz="231775"/>
            <a:r>
              <a:rPr lang="en-US" altLang="en-US" sz="3600">
                <a:latin typeface="Arial" charset="0"/>
              </a:rPr>
              <a:t>Consumer Optimum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39775" y="1273175"/>
            <a:ext cx="3294063" cy="766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altLang="en-US" sz="4400" b="1" dirty="0">
                <a:latin typeface="Arial" charset="0"/>
              </a:rPr>
              <a:t>Module 8</a:t>
            </a:r>
          </a:p>
        </p:txBody>
      </p:sp>
    </p:spTree>
    <p:custDataLst>
      <p:tags r:id="rId1"/>
    </p:custData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Outline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47663" y="1439918"/>
            <a:ext cx="8462962" cy="498945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US" dirty="0"/>
              <a:t>Household Budgets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CA" dirty="0"/>
              <a:t>Preferences and Utility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US" dirty="0"/>
              <a:t>Total and Marginal Utility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US" dirty="0"/>
              <a:t>Maximizing Utility: Consumer Optimum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US" dirty="0"/>
              <a:t>How a Price Change Affects Consumer Optimum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rgbClr val="990000"/>
              </a:buClr>
            </a:pPr>
            <a:r>
              <a:rPr lang="en-US" dirty="0"/>
              <a:t>How an Income Change Affects Consumer Optimum</a:t>
            </a:r>
          </a:p>
        </p:txBody>
      </p:sp>
    </p:spTree>
    <p:custDataLst>
      <p:tags r:id="rId1"/>
    </p:custDataLst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noFill/>
        </p:spPr>
        <p:txBody>
          <a:bodyPr/>
          <a:lstStyle/>
          <a:p>
            <a:r>
              <a:rPr lang="en-US" altLang="en-US" dirty="0"/>
              <a:t>Learning Objectives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364342"/>
            <a:ext cx="9144000" cy="5290457"/>
          </a:xfr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en-US" sz="2800" dirty="0"/>
              <a:t>Recognize and show how a budget line changes due to a change in price and/or income.</a:t>
            </a:r>
          </a:p>
          <a:p>
            <a:pPr lvl="0">
              <a:buFont typeface="+mj-lt"/>
              <a:buAutoNum type="arabicPeriod"/>
            </a:pPr>
            <a:r>
              <a:rPr lang="en-US" sz="2800" dirty="0"/>
              <a:t>Relate preferences to utility and differentiate between total and marginal utility. </a:t>
            </a:r>
          </a:p>
          <a:p>
            <a:pPr lvl="0">
              <a:buFont typeface="+mj-lt"/>
              <a:buAutoNum type="arabicPeriod"/>
            </a:pPr>
            <a:r>
              <a:rPr lang="en-US" sz="2800" dirty="0"/>
              <a:t>Relate consumer optimum to utility maximization and solve the consumer optimization problem.</a:t>
            </a:r>
          </a:p>
          <a:p>
            <a:pPr lvl="0">
              <a:buFont typeface="+mj-lt"/>
              <a:buAutoNum type="arabicPeriod"/>
            </a:pPr>
            <a:r>
              <a:rPr lang="en-US" sz="2800" dirty="0"/>
              <a:t>Evaluate the effects of changes in prices and income on consumer optimum.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noFill/>
        </p:spPr>
        <p:txBody>
          <a:bodyPr/>
          <a:lstStyle/>
          <a:p>
            <a:r>
              <a:rPr lang="en-US" altLang="en-US" dirty="0"/>
              <a:t>Learning Objective #1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364342"/>
            <a:ext cx="9144000" cy="5290457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Recognize and show how a budget line changes due to a change in price and/or income.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Household’s Budget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63663"/>
            <a:ext cx="9144000" cy="4876800"/>
          </a:xfrm>
        </p:spPr>
        <p:txBody>
          <a:bodyPr/>
          <a:lstStyle/>
          <a:p>
            <a:pPr lvl="1"/>
            <a:r>
              <a:rPr lang="en-US" b="1" dirty="0">
                <a:solidFill>
                  <a:srgbClr val="8B037E"/>
                </a:solidFill>
              </a:rPr>
              <a:t>Consumption Possibilities</a:t>
            </a:r>
          </a:p>
          <a:p>
            <a:pPr lvl="1"/>
            <a:r>
              <a:rPr lang="en-US" dirty="0"/>
              <a:t>A household’s consumption possibilities are constrained by its income and the prices of the goods and services it buys.</a:t>
            </a:r>
          </a:p>
          <a:p>
            <a:pPr lvl="1"/>
            <a:r>
              <a:rPr lang="en-US" dirty="0"/>
              <a:t>A household has a given amount of income to spend and cannot influence the prices of the goods and services it buys.</a:t>
            </a:r>
          </a:p>
          <a:p>
            <a:pPr lvl="1"/>
            <a:r>
              <a:rPr lang="en-US" dirty="0"/>
              <a:t>A household’s </a:t>
            </a:r>
            <a:r>
              <a:rPr lang="en-US" b="1" dirty="0">
                <a:solidFill>
                  <a:srgbClr val="FF0000"/>
                </a:solidFill>
              </a:rPr>
              <a:t>budget line</a:t>
            </a:r>
            <a:r>
              <a:rPr lang="en-US" dirty="0"/>
              <a:t> describes the limits to a household's consumption choices.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ight Triangle 41"/>
          <p:cNvSpPr>
            <a:spLocks noChangeArrowheads="1"/>
          </p:cNvSpPr>
          <p:nvPr/>
        </p:nvSpPr>
        <p:spPr bwMode="auto">
          <a:xfrm>
            <a:off x="4411724" y="3018971"/>
            <a:ext cx="3004845" cy="2714172"/>
          </a:xfrm>
          <a:prstGeom prst="rtTriangle">
            <a:avLst/>
          </a:prstGeom>
          <a:solidFill>
            <a:srgbClr val="FFCC99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E9CE91-B1B1-4597-8B7A-9373F6F44ECA}"/>
              </a:ext>
            </a:extLst>
          </p:cNvPr>
          <p:cNvGrpSpPr/>
          <p:nvPr/>
        </p:nvGrpSpPr>
        <p:grpSpPr>
          <a:xfrm>
            <a:off x="4172890" y="5719763"/>
            <a:ext cx="5029848" cy="804862"/>
            <a:chOff x="4172890" y="5719763"/>
            <a:chExt cx="5029848" cy="804862"/>
          </a:xfrm>
        </p:grpSpPr>
        <p:sp>
          <p:nvSpPr>
            <p:cNvPr id="9223" name="Rectangle 15"/>
            <p:cNvSpPr>
              <a:spLocks noChangeArrowheads="1"/>
            </p:cNvSpPr>
            <p:nvPr/>
          </p:nvSpPr>
          <p:spPr bwMode="auto">
            <a:xfrm>
              <a:off x="5316036" y="6067425"/>
              <a:ext cx="2895974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2">
              <a:extLst>
                <a:ext uri="{FF2B5EF4-FFF2-40B4-BE49-F238E27FC236}">
                  <a16:creationId xmlns:a16="http://schemas.microsoft.com/office/drawing/2014/main" id="{4AF0FE4A-F59E-4906-B207-FE64358C2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5807" y="5751513"/>
              <a:ext cx="47869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17">
              <a:extLst>
                <a:ext uri="{FF2B5EF4-FFF2-40B4-BE49-F238E27FC236}">
                  <a16:creationId xmlns:a16="http://schemas.microsoft.com/office/drawing/2014/main" id="{3A1A179F-42C5-4A61-887D-48D9EE113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870" y="6056313"/>
              <a:ext cx="965010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800" b="1" dirty="0">
                  <a:latin typeface="Arial" charset="0"/>
                </a:rPr>
                <a:t>Movies</a:t>
              </a:r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F8355AFA-9041-444B-B8DB-7EA30C9C3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926" y="5719763"/>
              <a:ext cx="52076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10</a:t>
              </a:r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415AC62F-BFEC-4639-80F7-F44D80E7F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9313" y="5719763"/>
              <a:ext cx="52076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20</a:t>
              </a:r>
            </a:p>
          </p:txBody>
        </p:sp>
        <p:sp>
          <p:nvSpPr>
            <p:cNvPr id="53" name="Rectangle 26">
              <a:extLst>
                <a:ext uri="{FF2B5EF4-FFF2-40B4-BE49-F238E27FC236}">
                  <a16:creationId xmlns:a16="http://schemas.microsoft.com/office/drawing/2014/main" id="{1EC785B7-248B-4A24-B1D0-C6CF2382F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308" y="5719763"/>
              <a:ext cx="52076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30</a:t>
              </a:r>
            </a:p>
          </p:txBody>
        </p:sp>
        <p:sp>
          <p:nvSpPr>
            <p:cNvPr id="54" name="Rectangle 27">
              <a:extLst>
                <a:ext uri="{FF2B5EF4-FFF2-40B4-BE49-F238E27FC236}">
                  <a16:creationId xmlns:a16="http://schemas.microsoft.com/office/drawing/2014/main" id="{74F42B31-6F8A-4DED-98E1-5BD02AD76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695" y="5719763"/>
              <a:ext cx="52076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40</a:t>
              </a:r>
            </a:p>
          </p:txBody>
        </p:sp>
        <p:sp>
          <p:nvSpPr>
            <p:cNvPr id="55" name="Rectangle 28">
              <a:extLst>
                <a:ext uri="{FF2B5EF4-FFF2-40B4-BE49-F238E27FC236}">
                  <a16:creationId xmlns:a16="http://schemas.microsoft.com/office/drawing/2014/main" id="{8516E3E9-CF3E-43E1-B9B1-5D0B6B050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1295" y="5719763"/>
              <a:ext cx="52076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50</a:t>
              </a:r>
            </a:p>
          </p:txBody>
        </p:sp>
        <p:sp>
          <p:nvSpPr>
            <p:cNvPr id="56" name="Rectangle 35">
              <a:extLst>
                <a:ext uri="{FF2B5EF4-FFF2-40B4-BE49-F238E27FC236}">
                  <a16:creationId xmlns:a16="http://schemas.microsoft.com/office/drawing/2014/main" id="{9216A14F-676F-40C3-9385-CABD2B835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2890" y="5719763"/>
              <a:ext cx="350882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latin typeface="Arial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98E94A-90C4-46DC-8983-ADCF354BCB59}"/>
              </a:ext>
            </a:extLst>
          </p:cNvPr>
          <p:cNvGrpSpPr/>
          <p:nvPr/>
        </p:nvGrpSpPr>
        <p:grpSpPr>
          <a:xfrm>
            <a:off x="3278189" y="1463675"/>
            <a:ext cx="1226530" cy="4292600"/>
            <a:chOff x="3278189" y="1463675"/>
            <a:chExt cx="1226530" cy="4292600"/>
          </a:xfrm>
        </p:grpSpPr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407639A7-781A-4ABA-ADF7-F52E23632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518" y="1463675"/>
              <a:ext cx="0" cy="429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18">
              <a:extLst>
                <a:ext uri="{FF2B5EF4-FFF2-40B4-BE49-F238E27FC236}">
                  <a16:creationId xmlns:a16="http://schemas.microsoft.com/office/drawing/2014/main" id="{505A863B-2AFD-4296-BAA9-2074EA434A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81684" y="3402755"/>
              <a:ext cx="759824" cy="3668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800" b="1">
                  <a:latin typeface="Arial" charset="0"/>
                </a:rPr>
                <a:t>Pizza</a:t>
              </a:r>
            </a:p>
          </p:txBody>
        </p:sp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13AE3505-2717-482B-8F03-E7143DF5E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2479" y="4833938"/>
              <a:ext cx="574749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20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02413C15-A811-48FE-8A68-FDDE07ADE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530" y="4140200"/>
              <a:ext cx="525854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40</a:t>
              </a:r>
            </a:p>
          </p:txBody>
        </p:sp>
        <p:sp>
          <p:nvSpPr>
            <p:cNvPr id="48" name="Rectangle 21">
              <a:extLst>
                <a:ext uri="{FF2B5EF4-FFF2-40B4-BE49-F238E27FC236}">
                  <a16:creationId xmlns:a16="http://schemas.microsoft.com/office/drawing/2014/main" id="{D266EE6A-149C-4700-B97A-CAFDEE7D3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562" y="3446463"/>
              <a:ext cx="653227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60</a:t>
              </a:r>
            </a:p>
          </p:txBody>
        </p:sp>
        <p:sp>
          <p:nvSpPr>
            <p:cNvPr id="49" name="Rectangle 22">
              <a:extLst>
                <a:ext uri="{FF2B5EF4-FFF2-40B4-BE49-F238E27FC236}">
                  <a16:creationId xmlns:a16="http://schemas.microsoft.com/office/drawing/2014/main" id="{D6799C6B-CE53-4078-86E6-DCBCEA3E5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562" y="2787650"/>
              <a:ext cx="688157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80</a:t>
              </a: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DDB74822-A250-4798-A829-F2C82A758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885" y="2112963"/>
              <a:ext cx="747811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100</a:t>
              </a:r>
            </a:p>
          </p:txBody>
        </p:sp>
      </p:grpSp>
      <p:sp>
        <p:nvSpPr>
          <p:cNvPr id="921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Household’s Budget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sz="half" idx="1"/>
          </p:nvPr>
        </p:nvSpPr>
        <p:spPr>
          <a:xfrm>
            <a:off x="0" y="1450975"/>
            <a:ext cx="3497263" cy="5407025"/>
          </a:xfrm>
        </p:spPr>
        <p:txBody>
          <a:bodyPr/>
          <a:lstStyle/>
          <a:p>
            <a:pPr marL="0" lvl="1" indent="0">
              <a:buFontTx/>
              <a:buNone/>
            </a:pPr>
            <a:r>
              <a:rPr lang="en-US" dirty="0"/>
              <a:t>This is a budget line for Pizza and Movies. </a:t>
            </a:r>
          </a:p>
          <a:p>
            <a:pPr marL="0" lvl="1" indent="0">
              <a:buFontTx/>
              <a:buNone/>
            </a:pPr>
            <a:r>
              <a:rPr lang="en-US" dirty="0"/>
              <a:t>The household can afford all the points on or below the budget line					</a:t>
            </a:r>
          </a:p>
          <a:p>
            <a:pPr marL="0" lvl="1" indent="0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dirty="0"/>
              <a:t>The household cannot afford the points beyond the budget line.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9242" name="Line 45"/>
          <p:cNvSpPr>
            <a:spLocks noChangeShapeType="1"/>
          </p:cNvSpPr>
          <p:nvPr/>
        </p:nvSpPr>
        <p:spPr bwMode="auto">
          <a:xfrm>
            <a:off x="4396754" y="3017838"/>
            <a:ext cx="3016641" cy="273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0796A-5A1F-4349-8B6E-2CB2F0B5FFB1}"/>
              </a:ext>
            </a:extLst>
          </p:cNvPr>
          <p:cNvGrpSpPr/>
          <p:nvPr/>
        </p:nvGrpSpPr>
        <p:grpSpPr>
          <a:xfrm>
            <a:off x="4322132" y="2558829"/>
            <a:ext cx="614441" cy="562196"/>
            <a:chOff x="4322132" y="2558829"/>
            <a:chExt cx="614441" cy="562196"/>
          </a:xfrm>
        </p:grpSpPr>
        <p:sp>
          <p:nvSpPr>
            <p:cNvPr id="9238" name="Text Box 41"/>
            <p:cNvSpPr txBox="1">
              <a:spLocks noChangeArrowheads="1"/>
            </p:cNvSpPr>
            <p:nvPr/>
          </p:nvSpPr>
          <p:spPr bwMode="auto">
            <a:xfrm>
              <a:off x="4322132" y="2558829"/>
              <a:ext cx="614441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0099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9243" name="Oval 46"/>
            <p:cNvSpPr>
              <a:spLocks noChangeArrowheads="1"/>
            </p:cNvSpPr>
            <p:nvPr/>
          </p:nvSpPr>
          <p:spPr bwMode="auto">
            <a:xfrm>
              <a:off x="4325307" y="2930525"/>
              <a:ext cx="15242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2055E9F-A1E5-440B-BEF7-46CEECB17EC0}"/>
              </a:ext>
            </a:extLst>
          </p:cNvPr>
          <p:cNvGrpSpPr/>
          <p:nvPr/>
        </p:nvGrpSpPr>
        <p:grpSpPr>
          <a:xfrm>
            <a:off x="5849504" y="3938181"/>
            <a:ext cx="442970" cy="573494"/>
            <a:chOff x="5849504" y="3938181"/>
            <a:chExt cx="442970" cy="573494"/>
          </a:xfrm>
        </p:grpSpPr>
        <p:sp>
          <p:nvSpPr>
            <p:cNvPr id="9239" name="Text Box 42"/>
            <p:cNvSpPr txBox="1">
              <a:spLocks noChangeArrowheads="1"/>
            </p:cNvSpPr>
            <p:nvPr/>
          </p:nvSpPr>
          <p:spPr bwMode="auto">
            <a:xfrm>
              <a:off x="5905074" y="3938181"/>
              <a:ext cx="387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</a:rPr>
                <a:t>C</a:t>
              </a:r>
              <a:endParaRPr lang="en-US"/>
            </a:p>
          </p:txBody>
        </p:sp>
        <p:sp>
          <p:nvSpPr>
            <p:cNvPr id="9244" name="Oval 47"/>
            <p:cNvSpPr>
              <a:spLocks noChangeArrowheads="1"/>
            </p:cNvSpPr>
            <p:nvPr/>
          </p:nvSpPr>
          <p:spPr bwMode="auto">
            <a:xfrm>
              <a:off x="5849504" y="4321175"/>
              <a:ext cx="15242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A61E788-9190-4083-93ED-9A0C2EDE52C5}"/>
              </a:ext>
            </a:extLst>
          </p:cNvPr>
          <p:cNvGrpSpPr/>
          <p:nvPr/>
        </p:nvGrpSpPr>
        <p:grpSpPr>
          <a:xfrm>
            <a:off x="6592551" y="4627056"/>
            <a:ext cx="463610" cy="551369"/>
            <a:chOff x="6592551" y="4627056"/>
            <a:chExt cx="463610" cy="551369"/>
          </a:xfrm>
        </p:grpSpPr>
        <p:sp>
          <p:nvSpPr>
            <p:cNvPr id="9240" name="Text Box 43"/>
            <p:cNvSpPr txBox="1">
              <a:spLocks noChangeArrowheads="1"/>
            </p:cNvSpPr>
            <p:nvPr/>
          </p:nvSpPr>
          <p:spPr bwMode="auto">
            <a:xfrm>
              <a:off x="6668761" y="4627056"/>
              <a:ext cx="387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0099"/>
                  </a:solidFill>
                </a:rPr>
                <a:t>D</a:t>
              </a:r>
              <a:endParaRPr lang="en-US" dirty="0"/>
            </a:p>
          </p:txBody>
        </p:sp>
        <p:sp>
          <p:nvSpPr>
            <p:cNvPr id="9245" name="Oval 48"/>
            <p:cNvSpPr>
              <a:spLocks noChangeArrowheads="1"/>
            </p:cNvSpPr>
            <p:nvPr/>
          </p:nvSpPr>
          <p:spPr bwMode="auto">
            <a:xfrm>
              <a:off x="6592551" y="4987925"/>
              <a:ext cx="15242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F90162F-2E65-4834-8F8A-CE842B19A920}"/>
              </a:ext>
            </a:extLst>
          </p:cNvPr>
          <p:cNvGrpSpPr/>
          <p:nvPr/>
        </p:nvGrpSpPr>
        <p:grpSpPr>
          <a:xfrm>
            <a:off x="7335597" y="5273675"/>
            <a:ext cx="481074" cy="552450"/>
            <a:chOff x="7335597" y="5273675"/>
            <a:chExt cx="481074" cy="552450"/>
          </a:xfrm>
        </p:grpSpPr>
        <p:sp>
          <p:nvSpPr>
            <p:cNvPr id="9241" name="Text Box 44"/>
            <p:cNvSpPr txBox="1">
              <a:spLocks noChangeArrowheads="1"/>
            </p:cNvSpPr>
            <p:nvPr/>
          </p:nvSpPr>
          <p:spPr bwMode="auto">
            <a:xfrm>
              <a:off x="7411807" y="5273675"/>
              <a:ext cx="404864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</a:rPr>
                <a:t>E</a:t>
              </a:r>
              <a:endParaRPr lang="en-US"/>
            </a:p>
          </p:txBody>
        </p:sp>
        <p:sp>
          <p:nvSpPr>
            <p:cNvPr id="9246" name="Oval 49"/>
            <p:cNvSpPr>
              <a:spLocks noChangeArrowheads="1"/>
            </p:cNvSpPr>
            <p:nvPr/>
          </p:nvSpPr>
          <p:spPr bwMode="auto">
            <a:xfrm>
              <a:off x="7335597" y="5635625"/>
              <a:ext cx="15242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0D633-E76E-485A-9B14-F7A9B3A916B5}"/>
              </a:ext>
            </a:extLst>
          </p:cNvPr>
          <p:cNvGrpSpPr/>
          <p:nvPr/>
        </p:nvGrpSpPr>
        <p:grpSpPr>
          <a:xfrm>
            <a:off x="5073117" y="3240088"/>
            <a:ext cx="463610" cy="552450"/>
            <a:chOff x="5073117" y="3240088"/>
            <a:chExt cx="463610" cy="552450"/>
          </a:xfrm>
        </p:grpSpPr>
        <p:sp>
          <p:nvSpPr>
            <p:cNvPr id="9247" name="Oval 47"/>
            <p:cNvSpPr>
              <a:spLocks noChangeArrowheads="1"/>
            </p:cNvSpPr>
            <p:nvPr/>
          </p:nvSpPr>
          <p:spPr bwMode="auto">
            <a:xfrm>
              <a:off x="5073117" y="3602038"/>
              <a:ext cx="15242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9248" name="Text Box 42"/>
            <p:cNvSpPr txBox="1">
              <a:spLocks noChangeArrowheads="1"/>
            </p:cNvSpPr>
            <p:nvPr/>
          </p:nvSpPr>
          <p:spPr bwMode="auto">
            <a:xfrm>
              <a:off x="5149327" y="3240088"/>
              <a:ext cx="387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</a:rPr>
                <a:t>B</a:t>
              </a:r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6950BE-15F5-68BF-DC31-51B49E2EA814}"/>
              </a:ext>
            </a:extLst>
          </p:cNvPr>
          <p:cNvSpPr txBox="1"/>
          <p:nvPr/>
        </p:nvSpPr>
        <p:spPr>
          <a:xfrm>
            <a:off x="5849504" y="2558829"/>
            <a:ext cx="3116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Unaffordable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99A58-460A-B3F0-99D0-16364C4D1DB4}"/>
              </a:ext>
            </a:extLst>
          </p:cNvPr>
          <p:cNvSpPr txBox="1"/>
          <p:nvPr/>
        </p:nvSpPr>
        <p:spPr>
          <a:xfrm>
            <a:off x="4593634" y="4862386"/>
            <a:ext cx="1804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Affordable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 Household’s Budget</a:t>
            </a:r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343400"/>
          </a:xfrm>
        </p:spPr>
        <p:txBody>
          <a:bodyPr/>
          <a:lstStyle/>
          <a:p>
            <a:pPr marL="0" indent="114300"/>
            <a:r>
              <a:rPr lang="en-CA" dirty="0"/>
              <a:t>Relative Price</a:t>
            </a:r>
          </a:p>
          <a:p>
            <a:pPr lvl="1" indent="1588"/>
            <a:r>
              <a:rPr lang="en-CA" dirty="0"/>
              <a:t>A </a:t>
            </a:r>
            <a:r>
              <a:rPr lang="en-CA" b="1" dirty="0">
                <a:solidFill>
                  <a:srgbClr val="FF0000"/>
                </a:solidFill>
              </a:rPr>
              <a:t>relative price</a:t>
            </a:r>
            <a:r>
              <a:rPr lang="en-CA" dirty="0"/>
              <a:t> is the price of one good divided by the price of the other good</a:t>
            </a:r>
          </a:p>
          <a:p>
            <a:pPr lvl="1" indent="1588"/>
            <a:r>
              <a:rPr lang="en-CA" dirty="0"/>
              <a:t>The price of a movie is $20 and the price of pizza is $10.</a:t>
            </a:r>
          </a:p>
          <a:p>
            <a:pPr lvl="1" indent="1588"/>
            <a:r>
              <a:rPr lang="en-CA" dirty="0"/>
              <a:t>So the relative price of a movie is $20 per movie divided $10 per pizza, which equals 2 pizzas per movie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0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4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5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 Household’s Budget</a:t>
            </a:r>
          </a:p>
        </p:txBody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3671888" cy="3124200"/>
          </a:xfrm>
        </p:spPr>
        <p:txBody>
          <a:bodyPr/>
          <a:lstStyle/>
          <a:p>
            <a:pPr marL="0" lvl="1" indent="0">
              <a:buFontTx/>
              <a:buNone/>
            </a:pPr>
            <a:r>
              <a:rPr lang="en-US" b="1" dirty="0">
                <a:solidFill>
                  <a:srgbClr val="3963AB"/>
                </a:solidFill>
              </a:rPr>
              <a:t>A Price Change</a:t>
            </a:r>
          </a:p>
          <a:p>
            <a:pPr marL="0" lvl="1" indent="0">
              <a:buFontTx/>
              <a:buNone/>
            </a:pPr>
            <a:r>
              <a:rPr lang="en-US" sz="2400" dirty="0"/>
              <a:t>A change in the price of movies (</a:t>
            </a:r>
            <a:r>
              <a:rPr lang="en-US" sz="2400" i="1" dirty="0"/>
              <a:t>x</a:t>
            </a:r>
            <a:r>
              <a:rPr lang="en-US" sz="2400" dirty="0"/>
              <a:t>-axis) changes the affordable quantity of that good and changes the </a:t>
            </a:r>
            <a:r>
              <a:rPr lang="en-US" sz="2400" i="1" dirty="0"/>
              <a:t>slope </a:t>
            </a:r>
            <a:r>
              <a:rPr lang="en-US" sz="2400" dirty="0"/>
              <a:t>of the budget line</a:t>
            </a:r>
            <a:endParaRPr lang="en-CA" sz="2400" i="1" dirty="0"/>
          </a:p>
        </p:txBody>
      </p:sp>
      <p:sp>
        <p:nvSpPr>
          <p:cNvPr id="542727" name="Rectangle 7"/>
          <p:cNvSpPr>
            <a:spLocks noChangeArrowheads="1"/>
          </p:cNvSpPr>
          <p:nvPr/>
        </p:nvSpPr>
        <p:spPr bwMode="auto">
          <a:xfrm>
            <a:off x="0" y="4902200"/>
            <a:ext cx="4360863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The rotation of a budget line after a change in the</a:t>
            </a:r>
          </a:p>
        </p:txBody>
      </p:sp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3589338" y="1463675"/>
            <a:ext cx="5613400" cy="4959350"/>
            <a:chOff x="3268460" y="1463675"/>
            <a:chExt cx="5934278" cy="4959404"/>
          </a:xfrm>
        </p:grpSpPr>
        <p:sp>
          <p:nvSpPr>
            <p:cNvPr id="11274" name="Line 2"/>
            <p:cNvSpPr>
              <a:spLocks noChangeShapeType="1"/>
            </p:cNvSpPr>
            <p:nvPr/>
          </p:nvSpPr>
          <p:spPr bwMode="auto">
            <a:xfrm>
              <a:off x="4416425" y="5751513"/>
              <a:ext cx="4786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Line 16"/>
            <p:cNvSpPr>
              <a:spLocks noChangeShapeType="1"/>
            </p:cNvSpPr>
            <p:nvPr/>
          </p:nvSpPr>
          <p:spPr bwMode="auto">
            <a:xfrm>
              <a:off x="4402138" y="1463675"/>
              <a:ext cx="0" cy="429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Rectangle 17"/>
            <p:cNvSpPr>
              <a:spLocks noChangeArrowheads="1"/>
            </p:cNvSpPr>
            <p:nvPr/>
          </p:nvSpPr>
          <p:spPr bwMode="auto">
            <a:xfrm>
              <a:off x="5427662" y="6056312"/>
              <a:ext cx="1227130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/>
              <a:r>
                <a:rPr lang="en-US" sz="1800" b="1" dirty="0">
                  <a:latin typeface="Arial" charset="0"/>
                </a:rPr>
                <a:t>Movies</a:t>
              </a:r>
            </a:p>
          </p:txBody>
        </p:sp>
        <p:sp>
          <p:nvSpPr>
            <p:cNvPr id="11277" name="Rectangle 18"/>
            <p:cNvSpPr>
              <a:spLocks noChangeArrowheads="1"/>
            </p:cNvSpPr>
            <p:nvPr/>
          </p:nvSpPr>
          <p:spPr bwMode="auto">
            <a:xfrm rot="-5400000">
              <a:off x="3082424" y="3392288"/>
              <a:ext cx="759824" cy="3877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800" b="1">
                  <a:latin typeface="Arial" charset="0"/>
                </a:rPr>
                <a:t>Pizza</a:t>
              </a:r>
            </a:p>
          </p:txBody>
        </p:sp>
        <p:sp>
          <p:nvSpPr>
            <p:cNvPr id="11278" name="Rectangle 19"/>
            <p:cNvSpPr>
              <a:spLocks noChangeArrowheads="1"/>
            </p:cNvSpPr>
            <p:nvPr/>
          </p:nvSpPr>
          <p:spPr bwMode="auto">
            <a:xfrm>
              <a:off x="3813175" y="4833938"/>
              <a:ext cx="574675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20</a:t>
              </a:r>
            </a:p>
          </p:txBody>
        </p:sp>
        <p:sp>
          <p:nvSpPr>
            <p:cNvPr id="11279" name="Rectangle 20"/>
            <p:cNvSpPr>
              <a:spLocks noChangeArrowheads="1"/>
            </p:cNvSpPr>
            <p:nvPr/>
          </p:nvSpPr>
          <p:spPr bwMode="auto">
            <a:xfrm>
              <a:off x="3832225" y="4140200"/>
              <a:ext cx="525786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40</a:t>
              </a:r>
            </a:p>
          </p:txBody>
        </p:sp>
        <p:sp>
          <p:nvSpPr>
            <p:cNvPr id="11280" name="Rectangle 21"/>
            <p:cNvSpPr>
              <a:spLocks noChangeArrowheads="1"/>
            </p:cNvSpPr>
            <p:nvPr/>
          </p:nvSpPr>
          <p:spPr bwMode="auto">
            <a:xfrm>
              <a:off x="3817257" y="3446463"/>
              <a:ext cx="653143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60</a:t>
              </a:r>
            </a:p>
          </p:txBody>
        </p:sp>
        <p:sp>
          <p:nvSpPr>
            <p:cNvPr id="11281" name="Rectangle 22"/>
            <p:cNvSpPr>
              <a:spLocks noChangeArrowheads="1"/>
            </p:cNvSpPr>
            <p:nvPr/>
          </p:nvSpPr>
          <p:spPr bwMode="auto">
            <a:xfrm>
              <a:off x="3817257" y="2787650"/>
              <a:ext cx="688068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80</a:t>
              </a:r>
            </a:p>
          </p:txBody>
        </p:sp>
        <p:sp>
          <p:nvSpPr>
            <p:cNvPr id="11282" name="Rectangle 23"/>
            <p:cNvSpPr>
              <a:spLocks noChangeArrowheads="1"/>
            </p:cNvSpPr>
            <p:nvPr/>
          </p:nvSpPr>
          <p:spPr bwMode="auto">
            <a:xfrm>
              <a:off x="3657600" y="2112963"/>
              <a:ext cx="747713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100</a:t>
              </a:r>
            </a:p>
          </p:txBody>
        </p:sp>
        <p:sp>
          <p:nvSpPr>
            <p:cNvPr id="11283" name="Rectangle 24"/>
            <p:cNvSpPr>
              <a:spLocks noChangeArrowheads="1"/>
            </p:cNvSpPr>
            <p:nvPr/>
          </p:nvSpPr>
          <p:spPr bwMode="auto">
            <a:xfrm>
              <a:off x="4943475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10</a:t>
              </a:r>
            </a:p>
          </p:txBody>
        </p:sp>
        <p:sp>
          <p:nvSpPr>
            <p:cNvPr id="11284" name="Rectangle 25"/>
            <p:cNvSpPr>
              <a:spLocks noChangeArrowheads="1"/>
            </p:cNvSpPr>
            <p:nvPr/>
          </p:nvSpPr>
          <p:spPr bwMode="auto">
            <a:xfrm>
              <a:off x="57197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20</a:t>
              </a:r>
            </a:p>
          </p:txBody>
        </p:sp>
        <p:sp>
          <p:nvSpPr>
            <p:cNvPr id="11285" name="Rectangle 26"/>
            <p:cNvSpPr>
              <a:spLocks noChangeArrowheads="1"/>
            </p:cNvSpPr>
            <p:nvPr/>
          </p:nvSpPr>
          <p:spPr bwMode="auto">
            <a:xfrm>
              <a:off x="64436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30</a:t>
              </a:r>
            </a:p>
          </p:txBody>
        </p:sp>
        <p:sp>
          <p:nvSpPr>
            <p:cNvPr id="11286" name="Rectangle 27"/>
            <p:cNvSpPr>
              <a:spLocks noChangeArrowheads="1"/>
            </p:cNvSpPr>
            <p:nvPr/>
          </p:nvSpPr>
          <p:spPr bwMode="auto">
            <a:xfrm>
              <a:off x="7219950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40</a:t>
              </a:r>
            </a:p>
          </p:txBody>
        </p:sp>
        <p:sp>
          <p:nvSpPr>
            <p:cNvPr id="11287" name="Rectangle 28"/>
            <p:cNvSpPr>
              <a:spLocks noChangeArrowheads="1"/>
            </p:cNvSpPr>
            <p:nvPr/>
          </p:nvSpPr>
          <p:spPr bwMode="auto">
            <a:xfrm>
              <a:off x="78914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50</a:t>
              </a:r>
            </a:p>
          </p:txBody>
        </p:sp>
        <p:sp>
          <p:nvSpPr>
            <p:cNvPr id="11288" name="Rectangle 35"/>
            <p:cNvSpPr>
              <a:spLocks noChangeArrowheads="1"/>
            </p:cNvSpPr>
            <p:nvPr/>
          </p:nvSpPr>
          <p:spPr bwMode="auto">
            <a:xfrm>
              <a:off x="4173538" y="5719763"/>
              <a:ext cx="35083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0</a:t>
              </a:r>
            </a:p>
          </p:txBody>
        </p:sp>
        <p:sp>
          <p:nvSpPr>
            <p:cNvPr id="11290" name="Line 45"/>
            <p:cNvSpPr>
              <a:spLocks noChangeShapeType="1"/>
            </p:cNvSpPr>
            <p:nvPr/>
          </p:nvSpPr>
          <p:spPr bwMode="auto">
            <a:xfrm>
              <a:off x="4397375" y="3017838"/>
              <a:ext cx="3016250" cy="273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Text Box 41"/>
            <p:cNvSpPr txBox="1">
              <a:spLocks noChangeArrowheads="1"/>
            </p:cNvSpPr>
            <p:nvPr/>
          </p:nvSpPr>
          <p:spPr bwMode="auto">
            <a:xfrm>
              <a:off x="4319588" y="2630488"/>
              <a:ext cx="61436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</a:rPr>
                <a:t>A</a:t>
              </a:r>
              <a:endParaRPr lang="en-US"/>
            </a:p>
          </p:txBody>
        </p:sp>
        <p:sp>
          <p:nvSpPr>
            <p:cNvPr id="11291" name="Oval 46"/>
            <p:cNvSpPr>
              <a:spLocks noChangeArrowheads="1"/>
            </p:cNvSpPr>
            <p:nvPr/>
          </p:nvSpPr>
          <p:spPr bwMode="auto">
            <a:xfrm>
              <a:off x="4325938" y="2930525"/>
              <a:ext cx="152400" cy="190500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000099"/>
                </a:solidFill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9D703A-281B-F9CF-9687-4C72452F4083}"/>
              </a:ext>
            </a:extLst>
          </p:cNvPr>
          <p:cNvCxnSpPr>
            <a:cxnSpLocks/>
          </p:cNvCxnSpPr>
          <p:nvPr/>
        </p:nvCxnSpPr>
        <p:spPr bwMode="auto">
          <a:xfrm flipH="1">
            <a:off x="6037943" y="5292996"/>
            <a:ext cx="99422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Line 45">
            <a:extLst>
              <a:ext uri="{FF2B5EF4-FFF2-40B4-BE49-F238E27FC236}">
                <a16:creationId xmlns:a16="http://schemas.microsoft.com/office/drawing/2014/main" id="{EBA7C882-CC74-76F8-DA1B-AF759A879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034490"/>
            <a:ext cx="1501893" cy="2712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45">
            <a:extLst>
              <a:ext uri="{FF2B5EF4-FFF2-40B4-BE49-F238E27FC236}">
                <a16:creationId xmlns:a16="http://schemas.microsoft.com/office/drawing/2014/main" id="{C6E31332-E9B3-040A-277D-09EE7DF4A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404" y="3031332"/>
            <a:ext cx="3591897" cy="2712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4C9A83-FDE1-9335-70F8-D50E8CF10A08}"/>
              </a:ext>
            </a:extLst>
          </p:cNvPr>
          <p:cNvCxnSpPr/>
          <p:nvPr/>
        </p:nvCxnSpPr>
        <p:spPr bwMode="auto">
          <a:xfrm>
            <a:off x="7257143" y="5464629"/>
            <a:ext cx="56256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2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3" grpId="0" build="p" bldLvl="3"/>
      <p:bldP spid="5427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 Household’s Budget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63713"/>
            <a:ext cx="8679543" cy="4651375"/>
          </a:xfrm>
        </p:spPr>
        <p:txBody>
          <a:bodyPr/>
          <a:lstStyle/>
          <a:p>
            <a:pPr marL="0" indent="114300"/>
            <a:r>
              <a:rPr lang="en-CA" dirty="0"/>
              <a:t>Real Income</a:t>
            </a:r>
          </a:p>
          <a:p>
            <a:pPr lvl="1" indent="1588"/>
            <a:r>
              <a:rPr lang="en-CA" dirty="0"/>
              <a:t>A household’s </a:t>
            </a:r>
            <a:r>
              <a:rPr lang="en-CA" b="1" dirty="0">
                <a:solidFill>
                  <a:srgbClr val="FF0000"/>
                </a:solidFill>
              </a:rPr>
              <a:t>real income</a:t>
            </a:r>
            <a:r>
              <a:rPr lang="en-CA" dirty="0"/>
              <a:t> is the household’s income expressed as the quantity of the goods that the household can afford to buy</a:t>
            </a:r>
          </a:p>
          <a:p>
            <a:pPr lvl="1" indent="1588"/>
            <a:r>
              <a:rPr lang="en-CA" dirty="0"/>
              <a:t>Expressed in terms of pizza, Sue’s real income is 80 pizzas</a:t>
            </a:r>
            <a:r>
              <a:rPr lang="en-CA" dirty="0">
                <a:cs typeface="Arial" charset="0"/>
              </a:rPr>
              <a:t>—the maximum quantity of pizzas that she can buy</a:t>
            </a:r>
            <a:r>
              <a:rPr lang="en-CA" dirty="0"/>
              <a:t>.</a:t>
            </a:r>
          </a:p>
          <a:p>
            <a:pPr lvl="1" indent="1588"/>
            <a:r>
              <a:rPr lang="en-CA" dirty="0"/>
              <a:t>Sue’s real income equals her money income ($800) divided by the price of pizzas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46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9" grpId="0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 Household’s Budget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1600200"/>
            <a:ext cx="4021138" cy="1752600"/>
          </a:xfrm>
        </p:spPr>
        <p:txBody>
          <a:bodyPr/>
          <a:lstStyle/>
          <a:p>
            <a:pPr marL="0" lvl="1" indent="0">
              <a:buFontTx/>
              <a:buNone/>
            </a:pPr>
            <a:r>
              <a:rPr lang="en-US" b="1" dirty="0">
                <a:solidFill>
                  <a:srgbClr val="3963AB"/>
                </a:solidFill>
              </a:rPr>
              <a:t>A Change in Income</a:t>
            </a:r>
          </a:p>
          <a:p>
            <a:pPr marL="0" lvl="1" indent="0">
              <a:buFontTx/>
              <a:buNone/>
            </a:pPr>
            <a:r>
              <a:rPr lang="en-US" sz="2400" dirty="0"/>
              <a:t>A change in the income brings a parallel shift of the budget line.</a:t>
            </a:r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auto">
          <a:xfrm>
            <a:off x="0" y="3392704"/>
            <a:ext cx="370632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The slope of the budget line does not change because the relative price does not change </a:t>
            </a:r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0" y="5102225"/>
            <a:ext cx="4049713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The budget line shifts when income changes.</a:t>
            </a:r>
          </a:p>
        </p:txBody>
      </p:sp>
      <p:grpSp>
        <p:nvGrpSpPr>
          <p:cNvPr id="13318" name="Group 8"/>
          <p:cNvGrpSpPr>
            <a:grpSpLocks/>
          </p:cNvGrpSpPr>
          <p:nvPr/>
        </p:nvGrpSpPr>
        <p:grpSpPr bwMode="auto">
          <a:xfrm>
            <a:off x="3584575" y="1463675"/>
            <a:ext cx="5559425" cy="4959350"/>
            <a:chOff x="3268460" y="1463675"/>
            <a:chExt cx="5934278" cy="4959404"/>
          </a:xfrm>
        </p:grpSpPr>
        <p:sp>
          <p:nvSpPr>
            <p:cNvPr id="13323" name="Line 2"/>
            <p:cNvSpPr>
              <a:spLocks noChangeShapeType="1"/>
            </p:cNvSpPr>
            <p:nvPr/>
          </p:nvSpPr>
          <p:spPr bwMode="auto">
            <a:xfrm>
              <a:off x="4416425" y="5751513"/>
              <a:ext cx="4786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4" name="Line 16"/>
            <p:cNvSpPr>
              <a:spLocks noChangeShapeType="1"/>
            </p:cNvSpPr>
            <p:nvPr/>
          </p:nvSpPr>
          <p:spPr bwMode="auto">
            <a:xfrm>
              <a:off x="4402138" y="1463675"/>
              <a:ext cx="0" cy="429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Rectangle 17"/>
            <p:cNvSpPr>
              <a:spLocks noChangeArrowheads="1"/>
            </p:cNvSpPr>
            <p:nvPr/>
          </p:nvSpPr>
          <p:spPr bwMode="auto">
            <a:xfrm>
              <a:off x="5427662" y="6056312"/>
              <a:ext cx="1227130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/>
              <a:r>
                <a:rPr lang="en-US" sz="1800" b="1" dirty="0">
                  <a:latin typeface="Arial" charset="0"/>
                </a:rPr>
                <a:t>Movies</a:t>
              </a:r>
            </a:p>
          </p:txBody>
        </p:sp>
        <p:sp>
          <p:nvSpPr>
            <p:cNvPr id="13326" name="Rectangle 18"/>
            <p:cNvSpPr>
              <a:spLocks noChangeArrowheads="1"/>
            </p:cNvSpPr>
            <p:nvPr/>
          </p:nvSpPr>
          <p:spPr bwMode="auto">
            <a:xfrm rot="-5400000">
              <a:off x="3082424" y="3392288"/>
              <a:ext cx="759824" cy="3877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800" b="1">
                  <a:latin typeface="Arial" charset="0"/>
                </a:rPr>
                <a:t>Pizza</a:t>
              </a:r>
            </a:p>
          </p:txBody>
        </p:sp>
        <p:sp>
          <p:nvSpPr>
            <p:cNvPr id="13327" name="Rectangle 19"/>
            <p:cNvSpPr>
              <a:spLocks noChangeArrowheads="1"/>
            </p:cNvSpPr>
            <p:nvPr/>
          </p:nvSpPr>
          <p:spPr bwMode="auto">
            <a:xfrm>
              <a:off x="3813175" y="4833938"/>
              <a:ext cx="574675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20</a:t>
              </a:r>
            </a:p>
          </p:txBody>
        </p:sp>
        <p:sp>
          <p:nvSpPr>
            <p:cNvPr id="13328" name="Rectangle 20"/>
            <p:cNvSpPr>
              <a:spLocks noChangeArrowheads="1"/>
            </p:cNvSpPr>
            <p:nvPr/>
          </p:nvSpPr>
          <p:spPr bwMode="auto">
            <a:xfrm>
              <a:off x="3832225" y="4140200"/>
              <a:ext cx="525786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40</a:t>
              </a:r>
            </a:p>
          </p:txBody>
        </p:sp>
        <p:sp>
          <p:nvSpPr>
            <p:cNvPr id="13329" name="Rectangle 21"/>
            <p:cNvSpPr>
              <a:spLocks noChangeArrowheads="1"/>
            </p:cNvSpPr>
            <p:nvPr/>
          </p:nvSpPr>
          <p:spPr bwMode="auto">
            <a:xfrm>
              <a:off x="3817257" y="3446463"/>
              <a:ext cx="653143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60</a:t>
              </a:r>
            </a:p>
          </p:txBody>
        </p:sp>
        <p:sp>
          <p:nvSpPr>
            <p:cNvPr id="13330" name="Rectangle 22"/>
            <p:cNvSpPr>
              <a:spLocks noChangeArrowheads="1"/>
            </p:cNvSpPr>
            <p:nvPr/>
          </p:nvSpPr>
          <p:spPr bwMode="auto">
            <a:xfrm>
              <a:off x="3817257" y="2787650"/>
              <a:ext cx="688068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80</a:t>
              </a:r>
            </a:p>
          </p:txBody>
        </p:sp>
        <p:sp>
          <p:nvSpPr>
            <p:cNvPr id="13331" name="Rectangle 23"/>
            <p:cNvSpPr>
              <a:spLocks noChangeArrowheads="1"/>
            </p:cNvSpPr>
            <p:nvPr/>
          </p:nvSpPr>
          <p:spPr bwMode="auto">
            <a:xfrm>
              <a:off x="3657600" y="2112963"/>
              <a:ext cx="747712" cy="8284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100</a:t>
              </a:r>
            </a:p>
          </p:txBody>
        </p:sp>
        <p:sp>
          <p:nvSpPr>
            <p:cNvPr id="13332" name="Rectangle 24"/>
            <p:cNvSpPr>
              <a:spLocks noChangeArrowheads="1"/>
            </p:cNvSpPr>
            <p:nvPr/>
          </p:nvSpPr>
          <p:spPr bwMode="auto">
            <a:xfrm>
              <a:off x="4943475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10</a:t>
              </a:r>
            </a:p>
          </p:txBody>
        </p:sp>
        <p:sp>
          <p:nvSpPr>
            <p:cNvPr id="13333" name="Rectangle 25"/>
            <p:cNvSpPr>
              <a:spLocks noChangeArrowheads="1"/>
            </p:cNvSpPr>
            <p:nvPr/>
          </p:nvSpPr>
          <p:spPr bwMode="auto">
            <a:xfrm>
              <a:off x="57197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20</a:t>
              </a:r>
            </a:p>
          </p:txBody>
        </p:sp>
        <p:sp>
          <p:nvSpPr>
            <p:cNvPr id="13334" name="Rectangle 26"/>
            <p:cNvSpPr>
              <a:spLocks noChangeArrowheads="1"/>
            </p:cNvSpPr>
            <p:nvPr/>
          </p:nvSpPr>
          <p:spPr bwMode="auto">
            <a:xfrm>
              <a:off x="64436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30</a:t>
              </a:r>
            </a:p>
          </p:txBody>
        </p:sp>
        <p:sp>
          <p:nvSpPr>
            <p:cNvPr id="13335" name="Rectangle 27"/>
            <p:cNvSpPr>
              <a:spLocks noChangeArrowheads="1"/>
            </p:cNvSpPr>
            <p:nvPr/>
          </p:nvSpPr>
          <p:spPr bwMode="auto">
            <a:xfrm>
              <a:off x="7219950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40</a:t>
              </a:r>
            </a:p>
          </p:txBody>
        </p:sp>
        <p:sp>
          <p:nvSpPr>
            <p:cNvPr id="13336" name="Rectangle 28"/>
            <p:cNvSpPr>
              <a:spLocks noChangeArrowheads="1"/>
            </p:cNvSpPr>
            <p:nvPr/>
          </p:nvSpPr>
          <p:spPr bwMode="auto">
            <a:xfrm>
              <a:off x="7891463" y="5719763"/>
              <a:ext cx="52070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50</a:t>
              </a:r>
            </a:p>
          </p:txBody>
        </p:sp>
        <p:sp>
          <p:nvSpPr>
            <p:cNvPr id="13337" name="Rectangle 35"/>
            <p:cNvSpPr>
              <a:spLocks noChangeArrowheads="1"/>
            </p:cNvSpPr>
            <p:nvPr/>
          </p:nvSpPr>
          <p:spPr bwMode="auto">
            <a:xfrm>
              <a:off x="4173538" y="5719763"/>
              <a:ext cx="35083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latin typeface="Arial" charset="0"/>
                </a:rPr>
                <a:t>0</a:t>
              </a:r>
            </a:p>
          </p:txBody>
        </p:sp>
        <p:sp>
          <p:nvSpPr>
            <p:cNvPr id="13338" name="Line 45"/>
            <p:cNvSpPr>
              <a:spLocks noChangeShapeType="1"/>
            </p:cNvSpPr>
            <p:nvPr/>
          </p:nvSpPr>
          <p:spPr bwMode="auto">
            <a:xfrm>
              <a:off x="4397375" y="3017838"/>
              <a:ext cx="3016250" cy="273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Line 45">
            <a:extLst>
              <a:ext uri="{FF2B5EF4-FFF2-40B4-BE49-F238E27FC236}">
                <a16:creationId xmlns:a16="http://schemas.microsoft.com/office/drawing/2014/main" id="{DFAAA6B5-9277-ADC3-9F4D-A1402DA45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3256" y="4365352"/>
            <a:ext cx="1478298" cy="138611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D397F388-3675-C5A2-8AD8-A40F39AE3090}"/>
              </a:ext>
            </a:extLst>
          </p:cNvPr>
          <p:cNvSpPr/>
          <p:nvPr/>
        </p:nvSpPr>
        <p:spPr bwMode="auto">
          <a:xfrm>
            <a:off x="5881036" y="5167086"/>
            <a:ext cx="875965" cy="247830"/>
          </a:xfrm>
          <a:prstGeom prst="lef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Line 45">
            <a:extLst>
              <a:ext uri="{FF2B5EF4-FFF2-40B4-BE49-F238E27FC236}">
                <a16:creationId xmlns:a16="http://schemas.microsoft.com/office/drawing/2014/main" id="{44C63237-3483-D17A-5B42-537C673DF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2180" y="2409371"/>
            <a:ext cx="3446758" cy="334209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851672-66CE-C50E-E763-49282144EEA1}"/>
              </a:ext>
            </a:extLst>
          </p:cNvPr>
          <p:cNvSpPr/>
          <p:nvPr/>
        </p:nvSpPr>
        <p:spPr bwMode="auto">
          <a:xfrm>
            <a:off x="6712856" y="4898571"/>
            <a:ext cx="487809" cy="170530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8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7" grpId="0" build="p" bldLvl="3"/>
      <p:bldP spid="548868" grpId="0"/>
      <p:bldP spid="5488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noFill/>
        </p:spPr>
        <p:txBody>
          <a:bodyPr/>
          <a:lstStyle/>
          <a:p>
            <a:r>
              <a:rPr lang="en-US" altLang="en-US" dirty="0"/>
              <a:t>Learning Objective #2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364342"/>
            <a:ext cx="9144000" cy="5290457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Relate preferences to utility and differentiate between total and marginal utility.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Preferences and Utility: Preferences</a:t>
            </a: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66863"/>
            <a:ext cx="8926513" cy="4529137"/>
          </a:xfrm>
        </p:spPr>
        <p:txBody>
          <a:bodyPr/>
          <a:lstStyle/>
          <a:p>
            <a:r>
              <a:rPr lang="en-CA" dirty="0"/>
              <a:t>Preferences</a:t>
            </a:r>
          </a:p>
          <a:p>
            <a:pPr lvl="1"/>
            <a:r>
              <a:rPr lang="en-CA" dirty="0"/>
              <a:t>A household’s preferences determine the benefits or satisfaction a person receives consuming a good or service. </a:t>
            </a:r>
          </a:p>
          <a:p>
            <a:pPr lvl="1"/>
            <a:r>
              <a:rPr lang="en-CA" dirty="0"/>
              <a:t>The benefit or satisfaction from consuming a good or service is called </a:t>
            </a:r>
            <a:r>
              <a:rPr lang="en-CA" b="1" dirty="0">
                <a:solidFill>
                  <a:srgbClr val="FF0000"/>
                </a:solidFill>
              </a:rPr>
              <a:t>utility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3" grpId="0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dirty="0"/>
              <a:t>Total and Marginal Utility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76338"/>
            <a:ext cx="9144000" cy="5181600"/>
          </a:xfrm>
        </p:spPr>
        <p:txBody>
          <a:bodyPr/>
          <a:lstStyle/>
          <a:p>
            <a:r>
              <a:rPr lang="en-CA" dirty="0"/>
              <a:t>Total Utility</a:t>
            </a:r>
          </a:p>
          <a:p>
            <a:pPr lvl="1"/>
            <a:r>
              <a:rPr lang="en-CA" b="1" dirty="0">
                <a:solidFill>
                  <a:srgbClr val="FF0000"/>
                </a:solidFill>
              </a:rPr>
              <a:t>Total utility</a:t>
            </a:r>
            <a:r>
              <a:rPr lang="en-CA" dirty="0"/>
              <a:t> is the total benefit a person gets from the consumption of goods. Generally, more consumption gives more utility. </a:t>
            </a:r>
          </a:p>
          <a:p>
            <a:r>
              <a:rPr lang="en-US" dirty="0">
                <a:solidFill>
                  <a:srgbClr val="FF3300"/>
                </a:solidFill>
              </a:rPr>
              <a:t>Marginal Utility</a:t>
            </a:r>
            <a:endParaRPr lang="en-US" dirty="0"/>
          </a:p>
          <a:p>
            <a:pPr lvl="1"/>
            <a:r>
              <a:rPr lang="en-US" dirty="0"/>
              <a:t>The change in total utility due to a one-unit change in the quantity of a good or service consumed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21117" y="5214938"/>
            <a:ext cx="8285163" cy="1250950"/>
            <a:chOff x="289" y="2877"/>
            <a:chExt cx="5219" cy="788"/>
          </a:xfrm>
        </p:grpSpPr>
        <p:sp>
          <p:nvSpPr>
            <p:cNvPr id="15365" name="Rectangle 5"/>
            <p:cNvSpPr>
              <a:spLocks noChangeArrowheads="1"/>
            </p:cNvSpPr>
            <p:nvPr/>
          </p:nvSpPr>
          <p:spPr bwMode="auto">
            <a:xfrm>
              <a:off x="289" y="2877"/>
              <a:ext cx="5219" cy="788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66" name="Group 11"/>
            <p:cNvGrpSpPr>
              <a:grpSpLocks/>
            </p:cNvGrpSpPr>
            <p:nvPr/>
          </p:nvGrpSpPr>
          <p:grpSpPr bwMode="auto">
            <a:xfrm>
              <a:off x="440" y="3121"/>
              <a:ext cx="4808" cy="288"/>
              <a:chOff x="16" y="3753"/>
              <a:chExt cx="4808" cy="288"/>
            </a:xfrm>
          </p:grpSpPr>
          <p:sp>
            <p:nvSpPr>
              <p:cNvPr id="15367" name="Text Box 7"/>
              <p:cNvSpPr txBox="1">
                <a:spLocks noChangeArrowheads="1"/>
              </p:cNvSpPr>
              <p:nvPr/>
            </p:nvSpPr>
            <p:spPr bwMode="auto">
              <a:xfrm>
                <a:off x="16" y="3753"/>
                <a:ext cx="151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dirty="0">
                    <a:latin typeface="Arial" charset="0"/>
                  </a:rPr>
                  <a:t>Marginal utility =</a:t>
                </a:r>
              </a:p>
            </p:txBody>
          </p:sp>
          <p:sp>
            <p:nvSpPr>
              <p:cNvPr id="15370" name="Line 10"/>
              <p:cNvSpPr>
                <a:spLocks noChangeShapeType="1"/>
              </p:cNvSpPr>
              <p:nvPr/>
            </p:nvSpPr>
            <p:spPr bwMode="auto">
              <a:xfrm>
                <a:off x="1528" y="3904"/>
                <a:ext cx="3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9935F7-BD1E-EEAD-0AEA-3A46B04E0954}"/>
              </a:ext>
            </a:extLst>
          </p:cNvPr>
          <p:cNvSpPr txBox="1"/>
          <p:nvPr/>
        </p:nvSpPr>
        <p:spPr>
          <a:xfrm>
            <a:off x="4038600" y="5378748"/>
            <a:ext cx="492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in total utility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7CDD2-CC5F-A64A-DB32-410ECDC4DAD0}"/>
              </a:ext>
            </a:extLst>
          </p:cNvPr>
          <p:cNvSpPr txBox="1"/>
          <p:nvPr/>
        </p:nvSpPr>
        <p:spPr>
          <a:xfrm>
            <a:off x="2653166" y="5890193"/>
            <a:ext cx="6171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in the number of total units consumed</a:t>
            </a:r>
          </a:p>
        </p:txBody>
      </p:sp>
    </p:spTree>
    <p:custDataLst>
      <p:tags r:id="rId1"/>
    </p:custData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>
          <a:xfrm>
            <a:off x="177800" y="0"/>
            <a:ext cx="8788400" cy="1712913"/>
          </a:xfrm>
        </p:spPr>
        <p:txBody>
          <a:bodyPr/>
          <a:lstStyle/>
          <a:p>
            <a:r>
              <a:rPr lang="en-US" sz="4000" dirty="0"/>
              <a:t>Total and Marginal Utility: </a:t>
            </a:r>
            <a:br>
              <a:rPr lang="en-US" sz="4000" dirty="0"/>
            </a:br>
            <a:r>
              <a:rPr lang="en-US" sz="4000" dirty="0"/>
              <a:t>Eating Candy</a:t>
            </a:r>
          </a:p>
        </p:txBody>
      </p:sp>
      <p:sp>
        <p:nvSpPr>
          <p:cNvPr id="16387" name="Rectangle 55"/>
          <p:cNvSpPr>
            <a:spLocks noGrp="1" noChangeArrowheads="1"/>
          </p:cNvSpPr>
          <p:nvPr>
            <p:ph idx="1"/>
          </p:nvPr>
        </p:nvSpPr>
        <p:spPr>
          <a:xfrm>
            <a:off x="206375" y="1981200"/>
            <a:ext cx="8937625" cy="4114800"/>
          </a:xfrm>
        </p:spPr>
        <p:txBody>
          <a:bodyPr/>
          <a:lstStyle/>
          <a:p>
            <a:pPr marL="0">
              <a:buFont typeface="Wingdings" pitchFamily="2" charset="2"/>
              <a:buNone/>
            </a:pPr>
            <a:r>
              <a:rPr lang="en-US" b="1" dirty="0"/>
              <a:t>Quantity     Marginal Utility   Total Utility	  </a:t>
            </a:r>
            <a:r>
              <a:rPr lang="en-US" b="1" u="sng" dirty="0"/>
              <a:t>of Candy    	of Candy 	  of Candy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1			    20	 			20		   2			    12	 			32 		   3			      5	   			37	           4			      1	   			38	           5			     -8  			30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6" name="Freeform 83"/>
          <p:cNvSpPr>
            <a:spLocks/>
          </p:cNvSpPr>
          <p:nvPr/>
        </p:nvSpPr>
        <p:spPr bwMode="auto">
          <a:xfrm>
            <a:off x="766763" y="1776413"/>
            <a:ext cx="2208212" cy="4179887"/>
          </a:xfrm>
          <a:custGeom>
            <a:avLst/>
            <a:gdLst>
              <a:gd name="T0" fmla="*/ 2147483647 w 1391"/>
              <a:gd name="T1" fmla="*/ 2147483647 h 2633"/>
              <a:gd name="T2" fmla="*/ 2147483647 w 1391"/>
              <a:gd name="T3" fmla="*/ 2147483647 h 2633"/>
              <a:gd name="T4" fmla="*/ 2147483647 w 1391"/>
              <a:gd name="T5" fmla="*/ 2147483647 h 2633"/>
              <a:gd name="T6" fmla="*/ 2147483647 w 1391"/>
              <a:gd name="T7" fmla="*/ 2147483647 h 2633"/>
              <a:gd name="T8" fmla="*/ 2147483647 w 1391"/>
              <a:gd name="T9" fmla="*/ 2147483647 h 2633"/>
              <a:gd name="T10" fmla="*/ 2147483647 w 1391"/>
              <a:gd name="T11" fmla="*/ 2147483647 h 2633"/>
              <a:gd name="T12" fmla="*/ 2147483647 w 1391"/>
              <a:gd name="T13" fmla="*/ 2147483647 h 26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91"/>
              <a:gd name="T22" fmla="*/ 0 h 2633"/>
              <a:gd name="T23" fmla="*/ 1391 w 1391"/>
              <a:gd name="T24" fmla="*/ 2633 h 26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91" h="2633">
                <a:moveTo>
                  <a:pt x="47" y="2492"/>
                </a:moveTo>
                <a:cubicBezTo>
                  <a:pt x="23" y="2562"/>
                  <a:pt x="0" y="2633"/>
                  <a:pt x="47" y="2438"/>
                </a:cubicBezTo>
                <a:cubicBezTo>
                  <a:pt x="94" y="2243"/>
                  <a:pt x="241" y="1628"/>
                  <a:pt x="331" y="1322"/>
                </a:cubicBezTo>
                <a:cubicBezTo>
                  <a:pt x="421" y="1016"/>
                  <a:pt x="500" y="784"/>
                  <a:pt x="587" y="600"/>
                </a:cubicBezTo>
                <a:cubicBezTo>
                  <a:pt x="674" y="416"/>
                  <a:pt x="767" y="301"/>
                  <a:pt x="852" y="216"/>
                </a:cubicBezTo>
                <a:cubicBezTo>
                  <a:pt x="937" y="131"/>
                  <a:pt x="1009" y="0"/>
                  <a:pt x="1099" y="88"/>
                </a:cubicBezTo>
                <a:cubicBezTo>
                  <a:pt x="1189" y="176"/>
                  <a:pt x="1342" y="638"/>
                  <a:pt x="1391" y="746"/>
                </a:cubicBezTo>
              </a:path>
            </a:pathLst>
          </a:custGeom>
          <a:noFill/>
          <a:ln w="2222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Total and Marginal Utility: </a:t>
            </a:r>
            <a:br>
              <a:rPr lang="en-US" sz="4000"/>
            </a:br>
            <a:r>
              <a:rPr lang="en-US" sz="4000"/>
              <a:t>Eating Candy</a:t>
            </a: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3124200" y="624205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2579" name="AutoShape 67"/>
          <p:cNvSpPr>
            <a:spLocks/>
          </p:cNvSpPr>
          <p:nvPr/>
        </p:nvSpPr>
        <p:spPr bwMode="auto">
          <a:xfrm>
            <a:off x="3341688" y="1651000"/>
            <a:ext cx="1228725" cy="536575"/>
          </a:xfrm>
          <a:prstGeom prst="borderCallout1">
            <a:avLst>
              <a:gd name="adj1" fmla="val 21301"/>
              <a:gd name="adj2" fmla="val -6204"/>
              <a:gd name="adj3" fmla="val 39644"/>
              <a:gd name="adj4" fmla="val -61111"/>
            </a:avLst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400">
                <a:latin typeface="Arial" charset="0"/>
              </a:rPr>
              <a:t>Total utility is</a:t>
            </a:r>
          </a:p>
          <a:p>
            <a:r>
              <a:rPr lang="en-US" sz="1400">
                <a:latin typeface="Arial" charset="0"/>
              </a:rPr>
              <a:t>maximized...</a:t>
            </a:r>
          </a:p>
        </p:txBody>
      </p:sp>
      <p:sp>
        <p:nvSpPr>
          <p:cNvPr id="192580" name="AutoShape 68"/>
          <p:cNvSpPr>
            <a:spLocks/>
          </p:cNvSpPr>
          <p:nvPr/>
        </p:nvSpPr>
        <p:spPr bwMode="auto">
          <a:xfrm>
            <a:off x="3990975" y="6000750"/>
            <a:ext cx="1622425" cy="536575"/>
          </a:xfrm>
          <a:prstGeom prst="borderCallout1">
            <a:avLst>
              <a:gd name="adj1" fmla="val 21301"/>
              <a:gd name="adj2" fmla="val 104694"/>
              <a:gd name="adj3" fmla="val -227810"/>
              <a:gd name="adj4" fmla="val 189236"/>
            </a:avLst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400" dirty="0">
                <a:latin typeface="Arial" charset="0"/>
              </a:rPr>
              <a:t>…where marginal</a:t>
            </a:r>
          </a:p>
          <a:p>
            <a:r>
              <a:rPr lang="en-US" sz="1400" dirty="0">
                <a:latin typeface="Arial" charset="0"/>
              </a:rPr>
              <a:t>utility equals</a:t>
            </a:r>
          </a:p>
        </p:txBody>
      </p:sp>
      <p:sp>
        <p:nvSpPr>
          <p:cNvPr id="17416" name="Line 5"/>
          <p:cNvSpPr>
            <a:spLocks noChangeShapeType="1"/>
          </p:cNvSpPr>
          <p:nvPr/>
        </p:nvSpPr>
        <p:spPr bwMode="auto">
          <a:xfrm>
            <a:off x="5229225" y="2576513"/>
            <a:ext cx="0" cy="3227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6"/>
          <p:cNvSpPr>
            <a:spLocks noChangeShapeType="1"/>
          </p:cNvSpPr>
          <p:nvPr/>
        </p:nvSpPr>
        <p:spPr bwMode="auto">
          <a:xfrm>
            <a:off x="5229225" y="4759325"/>
            <a:ext cx="3670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 rot="-5400000">
            <a:off x="2944018" y="4034632"/>
            <a:ext cx="32496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400">
                <a:latin typeface="Arial" charset="0"/>
              </a:rPr>
              <a:t>Marginal Utility (utils per Candy)</a:t>
            </a:r>
          </a:p>
        </p:txBody>
      </p:sp>
      <p:sp>
        <p:nvSpPr>
          <p:cNvPr id="17419" name="Text Box 9"/>
          <p:cNvSpPr txBox="1">
            <a:spLocks noChangeArrowheads="1"/>
          </p:cNvSpPr>
          <p:nvPr/>
        </p:nvSpPr>
        <p:spPr bwMode="auto">
          <a:xfrm>
            <a:off x="4913313" y="45735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17420" name="Text Box 10"/>
          <p:cNvSpPr txBox="1">
            <a:spLocks noChangeArrowheads="1"/>
          </p:cNvSpPr>
          <p:nvPr/>
        </p:nvSpPr>
        <p:spPr bwMode="auto">
          <a:xfrm>
            <a:off x="5534025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17421" name="Text Box 11"/>
          <p:cNvSpPr txBox="1">
            <a:spLocks noChangeArrowheads="1"/>
          </p:cNvSpPr>
          <p:nvPr/>
        </p:nvSpPr>
        <p:spPr bwMode="auto">
          <a:xfrm>
            <a:off x="6003925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2</a:t>
            </a:r>
          </a:p>
        </p:txBody>
      </p:sp>
      <p:sp>
        <p:nvSpPr>
          <p:cNvPr id="17422" name="Text Box 12"/>
          <p:cNvSpPr txBox="1">
            <a:spLocks noChangeArrowheads="1"/>
          </p:cNvSpPr>
          <p:nvPr/>
        </p:nvSpPr>
        <p:spPr bwMode="auto">
          <a:xfrm>
            <a:off x="6472238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3</a:t>
            </a:r>
          </a:p>
        </p:txBody>
      </p:sp>
      <p:sp>
        <p:nvSpPr>
          <p:cNvPr id="17423" name="Text Box 14"/>
          <p:cNvSpPr txBox="1">
            <a:spLocks noChangeArrowheads="1"/>
          </p:cNvSpPr>
          <p:nvPr/>
        </p:nvSpPr>
        <p:spPr bwMode="auto">
          <a:xfrm>
            <a:off x="7410450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5</a:t>
            </a:r>
          </a:p>
        </p:txBody>
      </p:sp>
      <p:sp>
        <p:nvSpPr>
          <p:cNvPr id="17424" name="Text Box 15"/>
          <p:cNvSpPr txBox="1">
            <a:spLocks noChangeArrowheads="1"/>
          </p:cNvSpPr>
          <p:nvPr/>
        </p:nvSpPr>
        <p:spPr bwMode="auto">
          <a:xfrm>
            <a:off x="7880350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6</a:t>
            </a:r>
          </a:p>
        </p:txBody>
      </p:sp>
      <p:sp>
        <p:nvSpPr>
          <p:cNvPr id="17425" name="Text Box 16"/>
          <p:cNvSpPr txBox="1">
            <a:spLocks noChangeArrowheads="1"/>
          </p:cNvSpPr>
          <p:nvPr/>
        </p:nvSpPr>
        <p:spPr bwMode="auto">
          <a:xfrm>
            <a:off x="8348663" y="4795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7</a:t>
            </a:r>
          </a:p>
        </p:txBody>
      </p:sp>
      <p:sp>
        <p:nvSpPr>
          <p:cNvPr id="17426" name="Text Box 17"/>
          <p:cNvSpPr txBox="1">
            <a:spLocks noChangeArrowheads="1"/>
          </p:cNvSpPr>
          <p:nvPr/>
        </p:nvSpPr>
        <p:spPr bwMode="auto">
          <a:xfrm>
            <a:off x="4851400" y="5402263"/>
            <a:ext cx="38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-8</a:t>
            </a:r>
          </a:p>
        </p:txBody>
      </p:sp>
      <p:sp>
        <p:nvSpPr>
          <p:cNvPr id="17427" name="Text Box 18"/>
          <p:cNvSpPr txBox="1">
            <a:spLocks noChangeArrowheads="1"/>
          </p:cNvSpPr>
          <p:nvPr/>
        </p:nvSpPr>
        <p:spPr bwMode="auto">
          <a:xfrm>
            <a:off x="4851400" y="4987925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-4</a:t>
            </a:r>
          </a:p>
        </p:txBody>
      </p:sp>
      <p:sp>
        <p:nvSpPr>
          <p:cNvPr id="17428" name="Text Box 19"/>
          <p:cNvSpPr txBox="1">
            <a:spLocks noChangeArrowheads="1"/>
          </p:cNvSpPr>
          <p:nvPr/>
        </p:nvSpPr>
        <p:spPr bwMode="auto">
          <a:xfrm>
            <a:off x="4927600" y="41608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4</a:t>
            </a:r>
          </a:p>
        </p:txBody>
      </p:sp>
      <p:sp>
        <p:nvSpPr>
          <p:cNvPr id="17429" name="Text Box 20"/>
          <p:cNvSpPr txBox="1">
            <a:spLocks noChangeArrowheads="1"/>
          </p:cNvSpPr>
          <p:nvPr/>
        </p:nvSpPr>
        <p:spPr bwMode="auto">
          <a:xfrm>
            <a:off x="4927600" y="3746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8</a:t>
            </a:r>
          </a:p>
        </p:txBody>
      </p:sp>
      <p:sp>
        <p:nvSpPr>
          <p:cNvPr id="17430" name="Text Box 21"/>
          <p:cNvSpPr txBox="1">
            <a:spLocks noChangeArrowheads="1"/>
          </p:cNvSpPr>
          <p:nvPr/>
        </p:nvSpPr>
        <p:spPr bwMode="auto">
          <a:xfrm>
            <a:off x="4800600" y="333375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12</a:t>
            </a:r>
          </a:p>
        </p:txBody>
      </p: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4800600" y="29194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16</a:t>
            </a: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4800600" y="250666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20</a:t>
            </a:r>
          </a:p>
        </p:txBody>
      </p:sp>
      <p:sp>
        <p:nvSpPr>
          <p:cNvPr id="11292" name="Line 69"/>
          <p:cNvSpPr>
            <a:spLocks noChangeShapeType="1"/>
          </p:cNvSpPr>
          <p:nvPr/>
        </p:nvSpPr>
        <p:spPr bwMode="auto">
          <a:xfrm flipV="1">
            <a:off x="7037388" y="1876425"/>
            <a:ext cx="0" cy="2859088"/>
          </a:xfrm>
          <a:prstGeom prst="line">
            <a:avLst/>
          </a:prstGeom>
          <a:noFill/>
          <a:ln w="25400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7439" name="Group 72"/>
          <p:cNvGrpSpPr>
            <a:grpSpLocks/>
          </p:cNvGrpSpPr>
          <p:nvPr/>
        </p:nvGrpSpPr>
        <p:grpSpPr bwMode="auto">
          <a:xfrm>
            <a:off x="5981700" y="5880100"/>
            <a:ext cx="2349500" cy="304800"/>
            <a:chOff x="3768" y="3412"/>
            <a:chExt cx="1480" cy="192"/>
          </a:xfrm>
        </p:grpSpPr>
        <p:sp>
          <p:nvSpPr>
            <p:cNvPr id="17473" name="Rectangle 71"/>
            <p:cNvSpPr>
              <a:spLocks noChangeArrowheads="1"/>
            </p:cNvSpPr>
            <p:nvPr/>
          </p:nvSpPr>
          <p:spPr bwMode="auto">
            <a:xfrm>
              <a:off x="3768" y="3448"/>
              <a:ext cx="1480" cy="15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474" name="Text Box 7"/>
            <p:cNvSpPr txBox="1">
              <a:spLocks noChangeArrowheads="1"/>
            </p:cNvSpPr>
            <p:nvPr/>
          </p:nvSpPr>
          <p:spPr bwMode="auto">
            <a:xfrm>
              <a:off x="4123" y="3412"/>
              <a:ext cx="74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>
                  <a:latin typeface="Arial" charset="0"/>
                </a:rPr>
                <a:t>Candy eaten</a:t>
              </a:r>
            </a:p>
          </p:txBody>
        </p:sp>
      </p:grpSp>
      <p:grpSp>
        <p:nvGrpSpPr>
          <p:cNvPr id="17440" name="Group 74"/>
          <p:cNvGrpSpPr>
            <a:grpSpLocks/>
          </p:cNvGrpSpPr>
          <p:nvPr/>
        </p:nvGrpSpPr>
        <p:grpSpPr bwMode="auto">
          <a:xfrm>
            <a:off x="6942138" y="4795838"/>
            <a:ext cx="311150" cy="366712"/>
            <a:chOff x="4373" y="3021"/>
            <a:chExt cx="196" cy="231"/>
          </a:xfrm>
        </p:grpSpPr>
        <p:sp>
          <p:nvSpPr>
            <p:cNvPr id="17471" name="Rectangle 73"/>
            <p:cNvSpPr>
              <a:spLocks noChangeArrowheads="1"/>
            </p:cNvSpPr>
            <p:nvPr/>
          </p:nvSpPr>
          <p:spPr bwMode="auto">
            <a:xfrm>
              <a:off x="4392" y="3064"/>
              <a:ext cx="144" cy="168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472" name="Text Box 13"/>
            <p:cNvSpPr txBox="1">
              <a:spLocks noChangeArrowheads="1"/>
            </p:cNvSpPr>
            <p:nvPr/>
          </p:nvSpPr>
          <p:spPr bwMode="auto">
            <a:xfrm>
              <a:off x="4373" y="302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latin typeface="Arial" charset="0"/>
                </a:rPr>
                <a:t>4</a:t>
              </a:r>
            </a:p>
          </p:txBody>
        </p:sp>
      </p:grpSp>
      <p:sp>
        <p:nvSpPr>
          <p:cNvPr id="17441" name="Rectangle 35"/>
          <p:cNvSpPr>
            <a:spLocks noChangeArrowheads="1"/>
          </p:cNvSpPr>
          <p:nvPr/>
        </p:nvSpPr>
        <p:spPr bwMode="auto">
          <a:xfrm>
            <a:off x="1169988" y="6100763"/>
            <a:ext cx="2660650" cy="4206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2" name="Line 36"/>
          <p:cNvSpPr>
            <a:spLocks noChangeShapeType="1"/>
          </p:cNvSpPr>
          <p:nvPr/>
        </p:nvSpPr>
        <p:spPr bwMode="auto">
          <a:xfrm>
            <a:off x="835025" y="1809750"/>
            <a:ext cx="0" cy="397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3" name="Line 37"/>
          <p:cNvSpPr>
            <a:spLocks noChangeShapeType="1"/>
          </p:cNvSpPr>
          <p:nvPr/>
        </p:nvSpPr>
        <p:spPr bwMode="auto">
          <a:xfrm>
            <a:off x="822325" y="5780088"/>
            <a:ext cx="3373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Text Box 38"/>
          <p:cNvSpPr txBox="1">
            <a:spLocks noChangeArrowheads="1"/>
          </p:cNvSpPr>
          <p:nvPr/>
        </p:nvSpPr>
        <p:spPr bwMode="auto">
          <a:xfrm>
            <a:off x="1981200" y="6161088"/>
            <a:ext cx="11890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</a:rPr>
              <a:t>Candy eaten</a:t>
            </a:r>
          </a:p>
        </p:txBody>
      </p:sp>
      <p:sp>
        <p:nvSpPr>
          <p:cNvPr id="17445" name="Text Box 39"/>
          <p:cNvSpPr txBox="1">
            <a:spLocks noChangeArrowheads="1"/>
          </p:cNvSpPr>
          <p:nvPr/>
        </p:nvSpPr>
        <p:spPr bwMode="auto">
          <a:xfrm rot="-5400000">
            <a:off x="-1774031" y="3623469"/>
            <a:ext cx="40116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400">
                <a:latin typeface="Arial" charset="0"/>
              </a:rPr>
              <a:t>Total Utility (utils per Candy)</a:t>
            </a:r>
          </a:p>
        </p:txBody>
      </p:sp>
      <p:sp>
        <p:nvSpPr>
          <p:cNvPr id="17446" name="Text Box 40"/>
          <p:cNvSpPr txBox="1">
            <a:spLocks noChangeArrowheads="1"/>
          </p:cNvSpPr>
          <p:nvPr/>
        </p:nvSpPr>
        <p:spPr bwMode="auto">
          <a:xfrm>
            <a:off x="533400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17447" name="Text Box 41"/>
          <p:cNvSpPr txBox="1">
            <a:spLocks noChangeArrowheads="1"/>
          </p:cNvSpPr>
          <p:nvPr/>
        </p:nvSpPr>
        <p:spPr bwMode="auto">
          <a:xfrm>
            <a:off x="1103313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17448" name="Text Box 42"/>
          <p:cNvSpPr txBox="1">
            <a:spLocks noChangeArrowheads="1"/>
          </p:cNvSpPr>
          <p:nvPr/>
        </p:nvSpPr>
        <p:spPr bwMode="auto">
          <a:xfrm>
            <a:off x="1535113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2</a:t>
            </a:r>
          </a:p>
        </p:txBody>
      </p:sp>
      <p:sp>
        <p:nvSpPr>
          <p:cNvPr id="17449" name="Text Box 43"/>
          <p:cNvSpPr txBox="1">
            <a:spLocks noChangeArrowheads="1"/>
          </p:cNvSpPr>
          <p:nvPr/>
        </p:nvSpPr>
        <p:spPr bwMode="auto">
          <a:xfrm>
            <a:off x="1965325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3</a:t>
            </a:r>
          </a:p>
        </p:txBody>
      </p:sp>
      <p:sp>
        <p:nvSpPr>
          <p:cNvPr id="17450" name="Text Box 44"/>
          <p:cNvSpPr txBox="1">
            <a:spLocks noChangeArrowheads="1"/>
          </p:cNvSpPr>
          <p:nvPr/>
        </p:nvSpPr>
        <p:spPr bwMode="auto">
          <a:xfrm>
            <a:off x="2397125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4</a:t>
            </a:r>
          </a:p>
        </p:txBody>
      </p:sp>
      <p:sp>
        <p:nvSpPr>
          <p:cNvPr id="17451" name="Text Box 45"/>
          <p:cNvSpPr txBox="1">
            <a:spLocks noChangeArrowheads="1"/>
          </p:cNvSpPr>
          <p:nvPr/>
        </p:nvSpPr>
        <p:spPr bwMode="auto">
          <a:xfrm>
            <a:off x="2827338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5</a:t>
            </a:r>
          </a:p>
        </p:txBody>
      </p:sp>
      <p:sp>
        <p:nvSpPr>
          <p:cNvPr id="17452" name="Text Box 46"/>
          <p:cNvSpPr txBox="1">
            <a:spLocks noChangeArrowheads="1"/>
          </p:cNvSpPr>
          <p:nvPr/>
        </p:nvSpPr>
        <p:spPr bwMode="auto">
          <a:xfrm>
            <a:off x="3259138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6</a:t>
            </a:r>
          </a:p>
        </p:txBody>
      </p:sp>
      <p:sp>
        <p:nvSpPr>
          <p:cNvPr id="17453" name="Text Box 47"/>
          <p:cNvSpPr txBox="1">
            <a:spLocks noChangeArrowheads="1"/>
          </p:cNvSpPr>
          <p:nvPr/>
        </p:nvSpPr>
        <p:spPr bwMode="auto">
          <a:xfrm>
            <a:off x="3689350" y="5815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7</a:t>
            </a:r>
          </a:p>
        </p:txBody>
      </p:sp>
      <p:sp>
        <p:nvSpPr>
          <p:cNvPr id="17454" name="Text Box 48"/>
          <p:cNvSpPr txBox="1">
            <a:spLocks noChangeArrowheads="1"/>
          </p:cNvSpPr>
          <p:nvPr/>
        </p:nvSpPr>
        <p:spPr bwMode="auto">
          <a:xfrm>
            <a:off x="533400" y="53197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4</a:t>
            </a:r>
          </a:p>
        </p:txBody>
      </p:sp>
      <p:sp>
        <p:nvSpPr>
          <p:cNvPr id="17455" name="Text Box 49"/>
          <p:cNvSpPr txBox="1">
            <a:spLocks noChangeArrowheads="1"/>
          </p:cNvSpPr>
          <p:nvPr/>
        </p:nvSpPr>
        <p:spPr bwMode="auto">
          <a:xfrm>
            <a:off x="520700" y="49260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8</a:t>
            </a:r>
          </a:p>
        </p:txBody>
      </p:sp>
      <p:sp>
        <p:nvSpPr>
          <p:cNvPr id="17456" name="Text Box 50"/>
          <p:cNvSpPr txBox="1">
            <a:spLocks noChangeArrowheads="1"/>
          </p:cNvSpPr>
          <p:nvPr/>
        </p:nvSpPr>
        <p:spPr bwMode="auto">
          <a:xfrm>
            <a:off x="393700" y="45339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12</a:t>
            </a:r>
          </a:p>
        </p:txBody>
      </p:sp>
      <p:sp>
        <p:nvSpPr>
          <p:cNvPr id="17457" name="Text Box 51"/>
          <p:cNvSpPr txBox="1">
            <a:spLocks noChangeArrowheads="1"/>
          </p:cNvSpPr>
          <p:nvPr/>
        </p:nvSpPr>
        <p:spPr bwMode="auto">
          <a:xfrm>
            <a:off x="393700" y="41386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16</a:t>
            </a:r>
          </a:p>
        </p:txBody>
      </p:sp>
      <p:sp>
        <p:nvSpPr>
          <p:cNvPr id="17458" name="Text Box 52"/>
          <p:cNvSpPr txBox="1">
            <a:spLocks noChangeArrowheads="1"/>
          </p:cNvSpPr>
          <p:nvPr/>
        </p:nvSpPr>
        <p:spPr bwMode="auto">
          <a:xfrm>
            <a:off x="393700" y="37449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20</a:t>
            </a:r>
          </a:p>
        </p:txBody>
      </p:sp>
      <p:sp>
        <p:nvSpPr>
          <p:cNvPr id="17459" name="Text Box 53"/>
          <p:cNvSpPr txBox="1">
            <a:spLocks noChangeArrowheads="1"/>
          </p:cNvSpPr>
          <p:nvPr/>
        </p:nvSpPr>
        <p:spPr bwMode="auto">
          <a:xfrm>
            <a:off x="393700" y="33512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24</a:t>
            </a:r>
          </a:p>
        </p:txBody>
      </p:sp>
      <p:sp>
        <p:nvSpPr>
          <p:cNvPr id="17460" name="Text Box 54"/>
          <p:cNvSpPr txBox="1">
            <a:spLocks noChangeArrowheads="1"/>
          </p:cNvSpPr>
          <p:nvPr/>
        </p:nvSpPr>
        <p:spPr bwMode="auto">
          <a:xfrm>
            <a:off x="393700" y="2955925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28</a:t>
            </a:r>
          </a:p>
        </p:txBody>
      </p:sp>
      <p:sp>
        <p:nvSpPr>
          <p:cNvPr id="17461" name="Text Box 55"/>
          <p:cNvSpPr txBox="1">
            <a:spLocks noChangeArrowheads="1"/>
          </p:cNvSpPr>
          <p:nvPr/>
        </p:nvSpPr>
        <p:spPr bwMode="auto">
          <a:xfrm>
            <a:off x="393700" y="2562225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32</a:t>
            </a:r>
          </a:p>
        </p:txBody>
      </p:sp>
      <p:sp>
        <p:nvSpPr>
          <p:cNvPr id="17462" name="Text Box 56"/>
          <p:cNvSpPr txBox="1">
            <a:spLocks noChangeArrowheads="1"/>
          </p:cNvSpPr>
          <p:nvPr/>
        </p:nvSpPr>
        <p:spPr bwMode="auto">
          <a:xfrm>
            <a:off x="393700" y="2168525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36</a:t>
            </a:r>
          </a:p>
        </p:txBody>
      </p:sp>
      <p:sp>
        <p:nvSpPr>
          <p:cNvPr id="17463" name="Text Box 57"/>
          <p:cNvSpPr txBox="1">
            <a:spLocks noChangeArrowheads="1"/>
          </p:cNvSpPr>
          <p:nvPr/>
        </p:nvSpPr>
        <p:spPr bwMode="auto">
          <a:xfrm>
            <a:off x="393700" y="1774825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Arial" charset="0"/>
              </a:rPr>
              <a:t>38</a:t>
            </a:r>
          </a:p>
        </p:txBody>
      </p:sp>
      <p:sp>
        <p:nvSpPr>
          <p:cNvPr id="11319" name="Oval 59"/>
          <p:cNvSpPr>
            <a:spLocks noChangeArrowheads="1"/>
          </p:cNvSpPr>
          <p:nvPr/>
        </p:nvSpPr>
        <p:spPr bwMode="auto">
          <a:xfrm>
            <a:off x="787400" y="5700713"/>
            <a:ext cx="100013" cy="100012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0" name="Oval 60"/>
          <p:cNvSpPr>
            <a:spLocks noChangeArrowheads="1"/>
          </p:cNvSpPr>
          <p:nvPr/>
        </p:nvSpPr>
        <p:spPr bwMode="auto">
          <a:xfrm>
            <a:off x="1249363" y="3841750"/>
            <a:ext cx="100012" cy="100013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1" name="Oval 61"/>
          <p:cNvSpPr>
            <a:spLocks noChangeArrowheads="1"/>
          </p:cNvSpPr>
          <p:nvPr/>
        </p:nvSpPr>
        <p:spPr bwMode="auto">
          <a:xfrm>
            <a:off x="1649413" y="2674938"/>
            <a:ext cx="100012" cy="100012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2" name="Oval 62"/>
          <p:cNvSpPr>
            <a:spLocks noChangeArrowheads="1"/>
          </p:cNvSpPr>
          <p:nvPr/>
        </p:nvSpPr>
        <p:spPr bwMode="auto">
          <a:xfrm>
            <a:off x="2093913" y="2058988"/>
            <a:ext cx="100012" cy="100012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Arial" charset="0"/>
            </a:endParaRPr>
          </a:p>
        </p:txBody>
      </p:sp>
      <p:sp>
        <p:nvSpPr>
          <p:cNvPr id="11323" name="Oval 63"/>
          <p:cNvSpPr>
            <a:spLocks noChangeArrowheads="1"/>
          </p:cNvSpPr>
          <p:nvPr/>
        </p:nvSpPr>
        <p:spPr bwMode="auto">
          <a:xfrm>
            <a:off x="2455863" y="1835150"/>
            <a:ext cx="100012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4" name="Oval 64"/>
          <p:cNvSpPr>
            <a:spLocks noChangeArrowheads="1"/>
          </p:cNvSpPr>
          <p:nvPr/>
        </p:nvSpPr>
        <p:spPr bwMode="auto">
          <a:xfrm>
            <a:off x="2898775" y="2895600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2578" name="Line 66"/>
          <p:cNvSpPr>
            <a:spLocks noChangeShapeType="1"/>
          </p:cNvSpPr>
          <p:nvPr/>
        </p:nvSpPr>
        <p:spPr bwMode="auto">
          <a:xfrm flipV="1">
            <a:off x="2525713" y="1947863"/>
            <a:ext cx="0" cy="3840162"/>
          </a:xfrm>
          <a:prstGeom prst="line">
            <a:avLst/>
          </a:prstGeom>
          <a:noFill/>
          <a:ln w="25400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Oval 64">
            <a:extLst>
              <a:ext uri="{FF2B5EF4-FFF2-40B4-BE49-F238E27FC236}">
                <a16:creationId xmlns:a16="http://schemas.microsoft.com/office/drawing/2014/main" id="{7321882E-515B-0860-55FD-9B3D3C799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121" y="2651124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Oval 64">
            <a:extLst>
              <a:ext uri="{FF2B5EF4-FFF2-40B4-BE49-F238E27FC236}">
                <a16:creationId xmlns:a16="http://schemas.microsoft.com/office/drawing/2014/main" id="{AD62A2E9-C23F-EA59-9CC6-A6886B5D2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843" y="3378993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Oval 64">
            <a:extLst>
              <a:ext uri="{FF2B5EF4-FFF2-40B4-BE49-F238E27FC236}">
                <a16:creationId xmlns:a16="http://schemas.microsoft.com/office/drawing/2014/main" id="{50751119-26EE-5366-098F-2B3416FE4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387" y="4187032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64">
            <a:extLst>
              <a:ext uri="{FF2B5EF4-FFF2-40B4-BE49-F238E27FC236}">
                <a16:creationId xmlns:a16="http://schemas.microsoft.com/office/drawing/2014/main" id="{32421C62-1205-FD00-8D3F-4F9035A63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817" y="4636294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64">
            <a:extLst>
              <a:ext uri="{FF2B5EF4-FFF2-40B4-BE49-F238E27FC236}">
                <a16:creationId xmlns:a16="http://schemas.microsoft.com/office/drawing/2014/main" id="{1266018E-4001-DCDD-3F90-FE294B1C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7" y="5535612"/>
            <a:ext cx="100013" cy="100013"/>
          </a:xfrm>
          <a:prstGeom prst="ellipse">
            <a:avLst/>
          </a:prstGeom>
          <a:solidFill>
            <a:srgbClr val="00889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212C37-DDB4-1DD9-93D2-F0CF86C0A872}"/>
              </a:ext>
            </a:extLst>
          </p:cNvPr>
          <p:cNvCxnSpPr>
            <a:cxnSpLocks/>
            <a:endCxn id="3" idx="5"/>
          </p:cNvCxnSpPr>
          <p:nvPr/>
        </p:nvCxnSpPr>
        <p:spPr bwMode="auto">
          <a:xfrm>
            <a:off x="5539128" y="2688771"/>
            <a:ext cx="524081" cy="775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5D23FA-71E5-719A-ADDB-CC7D8D47E39F}"/>
              </a:ext>
            </a:extLst>
          </p:cNvPr>
          <p:cNvCxnSpPr/>
          <p:nvPr/>
        </p:nvCxnSpPr>
        <p:spPr bwMode="auto">
          <a:xfrm>
            <a:off x="6061527" y="3427412"/>
            <a:ext cx="538728" cy="7778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3A175-557E-70AC-7D09-8A29589F10D5}"/>
              </a:ext>
            </a:extLst>
          </p:cNvPr>
          <p:cNvCxnSpPr>
            <a:cxnSpLocks/>
            <a:endCxn id="5" idx="5"/>
          </p:cNvCxnSpPr>
          <p:nvPr/>
        </p:nvCxnSpPr>
        <p:spPr bwMode="auto">
          <a:xfrm>
            <a:off x="6533129" y="4125572"/>
            <a:ext cx="506054" cy="5960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1F49B7-BC92-E020-CA88-13D288C95251}"/>
              </a:ext>
            </a:extLst>
          </p:cNvPr>
          <p:cNvCxnSpPr>
            <a:cxnSpLocks/>
            <a:endCxn id="6" idx="6"/>
          </p:cNvCxnSpPr>
          <p:nvPr/>
        </p:nvCxnSpPr>
        <p:spPr bwMode="auto">
          <a:xfrm>
            <a:off x="7003823" y="4695598"/>
            <a:ext cx="406627" cy="89002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6" grpId="0" animBg="1"/>
      <p:bldP spid="192579" grpId="0" animBg="1" autoUpdateAnimBg="0"/>
      <p:bldP spid="192580" grpId="0" animBg="1" autoUpdateAnimBg="0"/>
      <p:bldP spid="11292" grpId="0" animBg="1"/>
      <p:bldP spid="11319" grpId="0" animBg="1"/>
      <p:bldP spid="11320" grpId="0" animBg="1"/>
      <p:bldP spid="11321" grpId="0" animBg="1"/>
      <p:bldP spid="11322" grpId="0" animBg="1"/>
      <p:bldP spid="11323" grpId="0" animBg="1"/>
      <p:bldP spid="11324" grpId="0" animBg="1"/>
      <p:bldP spid="192578" grpId="0" animBg="1"/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and Marginal Utility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3300"/>
                </a:solidFill>
              </a:rPr>
              <a:t>Diminishing Marginal Utility</a:t>
            </a:r>
            <a:endParaRPr lang="en-US" dirty="0"/>
          </a:p>
          <a:p>
            <a:pPr lvl="1"/>
            <a:r>
              <a:rPr lang="en-US" dirty="0"/>
              <a:t>The principle that as more of any good </a:t>
            </a:r>
            <a:br>
              <a:rPr lang="en-US" dirty="0"/>
            </a:br>
            <a:r>
              <a:rPr lang="en-US" dirty="0"/>
              <a:t>or service is consumed, its extra benefit declines</a:t>
            </a:r>
          </a:p>
        </p:txBody>
      </p:sp>
    </p:spTree>
    <p:custDataLst>
      <p:tags r:id="rId1"/>
    </p:custData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722948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CORRECTPOINTVALUE" val="1"/>
  <p:tag name="BUBBLESIZEVISIBLE" val="True"/>
  <p:tag name="REVIEWONLY" val="False"/>
  <p:tag name="GRIDROTATIONINTERVAL" val="2"/>
  <p:tag name="MMPROD_NEXTUNIQUEID" val="10009"/>
  <p:tag name="PRRESPONSE5" val="6"/>
  <p:tag name="DELIMITERS" val="3.1"/>
  <p:tag name="EXPANDSHOWBAR" val="False"/>
  <p:tag name="TASKPANEKEY" val="66fdf76a-2780-4beb-a85d-56c2c4526f1f"/>
  <p:tag name="POWERPOINTVERSION" val="12.0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330&quot;/&gt;&lt;/object&gt;&lt;object type=&quot;3&quot; unique_id=&quot;10005&quot;&gt;&lt;property id=&quot;20148&quot; value=&quot;5&quot;/&gt;&lt;property id=&quot;20300&quot; value=&quot;Slide 2 - &amp;quot;Module Outline&amp;quot;&quot;/&gt;&lt;property id=&quot;20307&quot; value=&quot;258&quot;/&gt;&lt;/object&gt;&lt;object type=&quot;3&quot; unique_id=&quot;10006&quot;&gt;&lt;property id=&quot;20148&quot; value=&quot;5&quot;/&gt;&lt;property id=&quot;20300&quot; value=&quot;Slide 7 - &amp;quot;The Household’s Budget&amp;quot;&quot;/&gt;&lt;property id=&quot;20307&quot; value=&quot;333&quot;/&gt;&lt;/object&gt;&lt;object type=&quot;3&quot; unique_id=&quot;10007&quot;&gt;&lt;property id=&quot;20148&quot; value=&quot;5&quot;/&gt;&lt;property id=&quot;20300&quot; value=&quot;Slide 8 - &amp;quot;The Household’s Budget&amp;quot;&quot;/&gt;&lt;property id=&quot;20307&quot; value=&quot;372&quot;/&gt;&lt;/object&gt;&lt;object type=&quot;3&quot; unique_id=&quot;10008&quot;&gt;&lt;property id=&quot;20148&quot; value=&quot;5&quot;/&gt;&lt;property id=&quot;20300&quot; value=&quot;Slide 10 - &amp;quot;The Household’s Budget&amp;quot;&quot;/&gt;&lt;property id=&quot;20307&quot; value=&quot;336&quot;/&gt;&lt;/object&gt;&lt;object type=&quot;3&quot; unique_id=&quot;10009&quot;&gt;&lt;property id=&quot;20148&quot; value=&quot;5&quot;/&gt;&lt;property id=&quot;20300&quot; value=&quot;Slide 11 - &amp;quot;The Household’s Budget&amp;quot;&quot;/&gt;&lt;property id=&quot;20307&quot; value=&quot;337&quot;/&gt;&lt;/object&gt;&lt;object type=&quot;3&quot; unique_id=&quot;10010&quot;&gt;&lt;property id=&quot;20148&quot; value=&quot;5&quot;/&gt;&lt;property id=&quot;20300&quot; value=&quot;Slide 12 - &amp;quot;The Household’s Budget&amp;quot;&quot;/&gt;&lt;property id=&quot;20307&quot; value=&quot;339&quot;/&gt;&lt;/object&gt;&lt;object type=&quot;3&quot; unique_id=&quot;10011&quot;&gt;&lt;property id=&quot;20148&quot; value=&quot;5&quot;/&gt;&lt;property id=&quot;20300&quot; value=&quot;Slide 13 - &amp;quot;The Household’s Budget&amp;quot;&quot;/&gt;&lt;property id=&quot;20307&quot; value=&quot;340&quot;/&gt;&lt;/object&gt;&lt;object type=&quot;3&quot; unique_id=&quot;10012&quot;&gt;&lt;property id=&quot;20148&quot; value=&quot;5&quot;/&gt;&lt;property id=&quot;20300&quot; value=&quot;Slide 16 - &amp;quot;Preferences and Utility: Preferences&amp;quot;&quot;/&gt;&lt;property id=&quot;20307&quot; value=&quot;342&quot;/&gt;&lt;/object&gt;&lt;object type=&quot;3&quot; unique_id=&quot;10013&quot;&gt;&lt;property id=&quot;20148&quot; value=&quot;5&quot;/&gt;&lt;property id=&quot;20300&quot; value=&quot;Slide 20 - &amp;quot;Total and Marginal Utility&amp;quot;&quot;/&gt;&lt;property id=&quot;20307&quot; value=&quot;373&quot;/&gt;&lt;/object&gt;&lt;object type=&quot;3&quot; unique_id=&quot;10014&quot;&gt;&lt;property id=&quot;20148&quot; value=&quot;5&quot;/&gt;&lt;property id=&quot;20300&quot; value=&quot;Slide 24 - &amp;quot;Total and Marginal Utility:  Eating Candy&amp;quot;&quot;/&gt;&lt;property id=&quot;20307&quot; value=&quot;374&quot;/&gt;&lt;/object&gt;&lt;object type=&quot;3&quot; unique_id=&quot;10015&quot;&gt;&lt;property id=&quot;20148&quot; value=&quot;5&quot;/&gt;&lt;property id=&quot;20300&quot; value=&quot;Slide 26 - &amp;quot;Total and Marginal Utility:  Eating Candy&amp;quot;&quot;/&gt;&lt;property id=&quot;20307&quot; value=&quot;375&quot;/&gt;&lt;/object&gt;&lt;object type=&quot;3&quot; unique_id=&quot;10016&quot;&gt;&lt;property id=&quot;20148&quot; value=&quot;5&quot;/&gt;&lt;property id=&quot;20300&quot; value=&quot;Slide 28 - &amp;quot;Total and Marginal Utility:  Eating Candy&amp;quot;&quot;/&gt;&lt;property id=&quot;20307&quot; value=&quot;376&quot;/&gt;&lt;/object&gt;&lt;object type=&quot;3&quot; unique_id=&quot;10017&quot;&gt;&lt;property id=&quot;20148&quot; value=&quot;5&quot;/&gt;&lt;property id=&quot;20300&quot; value=&quot;Slide 29 - &amp;quot;Total and Marginal Utility&amp;quot;&quot;/&gt;&lt;property id=&quot;20307&quot; value=&quot;377&quot;/&gt;&lt;/object&gt;&lt;object type=&quot;3&quot; unique_id=&quot;10018&quot;&gt;&lt;property id=&quot;20148&quot; value=&quot;5&quot;/&gt;&lt;property id=&quot;20300&quot; value=&quot;Slide 31 - &amp;quot;Diminishing Marginal Utility: Vending Machines&amp;quot;&quot;/&gt;&lt;property id=&quot;20307&quot; value=&quot;378&quot;/&gt;&lt;/object&gt;&lt;object type=&quot;3&quot; unique_id=&quot;10019&quot;&gt;&lt;property id=&quot;20148&quot; value=&quot;5&quot;/&gt;&lt;property id=&quot;20300&quot; value=&quot;Slide 35 - &amp;quot;Maximizing Utility: Consumer Optimum&amp;quot;&quot;/&gt;&lt;property id=&quot;20307&quot; value=&quot;379&quot;/&gt;&lt;/object&gt;&lt;object type=&quot;3&quot; unique_id=&quot;10020&quot;&gt;&lt;property id=&quot;20148&quot; value=&quot;5&quot;/&gt;&lt;property id=&quot;20300&quot; value=&quot;Slide 37 - &amp;quot;Maximizing Utility: Consumer Optimum&amp;quot;&quot;/&gt;&lt;property id=&quot;20307&quot; value=&quot;349&quot;/&gt;&lt;/object&gt;&lt;object type=&quot;3&quot; unique_id=&quot;10021&quot;&gt;&lt;property id=&quot;20148&quot; value=&quot;5&quot;/&gt;&lt;property id=&quot;20300&quot; value=&quot;Slide 40 - &amp;quot;Maximizing Utility: Consumer Optimum&amp;quot;&quot;/&gt;&lt;property id=&quot;20307&quot; value=&quot;350&quot;/&gt;&lt;/object&gt;&lt;object type=&quot;3&quot; unique_id=&quot;10022&quot;&gt;&lt;property id=&quot;20148&quot; value=&quot;5&quot;/&gt;&lt;property id=&quot;20300&quot; value=&quot;Slide 41 - &amp;quot;Maximizing Utility: Consumer Optimum Total and Marginal Utility from Consuming DVDs and Pizza Slices on an Income &quot;/&gt;&lt;property id=&quot;20307&quot; value=&quot;380&quot;/&gt;&lt;/object&gt;&lt;object type=&quot;3&quot; unique_id=&quot;10023&quot;&gt;&lt;property id=&quot;20148&quot; value=&quot;5&quot;/&gt;&lt;property id=&quot;20300&quot; value=&quot;Slide 42 - &amp;quot;Maximizing Utility: Consumer Optimum Total and Marginal Utility from Consuming DVDs and Pizza Slices on an Income &quot;/&gt;&lt;property id=&quot;20307&quot; value=&quot;381&quot;/&gt;&lt;/object&gt;&lt;object type=&quot;3&quot; unique_id=&quot;10024&quot;&gt;&lt;property id=&quot;20148&quot; value=&quot;5&quot;/&gt;&lt;property id=&quot;20300&quot; value=&quot;Slide 44 - &amp;quot;Maximizing Utility: Consumer Optimum Total and Marginal Utility from Consuming DVDs and Pizza Slices on an Income &quot;/&gt;&lt;property id=&quot;20307&quot; value=&quot;382&quot;/&gt;&lt;/object&gt;&lt;object type=&quot;3&quot; unique_id=&quot;10025&quot;&gt;&lt;property id=&quot;20148&quot; value=&quot;5&quot;/&gt;&lt;property id=&quot;20300&quot; value=&quot;Slide 46 - &amp;quot;Maximizing Utility: Consumer Optimum: The Steps&amp;quot;&quot;/&gt;&lt;property id=&quot;20307&quot; value=&quot;385&quot;/&gt;&lt;/object&gt;&lt;object type=&quot;3&quot; unique_id=&quot;10026&quot;&gt;&lt;property id=&quot;20148&quot; value=&quot;5&quot;/&gt;&lt;property id=&quot;20300&quot; value=&quot;Slide 49 - &amp;quot;Maximizing Utility: Consumer Optimum: The Rule&amp;quot;&quot;/&gt;&lt;property id=&quot;20307&quot; value=&quot;386&quot;/&gt;&lt;/object&gt;&lt;object type=&quot;3&quot; unique_id=&quot;10029&quot;&gt;&lt;property id=&quot;20148&quot; value=&quot;5&quot;/&gt;&lt;property id=&quot;20300&quot; value=&quot;Slide 51 - &amp;quot;How a Price Change Affects Consumer Optimum&amp;quot;&quot;/&gt;&lt;property id=&quot;20307&quot; value=&quot;387&quot;/&gt;&lt;/object&gt;&lt;object type=&quot;3&quot; unique_id=&quot;10030&quot;&gt;&lt;property id=&quot;20148&quot; value=&quot;5&quot;/&gt;&lt;property id=&quot;20300&quot; value=&quot;Slide 52 - &amp;quot;How a Price Change Affects Consumer Optimum&amp;quot;&quot;/&gt;&lt;property id=&quot;20307&quot; value=&quot;388&quot;/&gt;&lt;/object&gt;&lt;object type=&quot;3&quot; unique_id=&quot;10031&quot;&gt;&lt;property id=&quot;20148&quot; value=&quot;5&quot;/&gt;&lt;property id=&quot;20300&quot; value=&quot;Slide 53 - &amp;quot;How a Price Change Affects Consumer Optimum&amp;quot;&quot;/&gt;&lt;property id=&quot;20307&quot; value=&quot;389&quot;/&gt;&lt;/object&gt;&lt;object type=&quot;3&quot; unique_id=&quot;10032&quot;&gt;&lt;property id=&quot;20148&quot; value=&quot;5&quot;/&gt;&lt;property id=&quot;20300&quot; value=&quot;Slide 55 - &amp;quot;How a Price Change Affects Consumer Optimum&amp;quot;&quot;/&gt;&lt;property id=&quot;20307&quot; value=&quot;390&quot;/&gt;&lt;/object&gt;&lt;object type=&quot;3&quot; unique_id=&quot;10033&quot;&gt;&lt;property id=&quot;20148&quot; value=&quot;5&quot;/&gt;&lt;property id=&quot;20300&quot; value=&quot;Slide 56 - &amp;quot;How a Price Change Affects Consumer Optimum&amp;quot;&quot;/&gt;&lt;property id=&quot;20307&quot; value=&quot;391&quot;/&gt;&lt;/object&gt;&lt;object type=&quot;3&quot; unique_id=&quot;10034&quot;&gt;&lt;property id=&quot;20148&quot; value=&quot;5&quot;/&gt;&lt;property id=&quot;20300&quot; value=&quot;Slide 57 - &amp;quot;How a Price Change Affects Consumer Optimum&amp;quot;&quot;/&gt;&lt;property id=&quot;20307&quot; value=&quot;356&quot;/&gt;&lt;/object&gt;&lt;object type=&quot;3&quot; unique_id=&quot;10035&quot;&gt;&lt;property id=&quot;20148&quot; value=&quot;5&quot;/&gt;&lt;property id=&quot;20300&quot; value=&quot;Slide 58 - &amp;quot;How a Price Change Affects Consumer Optimum&amp;quot;&quot;/&gt;&lt;property id=&quot;20307&quot; value=&quot;357&quot;/&gt;&lt;/object&gt;&lt;object type=&quot;3&quot; unique_id=&quot;10039&quot;&gt;&lt;property id=&quot;20148&quot; value=&quot;5&quot;/&gt;&lt;property id=&quot;20300&quot; value=&quot;Slide 59 - &amp;quot;How an Income Change Affects Consumer Optimum&amp;quot;&quot;/&gt;&lt;property id=&quot;20307&quot; value=&quot;363&quot;/&gt;&lt;/object&gt;&lt;object type=&quot;3&quot; unique_id=&quot;10046&quot;&gt;&lt;property id=&quot;20148&quot; value=&quot;5&quot;/&gt;&lt;property id=&quot;20300&quot; value=&quot;Slide 68&quot;/&gt;&lt;property id=&quot;20307&quot; value=&quot;371&quot;/&gt;&lt;/object&gt;&lt;object type=&quot;3&quot; unique_id=&quot;10297&quot;&gt;&lt;property id=&quot;20148&quot; value=&quot;5&quot;/&gt;&lt;property id=&quot;20300&quot; value=&quot;Slide 36 - &amp;quot;Maximizing Utility: Consumer Optimum&amp;quot;&quot;/&gt;&lt;property id=&quot;20307&quot; value=&quot;392&quot;/&gt;&lt;/object&gt;&lt;object type=&quot;3&quot; unique_id=&quot;10333&quot;&gt;&lt;property id=&quot;20148&quot; value=&quot;5&quot;/&gt;&lt;property id=&quot;20300&quot; value=&quot;Slide 3 - &amp;quot;Learning Objectives&amp;quot;&quot;/&gt;&lt;property id=&quot;20307&quot; value=&quot;393&quot;/&gt;&lt;/object&gt;&lt;object type=&quot;3&quot; unique_id=&quot;10622&quot;&gt;&lt;property id=&quot;20148&quot; value=&quot;5&quot;/&gt;&lt;property id=&quot;20300&quot; value=&quot;Slide 5 - &amp;quot;According to the Rolling Stones, You can’t always get what you want.  Is this true?  Why?&amp;quot;&quot;/&gt;&lt;property id=&quot;20307&quot; value=&quot;394&quot;/&gt;&lt;/object&gt;&lt;object type=&quot;3&quot; unique_id=&quot;10623&quot;&gt;&lt;property id=&quot;20148&quot; value=&quot;5&quot;/&gt;&lt;property id=&quot;20300&quot; value=&quot;Slide 6 - &amp;quot;What are the two variables that affect your budget (income)?&amp;quot;&quot;/&gt;&lt;property id=&quot;20307&quot; value=&quot;395&quot;/&gt;&lt;/object&gt;&lt;object type=&quot;3&quot; unique_id=&quot;10776&quot;&gt;&lt;property id=&quot;20148&quot; value=&quot;5&quot;/&gt;&lt;property id=&quot;20300&quot; value=&quot;Slide 9 - &amp;quot;Recall in a two good model, what happens when the price of one good changes?&amp;quot;&quot;/&gt;&lt;property id=&quot;20307&quot; value=&quot;396&quot;/&gt;&lt;/object&gt;&lt;object type=&quot;3&quot; unique_id=&quot;10777&quot;&gt;&lt;property id=&quot;20148&quot; value=&quot;5&quot;/&gt;&lt;property id=&quot;20300&quot; value=&quot;Slide 15 - &amp;quot;In economics, what’s a util?&amp;quot;&quot;/&gt;&lt;property id=&quot;20307&quot; value=&quot;397&quot;/&gt;&lt;/object&gt;&lt;object type=&quot;3&quot; unique_id=&quot;11098&quot;&gt;&lt;property id=&quot;20148&quot; value=&quot;5&quot;/&gt;&lt;property id=&quot;20300&quot; value=&quot;Slide 21 - &amp;quot;On a scale of 1-10 (10 being happiest), what level of happiness would you give the first piece of candy?&amp;quot;&quot;/&gt;&lt;property id=&quot;20307&quot; value=&quot;398&quot;/&gt;&lt;/object&gt;&lt;object type=&quot;3&quot; unique_id=&quot;11099&quot;&gt;&lt;property id=&quot;20148&quot; value=&quot;5&quot;/&gt;&lt;property id=&quot;20300&quot; value=&quot;Slide 22 - &amp;quot;On a scale of 1-10 (10 being happiest), what level of happiness would you give the second piece of candy?&amp;quot;&quot;/&gt;&lt;property id=&quot;20307&quot; value=&quot;399&quot;/&gt;&lt;/object&gt;&lt;object type=&quot;3&quot; unique_id=&quot;11100&quot;&gt;&lt;property id=&quot;20148&quot; value=&quot;5&quot;/&gt;&lt;property id=&quot;20300&quot; value=&quot;Slide 23 - &amp;quot;On a scale of 1-10 (10 being happiest), what level of happiness would you give the third piece of candy?&amp;quot;&quot;/&gt;&lt;property id=&quot;20307&quot; value=&quot;400&quot;/&gt;&lt;/object&gt;&lt;object type=&quot;3&quot; unique_id=&quot;11101&quot;&gt;&lt;property id=&quot;20148&quot; value=&quot;5&quot;/&gt;&lt;property id=&quot;20300&quot; value=&quot;Slide 25 - &amp;quot;Have you ever experienced negative marginal utility (eaten or drank too much)?&amp;quot;&quot;/&gt;&lt;property id=&quot;20307&quot; value=&quot;401&quot;/&gt;&lt;/object&gt;&lt;object type=&quot;3&quot; unique_id=&quot;11102&quot;&gt;&lt;property id=&quot;20148&quot; value=&quot;5&quot;/&gt;&lt;property id=&quot;20300&quot; value=&quot;Slide 27 - &amp;quot;How do you know you maximized your utility when eating pizza slices?&amp;quot;&quot;/&gt;&lt;property id=&quot;20307&quot; value=&quot;402&quot;/&gt;&lt;/object&gt;&lt;object type=&quot;3&quot; unique_id=&quot;11328&quot;&gt;&lt;property id=&quot;20148&quot; value=&quot;5&quot;/&gt;&lt;property id=&quot;20300&quot; value=&quot;Slide 17 - &amp;quot;Which would affect your utility most?&amp;quot;&quot;/&gt;&lt;property id=&quot;20307&quot; value=&quot;403&quot;/&gt;&lt;/object&gt;&lt;object type=&quot;3&quot; unique_id=&quot;11329&quot;&gt;&lt;property id=&quot;20148&quot; value=&quot;5&quot;/&gt;&lt;property id=&quot;20300&quot; value=&quot;Slide 18 - &amp;quot;It’s your birthday and you receive different gifts from different people but they all cost the same.  Which would &quot;/&gt;&lt;property id=&quot;20307&quot; value=&quot;404&quot;/&gt;&lt;/object&gt;&lt;object type=&quot;3&quot; unique_id=&quot;11330&quot;&gt;&lt;property id=&quot;20148&quot; value=&quot;5&quot;/&gt;&lt;property id=&quot;20300&quot; value=&quot;Slide 19 - &amp;quot;Economically, what’s the best gift to give someone?&amp;quot;&quot;/&gt;&lt;property id=&quot;20307&quot; value=&quot;405&quot;/&gt;&lt;/object&gt;&lt;object type=&quot;3&quot; unique_id=&quot;11571&quot;&gt;&lt;property id=&quot;20148&quot; value=&quot;5&quot;/&gt;&lt;property id=&quot;20300&quot; value=&quot;Slide 30 - &amp;quot;Why are newspapers dispensed differently than candy?&amp;quot;&quot;/&gt;&lt;property id=&quot;20307&quot; value=&quot;406&quot;/&gt;&lt;/object&gt;&lt;object type=&quot;3&quot; unique_id=&quot;11719&quot;&gt;&lt;property id=&quot;20148&quot; value=&quot;5&quot;/&gt;&lt;property id=&quot;20300&quot; value=&quot;Slide 38 - &amp;quot;If good seats to a Lady Gaga concert are $400 while good seats to an IU basketball game are $200, how much satisfa&quot;/&gt;&lt;property id=&quot;20307&quot; value=&quot;407&quot;/&gt;&lt;/object&gt;&lt;object type=&quot;3&quot; unique_id=&quot;11970&quot;&gt;&lt;property id=&quot;20148&quot; value=&quot;5&quot;/&gt;&lt;property id=&quot;20300&quot; value=&quot;Slide 39 - &amp;quot;At Six Flags Great America (Chicago), the Raging Bull roller coaster ride has a 60 minute wait, while the Rue Le D&quot;/&gt;&lt;property id=&quot;20307&quot; value=&quot;408&quot;/&gt;&lt;/object&gt;&lt;object type=&quot;3&quot; unique_id=&quot;12124&quot;&gt;&lt;property id=&quot;20148&quot; value=&quot;5&quot;/&gt;&lt;property id=&quot;20300&quot; value=&quot;Slide 47 - &amp;quot;Suppose the marginal utility per dollar from a DVD is 20 and the marginal utility per dollar from a pizza is 10. I&quot;/&gt;&lt;property id=&quot;20307&quot; value=&quot;409&quot;/&gt;&lt;/object&gt;&lt;object type=&quot;3&quot; unique_id=&quot;13009&quot;&gt;&lt;property id=&quot;20148&quot; value=&quot;5&quot;/&gt;&lt;property id=&quot;20300&quot; value=&quot;Slide 61 - &amp;quot;Alternative explanations to consumer behavior&amp;quot;&quot;/&gt;&lt;property id=&quot;20307&quot; value=&quot;410&quot;/&gt;&lt;/object&gt;&lt;object type=&quot;3&quot; unique_id=&quot;13010&quot;&gt;&lt;property id=&quot;20148&quot; value=&quot;5&quot;/&gt;&lt;property id=&quot;20300&quot; value=&quot;Slide 62 - &amp;quot;Alternative explanations to consumer behavior&amp;quot;&quot;/&gt;&lt;property id=&quot;20307&quot; value=&quot;411&quot;/&gt;&lt;/object&gt;&lt;object type=&quot;3&quot; unique_id=&quot;13011&quot;&gt;&lt;property id=&quot;20148&quot; value=&quot;5&quot;/&gt;&lt;property id=&quot;20300&quot; value=&quot;Slide 63 - &amp;quot;Alternative explanations to consumer behavior&amp;quot;&quot;/&gt;&lt;property id=&quot;20307&quot; value=&quot;412&quot;/&gt;&lt;/object&gt;&lt;object type=&quot;3&quot; unique_id=&quot;13012&quot;&gt;&lt;property id=&quot;20148&quot; value=&quot;5&quot;/&gt;&lt;property id=&quot;20300&quot; value=&quot;Slide 64 - &amp;quot;Alternative explanations to consumer behavior&amp;quot;&quot;/&gt;&lt;property id=&quot;20307&quot; value=&quot;414&quot;/&gt;&lt;/object&gt;&lt;object type=&quot;3&quot; unique_id=&quot;13637&quot;&gt;&lt;property id=&quot;20148&quot; value=&quot;5&quot;/&gt;&lt;property id=&quot;20300&quot; value=&quot;Slide 65 - &amp;quot;Alternative explanations to consumer behavior&amp;quot;&quot;/&gt;&lt;property id=&quot;20307&quot; value=&quot;416&quot;/&gt;&lt;/object&gt;&lt;object type=&quot;3&quot; unique_id=&quot;13638&quot;&gt;&lt;property id=&quot;20148&quot; value=&quot;5&quot;/&gt;&lt;property id=&quot;20300&quot; value=&quot;Slide 66 - &amp;quot;Should economics focus on explaining the decisions we observe or should it focus on what goes on inside people’s h&quot;/&gt;&lt;property id=&quot;20307&quot; value=&quot;417&quot;/&gt;&lt;/object&gt;&lt;object type=&quot;3&quot; unique_id=&quot;13871&quot;&gt;&lt;property id=&quot;20148&quot; value=&quot;5&quot;/&gt;&lt;property id=&quot;20300&quot; value=&quot;Slide 43 - &amp;quot;Based on the last two tables, what’s the consumer equilibrium (optimum)?&amp;quot;&quot;/&gt;&lt;property id=&quot;20307&quot; value=&quot;418&quot;/&gt;&lt;/object&gt;&lt;object type=&quot;3&quot; unique_id=&quot;13872&quot;&gt;&lt;property id=&quot;20148&quot; value=&quot;5&quot;/&gt;&lt;property id=&quot;20300&quot; value=&quot;Slide 45 - &amp;quot;What are the conditions to maximizing total consumer utility (equilibrium)? &amp;quot;&quot;/&gt;&lt;property id=&quot;20307&quot; value=&quot;419&quot;/&gt;&lt;/object&gt;&lt;object type=&quot;3&quot; unique_id=&quot;14053&quot;&gt;&lt;property id=&quot;20148&quot; value=&quot;5&quot;/&gt;&lt;property id=&quot;20300&quot; value=&quot;Slide 48 - &amp;quot;Suppose the marginal utility per dollar from a DVD is 20 and the marginal utility per dollar from a pizza is 10. I&quot;/&gt;&lt;property id=&quot;20307&quot; value=&quot;420&quot;/&gt;&lt;/object&gt;&lt;object type=&quot;3&quot; unique_id=&quot;14237&quot;&gt;&lt;property id=&quot;20148&quot; value=&quot;5&quot;/&gt;&lt;property id=&quot;20300&quot; value=&quot;Slide 33 - &amp;quot;No pain, no gain. Why do people regularly put themselves through undesirable, rigorous exercise programs?&amp;quot;&quot;/&gt;&lt;property id=&quot;20307&quot; value=&quot;421&quot;/&gt;&lt;/object&gt;&lt;object type=&quot;3&quot; unique_id=&quot;14486&quot;&gt;&lt;property id=&quot;20148&quot; value=&quot;5&quot;/&gt;&lt;property id=&quot;20300&quot; value=&quot;Slide 54 - &amp;quot;Recall in a two good model, what happens when the price of one good changes?&amp;quot;&quot;/&gt;&lt;property id=&quot;20307&quot; value=&quot;422&quot;/&gt;&lt;/object&gt;&lt;object type=&quot;3&quot; unique_id=&quot;14487&quot;&gt;&lt;property id=&quot;20148&quot; value=&quot;5&quot;/&gt;&lt;property id=&quot;20300&quot; value=&quot;Slide 60 - &amp;quot;How could utility theory help us understand the difference between a federal income tax and a federal sales tax on&quot;/&gt;&lt;property id=&quot;20307&quot; value=&quot;423&quot;/&gt;&lt;/object&gt;&lt;object type=&quot;3&quot; unique_id=&quot;33350&quot;&gt;&lt;property id=&quot;20148&quot; value=&quot;5&quot;/&gt;&lt;property id=&quot;20300&quot; value=&quot;Slide 34 - &amp;quot;Do we benefit from hunger, physical discomfort, or extreme cold or heat?&amp;quot;&quot;/&gt;&lt;property id=&quot;20307&quot; value=&quot;424&quot;/&gt;&lt;/object&gt;&lt;object type=&quot;3&quot; unique_id=&quot;33611&quot;&gt;&lt;property id=&quot;20148&quot; value=&quot;5&quot;/&gt;&lt;property id=&quot;20300&quot; value=&quot;Slide 4 - &amp;quot;Learning Objective #1&amp;quot;&quot;/&gt;&lt;property id=&quot;20307&quot; value=&quot;425&quot;/&gt;&lt;/object&gt;&lt;object type=&quot;3&quot; unique_id=&quot;33612&quot;&gt;&lt;property id=&quot;20148&quot; value=&quot;5&quot;/&gt;&lt;property id=&quot;20300&quot; value=&quot;Slide 14 - &amp;quot;Learning Objective #2&amp;quot;&quot;/&gt;&lt;property id=&quot;20307&quot; value=&quot;426&quot;/&gt;&lt;/object&gt;&lt;object type=&quot;3&quot; unique_id=&quot;33613&quot;&gt;&lt;property id=&quot;20148&quot; value=&quot;5&quot;/&gt;&lt;property id=&quot;20300&quot; value=&quot;Slide 32 - &amp;quot;Learning Objective #3&amp;quot;&quot;/&gt;&lt;property id=&quot;20307&quot; value=&quot;427&quot;/&gt;&lt;/object&gt;&lt;object type=&quot;3&quot; unique_id=&quot;33614&quot;&gt;&lt;property id=&quot;20148&quot; value=&quot;5&quot;/&gt;&lt;property id=&quot;20300&quot; value=&quot;Slide 50 - &amp;quot;Learning Objective #4&amp;quot;&quot;/&gt;&lt;property id=&quot;20307&quot; value=&quot;428&quot;/&gt;&lt;/object&gt;&lt;object type=&quot;3&quot; unique_id=&quot;35380&quot;&gt;&lt;property id=&quot;20148&quot; value=&quot;5&quot;/&gt;&lt;property id=&quot;20300&quot; value=&quot;Slide 67 - &amp;quot;Quiz #8&amp;quot;&quot;/&gt;&lt;property id=&quot;20307&quot; value=&quot;429&quot;/&gt;&lt;/object&gt;&lt;/object&gt;&lt;/object&gt;&lt;/database&gt;"/>
  <p:tag name="SECTOMILLISECCONVERTED" val="1"/>
  <p:tag name="WASPOLLED" val="0CC926B44431413987C36E63A0740196"/>
  <p:tag name="TPVERSION" val="5"/>
  <p:tag name="TPFULLVERSION" val="5.3.1.3337"/>
  <p:tag name="PPTVERSION" val="15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miller_13e_ppt_template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3300"/>
      </a:hlink>
      <a:folHlink>
        <a:srgbClr val="FF9900"/>
      </a:folHlink>
    </a:clrScheme>
    <a:fontScheme name="miller_13e_ppt_templat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ller_13e_ppt_templat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ller_13e_ppt_templat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HD:Users:marktemelko:dayjob:Oh_Type_Documents:Miller_PPT:mt_miller:Miller_ppt_template:miller_13e_ppt_template2.pot</Template>
  <TotalTime>5870</TotalTime>
  <Words>949</Words>
  <Application>Microsoft Office PowerPoint</Application>
  <PresentationFormat>On-screen Show (4:3)</PresentationFormat>
  <Paragraphs>174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miller_13e_ppt_template2</vt:lpstr>
      <vt:lpstr>PowerPoint Presentation</vt:lpstr>
      <vt:lpstr>Module Outline</vt:lpstr>
      <vt:lpstr>Learning Objectives</vt:lpstr>
      <vt:lpstr>Learning Objective #1</vt:lpstr>
      <vt:lpstr>The Household’s Budget</vt:lpstr>
      <vt:lpstr>The Household’s Budget</vt:lpstr>
      <vt:lpstr>The Household’s Budget</vt:lpstr>
      <vt:lpstr>The Household’s Budget</vt:lpstr>
      <vt:lpstr>The Household’s Budget</vt:lpstr>
      <vt:lpstr>The Household’s Budget</vt:lpstr>
      <vt:lpstr>Learning Objective #2</vt:lpstr>
      <vt:lpstr>Preferences and Utility: Preferences</vt:lpstr>
      <vt:lpstr>Total and Marginal Utility</vt:lpstr>
      <vt:lpstr>Total and Marginal Utility:  Eating Candy</vt:lpstr>
      <vt:lpstr>Total and Marginal Utility:  Eating Candy</vt:lpstr>
      <vt:lpstr>Total and Marginal Utility</vt:lpstr>
    </vt:vector>
  </TitlesOfParts>
  <Company>RoseStateCollege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pgraf</dc:creator>
  <cp:lastModifiedBy>Tsikandylakis, Antonis</cp:lastModifiedBy>
  <cp:revision>374</cp:revision>
  <dcterms:created xsi:type="dcterms:W3CDTF">1998-01-19T16:21:38Z</dcterms:created>
  <dcterms:modified xsi:type="dcterms:W3CDTF">2026-03-24T20:47:23Z</dcterms:modified>
</cp:coreProperties>
</file>